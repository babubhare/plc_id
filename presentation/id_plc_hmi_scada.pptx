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5"/>
  </p:notesMasterIdLst>
  <p:sldIdLst>
    <p:sldId id="256" r:id="rId2"/>
    <p:sldId id="266" r:id="rId3"/>
    <p:sldId id="267" r:id="rId4"/>
    <p:sldId id="268" r:id="rId5"/>
    <p:sldId id="271" r:id="rId6"/>
    <p:sldId id="270" r:id="rId7"/>
    <p:sldId id="272" r:id="rId8"/>
    <p:sldId id="273" r:id="rId9"/>
    <p:sldId id="279" r:id="rId10"/>
    <p:sldId id="281" r:id="rId11"/>
    <p:sldId id="282" r:id="rId12"/>
    <p:sldId id="283" r:id="rId13"/>
    <p:sldId id="284" r:id="rId14"/>
    <p:sldId id="285" r:id="rId15"/>
    <p:sldId id="287" r:id="rId16"/>
    <p:sldId id="286" r:id="rId17"/>
    <p:sldId id="288" r:id="rId18"/>
    <p:sldId id="274" r:id="rId19"/>
    <p:sldId id="276" r:id="rId20"/>
    <p:sldId id="277" r:id="rId21"/>
    <p:sldId id="280" r:id="rId22"/>
    <p:sldId id="278" r:id="rId23"/>
    <p:sldId id="265" r:id="rId24"/>
  </p:sldIdLst>
  <p:sldSz cx="18288000" cy="10287000"/>
  <p:notesSz cx="6858000" cy="9144000"/>
  <p:embeddedFontLst>
    <p:embeddedFont>
      <p:font typeface="Arial MT Pro" panose="020B0604020202020204" charset="0"/>
      <p:regular r:id="rId26"/>
    </p:embeddedFont>
    <p:embeddedFont>
      <p:font typeface="Corbel" panose="020B0503020204020204" pitchFamily="34" charset="0"/>
      <p:regular r:id="rId27"/>
      <p:bold r:id="rId28"/>
      <p:italic r:id="rId29"/>
      <p:boldItalic r:id="rId30"/>
    </p:embeddedFont>
    <p:embeddedFont>
      <p:font typeface="Public Sans Bold" panose="020B0604020202020204" charset="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1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CA4496-73DD-4B8F-AF01-4A713422198E}" type="datetimeFigureOut">
              <a:rPr lang="en-IN" smtClean="0"/>
              <a:t>13-03-2026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4D840C-BC65-4561-AABE-5512AC308AB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9450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D8C42-6261-48B6-BC67-DBB212DBD39B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34BBFB-9E46-47D8-8008-D61B9591B7C9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1C48C-8A5D-4809-99FD-FE97FF088A0E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2368BC-D488-4B61-96D6-4ABA080C47CD}" type="datetime1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81A22-A907-4964-AFA2-EA9B72D7EE08}" type="datetime1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E008A-E11B-4E85-96C7-5E6EC9BE1974}" type="datetime1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B9292-D153-4D0D-B7AF-F46ED030F99E}" type="datetime1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4F0EB-7E74-4DF7-BCE0-DDF3C3DC0F42}" type="datetime1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9DF3E2-3826-401F-A7F4-13E834632703}" type="datetime1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052AF-6B2F-4397-99C6-95013F34645F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C21524-8D8C-43C4-B4E4-3234C585B288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PLC, HMI &amp; SCADA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F0AD36-51A6-46A9-9B05-39F6976240D7}" type="datetime1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PLC, HMI &amp; SCADA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H="1">
            <a:off x="15887898" y="7907934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5961182" y="0"/>
                </a:moveTo>
                <a:lnTo>
                  <a:pt x="0" y="0"/>
                </a:lnTo>
                <a:lnTo>
                  <a:pt x="0" y="1605625"/>
                </a:lnTo>
                <a:lnTo>
                  <a:pt x="5961182" y="1605625"/>
                </a:lnTo>
                <a:lnTo>
                  <a:pt x="596118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V="1">
            <a:off x="-1" y="-15571"/>
            <a:ext cx="5637425" cy="131694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 flipH="1">
            <a:off x="12650575" y="8985623"/>
            <a:ext cx="5637425" cy="1301378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5961182" y="0"/>
                </a:moveTo>
                <a:lnTo>
                  <a:pt x="0" y="0"/>
                </a:lnTo>
                <a:lnTo>
                  <a:pt x="0" y="1605625"/>
                </a:lnTo>
                <a:lnTo>
                  <a:pt x="5961182" y="1605625"/>
                </a:lnTo>
                <a:lnTo>
                  <a:pt x="596118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TextBox 9"/>
          <p:cNvSpPr txBox="1"/>
          <p:nvPr/>
        </p:nvSpPr>
        <p:spPr>
          <a:xfrm>
            <a:off x="1" y="3168075"/>
            <a:ext cx="18287999" cy="18999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239"/>
              </a:lnSpc>
            </a:pPr>
            <a:r>
              <a:rPr lang="en-US" sz="11599" b="1" dirty="0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PLC, HMI &amp; SCADA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226519" y="5679632"/>
            <a:ext cx="7834961" cy="2228302"/>
          </a:xfrm>
          <a:prstGeom prst="rect">
            <a:avLst/>
          </a:prstGeom>
        </p:spPr>
        <p:txBody>
          <a:bodyPr wrap="square" lIns="0" tIns="0" rIns="0" bIns="0" rtlCol="0" anchor="b">
            <a:spAutoFit/>
          </a:bodyPr>
          <a:lstStyle/>
          <a:p>
            <a:pPr algn="ctr">
              <a:lnSpc>
                <a:spcPts val="5880"/>
              </a:lnSpc>
            </a:pPr>
            <a:r>
              <a:rPr lang="en-US" sz="4200" dirty="0">
                <a:solidFill>
                  <a:srgbClr val="FFFFFF"/>
                </a:solidFill>
                <a:latin typeface="Arial MT Pro"/>
                <a:ea typeface="Arial MT Pro"/>
                <a:cs typeface="Arial MT Pro"/>
                <a:sym typeface="Arial MT Pro"/>
              </a:rPr>
              <a:t>BABU CHANDRANNA (Student)</a:t>
            </a:r>
          </a:p>
          <a:p>
            <a:pPr algn="ctr">
              <a:lnSpc>
                <a:spcPts val="5880"/>
              </a:lnSpc>
            </a:pPr>
            <a:r>
              <a:rPr lang="en-US" sz="4200" dirty="0" err="1">
                <a:solidFill>
                  <a:srgbClr val="FFFFFF"/>
                </a:solidFill>
                <a:latin typeface="Arial MT Pro"/>
                <a:ea typeface="Arial MT Pro"/>
                <a:cs typeface="Arial MT Pro"/>
                <a:sym typeface="Arial MT Pro"/>
              </a:rPr>
              <a:t>INCANTO</a:t>
            </a:r>
            <a:r>
              <a:rPr lang="en-US" sz="4200" dirty="0">
                <a:solidFill>
                  <a:srgbClr val="FFFFFF"/>
                </a:solidFill>
                <a:latin typeface="Arial MT Pro"/>
                <a:ea typeface="Arial MT Pro"/>
                <a:cs typeface="Arial MT Pro"/>
                <a:sym typeface="Arial MT Pro"/>
              </a:rPr>
              <a:t> DYNAMICS</a:t>
            </a:r>
          </a:p>
          <a:p>
            <a:pPr algn="ctr">
              <a:lnSpc>
                <a:spcPts val="5880"/>
              </a:lnSpc>
            </a:pPr>
            <a:r>
              <a:rPr lang="en-US" sz="4200" dirty="0">
                <a:solidFill>
                  <a:srgbClr val="FFFFFF"/>
                </a:solidFill>
                <a:latin typeface="Arial MT Pro"/>
                <a:ea typeface="Arial MT Pro"/>
                <a:cs typeface="Arial MT Pro"/>
                <a:sym typeface="Arial MT Pro"/>
              </a:rPr>
              <a:t>13-FEB-2026</a:t>
            </a:r>
          </a:p>
        </p:txBody>
      </p:sp>
      <p:sp>
        <p:nvSpPr>
          <p:cNvPr id="11" name="Freeform 11"/>
          <p:cNvSpPr/>
          <p:nvPr/>
        </p:nvSpPr>
        <p:spPr>
          <a:xfrm>
            <a:off x="-1" y="8980601"/>
            <a:ext cx="4207854" cy="1306399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0"/>
                </a:moveTo>
                <a:lnTo>
                  <a:pt x="5961182" y="0"/>
                </a:lnTo>
                <a:lnTo>
                  <a:pt x="5961182" y="1605625"/>
                </a:lnTo>
                <a:lnTo>
                  <a:pt x="0" y="16056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2" name="Freeform 12"/>
          <p:cNvSpPr/>
          <p:nvPr/>
        </p:nvSpPr>
        <p:spPr>
          <a:xfrm flipH="1" flipV="1">
            <a:off x="14080145" y="-1"/>
            <a:ext cx="4207853" cy="130639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5961182" y="1605625"/>
                </a:moveTo>
                <a:lnTo>
                  <a:pt x="0" y="1605625"/>
                </a:lnTo>
                <a:lnTo>
                  <a:pt x="0" y="0"/>
                </a:lnTo>
                <a:lnTo>
                  <a:pt x="5961182" y="0"/>
                </a:lnTo>
                <a:lnTo>
                  <a:pt x="5961182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51105B9-8FBB-508F-B171-F6F729E2C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F4E1C5-7E50-8F6F-97B9-B156023DF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04BD474-5C9A-9CD5-8511-53CAC9C99C3D}"/>
              </a:ext>
            </a:extLst>
          </p:cNvPr>
          <p:cNvSpPr/>
          <p:nvPr/>
        </p:nvSpPr>
        <p:spPr>
          <a:xfrm flipV="1">
            <a:off x="-2" y="773440"/>
            <a:ext cx="2400104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F214C84-17D6-83AE-6DAC-12762D2A198F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88D9A737-873C-7BD4-950B-1F827DFCAE21}"/>
              </a:ext>
            </a:extLst>
          </p:cNvPr>
          <p:cNvSpPr txBox="1"/>
          <p:nvPr/>
        </p:nvSpPr>
        <p:spPr>
          <a:xfrm>
            <a:off x="1524000" y="2347893"/>
            <a:ext cx="7391685" cy="265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Ajmal </a:t>
            </a:r>
          </a:p>
          <a:p>
            <a:pPr marL="1143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Sundar Raj</a:t>
            </a:r>
          </a:p>
          <a:p>
            <a:pPr marL="1143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Sushma</a:t>
            </a:r>
          </a:p>
          <a:p>
            <a:pPr marL="457200" indent="-457200" algn="l">
              <a:lnSpc>
                <a:spcPts val="3155"/>
              </a:lnSpc>
              <a:buAutoNum type="arabicPeriod"/>
            </a:pPr>
            <a:endParaRPr lang="en-US" sz="2253" dirty="0">
              <a:solidFill>
                <a:srgbClr val="FFFFFF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54E7219B-B33F-E352-9811-12714DD58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96200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2E422AE5-D4DF-ED88-4C51-06133B4EF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2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609FAF19-4615-15FE-3DF1-D8CC361976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AFADC9-91F8-A59B-C884-DBD1CD632701}"/>
              </a:ext>
            </a:extLst>
          </p:cNvPr>
          <p:cNvSpPr txBox="1"/>
          <p:nvPr/>
        </p:nvSpPr>
        <p:spPr>
          <a:xfrm>
            <a:off x="0" y="3841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With Gratitude to our Mentors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1545051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DD29E2-32F7-720D-601F-C0F60DCB1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999B566-2C3A-9470-7933-078937E70374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993DF572-F54A-2EA5-5FD3-06E8358748C9}"/>
              </a:ext>
            </a:extLst>
          </p:cNvPr>
          <p:cNvSpPr/>
          <p:nvPr/>
        </p:nvSpPr>
        <p:spPr>
          <a:xfrm flipV="1">
            <a:off x="13855" y="-1"/>
            <a:ext cx="5623570" cy="1301378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F7ADE1-F0A9-8DF5-A6D5-594B9AEF794C}"/>
              </a:ext>
            </a:extLst>
          </p:cNvPr>
          <p:cNvSpPr txBox="1"/>
          <p:nvPr/>
        </p:nvSpPr>
        <p:spPr>
          <a:xfrm>
            <a:off x="13855" y="266700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Team Members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70FBA61D-A1FA-B13B-32EB-8751ADFBB09F}"/>
              </a:ext>
            </a:extLst>
          </p:cNvPr>
          <p:cNvSpPr txBox="1"/>
          <p:nvPr/>
        </p:nvSpPr>
        <p:spPr>
          <a:xfrm>
            <a:off x="1766170" y="2379066"/>
            <a:ext cx="7391685" cy="3413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143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Lohan</a:t>
            </a:r>
          </a:p>
          <a:p>
            <a:pPr marL="1143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 err="1">
                <a:solidFill>
                  <a:srgbClr val="FFFFFF"/>
                </a:solidFill>
                <a:latin typeface="Arial MT Pro"/>
                <a:sym typeface="Arial MT Pro"/>
              </a:rPr>
              <a:t>Fidiha</a:t>
            </a: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 </a:t>
            </a:r>
          </a:p>
          <a:p>
            <a:pPr marL="1143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Manoj</a:t>
            </a:r>
          </a:p>
          <a:p>
            <a:pPr marL="1143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FFFFFF"/>
                </a:solidFill>
                <a:latin typeface="Arial MT Pro"/>
                <a:sym typeface="Arial MT Pro"/>
              </a:rPr>
              <a:t>Puneet</a:t>
            </a:r>
          </a:p>
          <a:p>
            <a:pPr marL="457200" indent="-457200" algn="l">
              <a:lnSpc>
                <a:spcPts val="3155"/>
              </a:lnSpc>
              <a:buAutoNum type="arabicPeriod"/>
            </a:pPr>
            <a:endParaRPr lang="en-US" sz="2253" dirty="0">
              <a:solidFill>
                <a:srgbClr val="FFFFFF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473F9C79-B4EC-601A-2C31-2F9E564BC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27E9D453-A444-2D57-B9CF-B2FA9ABE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3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88B7FB1E-18F1-48EA-C1E8-81477A332B1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96308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617B2-7FA3-9068-6C8B-D334DA365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3384D9E-3CB7-0173-491F-2FD190ECEB8A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D3BD36F-186C-4A62-2517-040BAB568508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CD1902-61A1-11A0-0ADF-F6EE013BFC3C}"/>
              </a:ext>
            </a:extLst>
          </p:cNvPr>
          <p:cNvSpPr txBox="1"/>
          <p:nvPr/>
        </p:nvSpPr>
        <p:spPr>
          <a:xfrm>
            <a:off x="0" y="3079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Background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19213F1C-4648-5DB6-6EB8-3D04E8F13F68}"/>
              </a:ext>
            </a:extLst>
          </p:cNvPr>
          <p:cNvSpPr txBox="1"/>
          <p:nvPr/>
        </p:nvSpPr>
        <p:spPr>
          <a:xfrm>
            <a:off x="1752600" y="2705100"/>
            <a:ext cx="16064630" cy="52604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</a:pPr>
            <a:r>
              <a:rPr lang="en-GB" sz="4400" dirty="0">
                <a:solidFill>
                  <a:schemeClr val="bg1"/>
                </a:solidFill>
              </a:rPr>
              <a:t>Over the last three months, I have transitioned from foundational electrical concepts to advanced industrial programming within the </a:t>
            </a:r>
            <a:r>
              <a:rPr lang="en-GB" sz="4400" b="1" dirty="0">
                <a:solidFill>
                  <a:schemeClr val="bg1"/>
                </a:solidFill>
              </a:rPr>
              <a:t>Siemens TIA (Totally Integrated Automation) Portal</a:t>
            </a:r>
            <a:r>
              <a:rPr lang="en-GB" sz="4400" dirty="0">
                <a:solidFill>
                  <a:schemeClr val="bg1"/>
                </a:solidFill>
              </a:rPr>
              <a:t> ecosystem. This period focused on bridging the gap between hardware control and software logic, specifically mastering the integration of </a:t>
            </a:r>
            <a:r>
              <a:rPr lang="en-GB" sz="4400" b="1" dirty="0">
                <a:solidFill>
                  <a:schemeClr val="bg1"/>
                </a:solidFill>
              </a:rPr>
              <a:t>PLCs (Programmable Logic Controllers)</a:t>
            </a:r>
            <a:r>
              <a:rPr lang="en-GB" sz="4400" dirty="0">
                <a:solidFill>
                  <a:schemeClr val="bg1"/>
                </a:solidFill>
              </a:rPr>
              <a:t> with </a:t>
            </a:r>
            <a:r>
              <a:rPr lang="en-GB" sz="4400" b="1" dirty="0">
                <a:solidFill>
                  <a:schemeClr val="bg1"/>
                </a:solidFill>
              </a:rPr>
              <a:t>HMIs (Human Machine Interfaces)</a:t>
            </a:r>
            <a:r>
              <a:rPr lang="en-GB" sz="4400" dirty="0">
                <a:solidFill>
                  <a:schemeClr val="bg1"/>
                </a:solidFill>
              </a:rPr>
              <a:t>.</a:t>
            </a:r>
            <a:endParaRPr lang="en-US" sz="2253" dirty="0">
              <a:solidFill>
                <a:schemeClr val="bg1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A9D10B4-45F3-A90D-9708-3A989AFB6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A84F06A4-1D14-09E9-E065-E897FD556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4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42D382EC-F0B8-1818-5F11-4F0474920F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17038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E520C0-2306-9E60-EE28-549A9ADF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79E0111-3423-1039-81CB-4F144567D302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1423EC9-ACD9-70E6-4AA1-DBFAEA4FE9C8}"/>
              </a:ext>
            </a:extLst>
          </p:cNvPr>
          <p:cNvSpPr/>
          <p:nvPr/>
        </p:nvSpPr>
        <p:spPr>
          <a:xfrm flipV="1">
            <a:off x="13855" y="-1"/>
            <a:ext cx="5623570" cy="1301378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D8869B2-BDCB-354F-CC25-EB7601353CE3}"/>
              </a:ext>
            </a:extLst>
          </p:cNvPr>
          <p:cNvSpPr txBox="1"/>
          <p:nvPr/>
        </p:nvSpPr>
        <p:spPr>
          <a:xfrm>
            <a:off x="13855" y="266700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Audience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70BAE30B-D16F-F173-8FCB-654B068C03AB}"/>
              </a:ext>
            </a:extLst>
          </p:cNvPr>
          <p:cNvSpPr txBox="1"/>
          <p:nvPr/>
        </p:nvSpPr>
        <p:spPr>
          <a:xfrm>
            <a:off x="1766170" y="2379066"/>
            <a:ext cx="14997830" cy="1900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</a:rPr>
              <a:t>Comfortable with basic Bit Logic, Timers (TON/</a:t>
            </a:r>
            <a:r>
              <a:rPr lang="en-GB" sz="4000" dirty="0" err="1">
                <a:solidFill>
                  <a:schemeClr val="bg1"/>
                </a:solidFill>
              </a:rPr>
              <a:t>TOF</a:t>
            </a:r>
            <a:r>
              <a:rPr lang="en-GB" sz="4000" dirty="0">
                <a:solidFill>
                  <a:schemeClr val="bg1"/>
                </a:solidFill>
              </a:rPr>
              <a:t>), and Counters. 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000" dirty="0">
                <a:solidFill>
                  <a:schemeClr val="bg1"/>
                </a:solidFill>
                <a:sym typeface="Arial MT Pro"/>
              </a:rPr>
              <a:t>Comfortable with TIA; Siemens </a:t>
            </a:r>
            <a:r>
              <a:rPr lang="en-GB" sz="4000" dirty="0" err="1">
                <a:solidFill>
                  <a:schemeClr val="bg1"/>
                </a:solidFill>
                <a:sym typeface="Arial MT Pro"/>
              </a:rPr>
              <a:t>S7</a:t>
            </a:r>
            <a:r>
              <a:rPr lang="en-GB" sz="4000" dirty="0">
                <a:solidFill>
                  <a:schemeClr val="bg1"/>
                </a:solidFill>
                <a:sym typeface="Arial MT Pro"/>
              </a:rPr>
              <a:t>-1200 PLC and HMI</a:t>
            </a:r>
          </a:p>
          <a:p>
            <a:pPr marL="457200" indent="-457200" algn="l">
              <a:lnSpc>
                <a:spcPts val="3155"/>
              </a:lnSpc>
              <a:buAutoNum type="arabicPeriod"/>
            </a:pPr>
            <a:endParaRPr lang="en-US" sz="2253" dirty="0">
              <a:solidFill>
                <a:srgbClr val="FFFFFF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417BE7DC-ACDB-10D2-28E6-B1EE4387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A80AD68-5BF9-550F-C28F-18439F93A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5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67BFF9F7-1F13-2B8C-E8FC-7BA46D68017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9320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2841EA-7736-F9DF-DADE-0E9A38A00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083B95A-4CC8-5363-FF74-C8AA59FA9050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39D37C9-69E9-C68D-E017-25747857C924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B597B75-003C-5579-C25C-397F53A5DD2C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Objective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805529B1-6D43-D0CC-72D3-50745E631991}"/>
              </a:ext>
            </a:extLst>
          </p:cNvPr>
          <p:cNvSpPr txBox="1"/>
          <p:nvPr/>
        </p:nvSpPr>
        <p:spPr>
          <a:xfrm>
            <a:off x="1835582" y="1619963"/>
            <a:ext cx="15461817" cy="87097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Automation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Automation Equipment Manufactures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PLC, HMI Understanding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Core Concepts</a:t>
            </a:r>
          </a:p>
          <a:p>
            <a:pPr marL="1028700" lvl="1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Booting Process</a:t>
            </a:r>
          </a:p>
          <a:p>
            <a:pPr marL="1028700" lvl="1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Startup</a:t>
            </a:r>
          </a:p>
          <a:p>
            <a:pPr marL="1028700" lvl="1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Execution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Communication Protocols</a:t>
            </a:r>
          </a:p>
          <a:p>
            <a:pPr marL="1028700" lvl="1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endParaRPr lang="en-GB" sz="4400" dirty="0">
              <a:solidFill>
                <a:schemeClr val="bg1"/>
              </a:solidFill>
              <a:sym typeface="Arial MT Pro"/>
            </a:endParaRPr>
          </a:p>
          <a:p>
            <a:pPr>
              <a:lnSpc>
                <a:spcPts val="5880"/>
              </a:lnSpc>
            </a:pPr>
            <a:endParaRPr lang="en-GB" sz="4400" dirty="0">
              <a:solidFill>
                <a:schemeClr val="bg1"/>
              </a:solidFill>
              <a:sym typeface="Arial MT Pro"/>
            </a:endParaRP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endParaRPr lang="en-US" sz="4200" dirty="0">
              <a:solidFill>
                <a:schemeClr val="bg1"/>
              </a:solidFill>
              <a:latin typeface="Arial MT Pro"/>
              <a:sym typeface="Arial MT Pro"/>
            </a:endParaRPr>
          </a:p>
          <a:p>
            <a:pPr marL="342900" indent="-342900" algn="l">
              <a:lnSpc>
                <a:spcPts val="3155"/>
              </a:lnSpc>
              <a:buFont typeface="Arial" panose="020B0604020202020204" pitchFamily="34" charset="0"/>
              <a:buChar char="•"/>
            </a:pPr>
            <a:endParaRPr lang="en-US" sz="2253" dirty="0">
              <a:solidFill>
                <a:schemeClr val="bg1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F653D348-33D3-4D64-E467-4B8D25129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A6C98883-D464-CF27-49F9-EAFD1C7A8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6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22CC4DDD-F06D-0356-AEFD-80D99B4E6B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054962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54294C-F96A-C1D0-59C2-E26D4FE67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A1BF77C-7848-F9F6-321E-43291C203682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F1C085F-75AC-534E-7FAB-6EFB2D04711A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F883A0F-9292-4EBF-7FB3-46465536F2FF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Automation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9F83C6E3-8B69-F032-6C7A-E4E7D8A600D3}"/>
              </a:ext>
            </a:extLst>
          </p:cNvPr>
          <p:cNvSpPr txBox="1"/>
          <p:nvPr/>
        </p:nvSpPr>
        <p:spPr>
          <a:xfrm>
            <a:off x="1828800" y="1932780"/>
            <a:ext cx="15461817" cy="90175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>
              <a:lnSpc>
                <a:spcPts val="5880"/>
              </a:lnSpc>
            </a:pPr>
            <a:r>
              <a:rPr lang="en-GB" sz="4000" dirty="0">
                <a:solidFill>
                  <a:schemeClr val="bg1"/>
                </a:solidFill>
              </a:rPr>
              <a:t>Automation is the use of technology to perform tasks with minimal human assistance. It involves a system of controls—ranging from simple mechanical triggers to complex computer algorithms</a:t>
            </a:r>
          </a:p>
          <a:p>
            <a:pPr marL="755650" indent="-742950">
              <a:lnSpc>
                <a:spcPct val="100000"/>
              </a:lnSpc>
              <a:spcBef>
                <a:spcPts val="95"/>
              </a:spcBef>
              <a:buClr>
                <a:srgbClr val="1286C3"/>
              </a:buClr>
              <a:buSzPct val="144642"/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GB" sz="3200" dirty="0">
                <a:solidFill>
                  <a:schemeClr val="bg1"/>
                </a:solidFill>
              </a:rPr>
              <a:t>Making products under the control of computers and programmable controllers</a:t>
            </a:r>
          </a:p>
          <a:p>
            <a:pPr marL="755650" indent="-742950">
              <a:lnSpc>
                <a:spcPct val="100000"/>
              </a:lnSpc>
              <a:spcBef>
                <a:spcPts val="1275"/>
              </a:spcBef>
              <a:buClr>
                <a:srgbClr val="1286C3"/>
              </a:buClr>
              <a:buSzPct val="144642"/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GB" sz="3200" dirty="0">
                <a:solidFill>
                  <a:schemeClr val="bg1"/>
                </a:solidFill>
              </a:rPr>
              <a:t>Manufacturing assembly lines as well as stand alone machine tools and robotic devices fall into this category.</a:t>
            </a:r>
          </a:p>
          <a:p>
            <a:pPr marL="755650" marR="5080" indent="-742950">
              <a:lnSpc>
                <a:spcPct val="100000"/>
              </a:lnSpc>
              <a:spcBef>
                <a:spcPts val="1270"/>
              </a:spcBef>
              <a:buClr>
                <a:srgbClr val="1286C3"/>
              </a:buClr>
              <a:buSzPct val="144642"/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GB" sz="3200" dirty="0">
                <a:solidFill>
                  <a:schemeClr val="bg1"/>
                </a:solidFill>
              </a:rPr>
              <a:t>It is delegation of human control functions to technical  equipment for increasing the productivity, quality, and increasing  the safety in working conditions thereby reducing the manpower  and cost.</a:t>
            </a:r>
          </a:p>
          <a:p>
            <a:pPr marL="755650" marR="5080" indent="-742950">
              <a:spcBef>
                <a:spcPts val="1270"/>
              </a:spcBef>
              <a:buClr>
                <a:srgbClr val="1286C3"/>
              </a:buClr>
              <a:buSzPct val="144642"/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GB" sz="3200" dirty="0">
                <a:solidFill>
                  <a:schemeClr val="bg1"/>
                </a:solidFill>
              </a:rPr>
              <a:t>In manual control, an operator periodically reads the process and  adjusts the input accordingly. Which time consuming prone to human errors.</a:t>
            </a:r>
          </a:p>
          <a:p>
            <a:pPr marL="755650" marR="5080" indent="-742950">
              <a:spcBef>
                <a:spcPts val="1270"/>
              </a:spcBef>
              <a:buClr>
                <a:srgbClr val="1286C3"/>
              </a:buClr>
              <a:buSzPct val="144642"/>
              <a:buFont typeface="Arial" panose="020B0604020202020204" pitchFamily="34" charset="0"/>
              <a:buChar char="•"/>
              <a:tabLst>
                <a:tab pos="299720" algn="l"/>
              </a:tabLst>
            </a:pPr>
            <a:r>
              <a:rPr lang="en-GB" sz="3200" dirty="0">
                <a:solidFill>
                  <a:schemeClr val="bg1"/>
                </a:solidFill>
              </a:rPr>
              <a:t>In automation control, measurements and adjustments are done  automatically on a continuous basis. Less human interactions</a:t>
            </a:r>
            <a:endParaRPr lang="en-GB" sz="4400" dirty="0">
              <a:solidFill>
                <a:schemeClr val="bg1"/>
              </a:solidFill>
              <a:sym typeface="Arial MT Pro"/>
            </a:endParaRP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endParaRPr lang="en-US" sz="4200" dirty="0">
              <a:solidFill>
                <a:schemeClr val="bg1"/>
              </a:solidFill>
              <a:latin typeface="Arial MT Pro"/>
              <a:sym typeface="Arial MT Pro"/>
            </a:endParaRPr>
          </a:p>
          <a:p>
            <a:pPr marL="342900" indent="-342900" algn="l">
              <a:lnSpc>
                <a:spcPts val="3155"/>
              </a:lnSpc>
              <a:buFont typeface="Arial" panose="020B0604020202020204" pitchFamily="34" charset="0"/>
              <a:buChar char="•"/>
            </a:pPr>
            <a:endParaRPr lang="en-US" sz="2253" dirty="0">
              <a:solidFill>
                <a:schemeClr val="bg1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F18D7D0-BD53-B3FA-5D68-E97BD810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82F88D0-8F73-D3EA-E93F-3215CD242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7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C1D2132F-8190-D249-C67F-61936298E47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966373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22EEE-3957-B3D0-822D-A808BA869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FA073EB-F315-C4F9-1660-54A0CCD427BD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2F748723-DAB4-99B6-394A-7BEF9545021C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6D653DD-22BA-35EE-FB79-A50B462DD86D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Processor, Micro Controller, PLC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E22CFA9F-3499-0834-30EF-60247D848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B03CAF65-F130-1C39-823D-DE1D832E1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8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191C8C48-6287-EBD3-EB0B-E3F92547EC2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947B17-D32E-C701-C9E6-AAAEF04C86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2379066"/>
            <a:ext cx="15905000" cy="6269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2552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B5D536-690D-BE1E-7067-9293A0209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D259141-6DC5-5614-8989-E3CDC68CF103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57329A26-A6CE-A585-C8A1-018A1D68EFE4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CBBE850-FADB-89D1-9249-8494AFA66B5F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PLC ARCHITECTURE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5753F9EB-CC00-53EB-8A4A-D4D3EA261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E3D31DAC-AC19-E217-B210-3ABBB0A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9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DDD33ABB-6DFD-714D-6DE4-724C591D7C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sp>
        <p:nvSpPr>
          <p:cNvPr id="9" name="object 2">
            <a:extLst>
              <a:ext uri="{FF2B5EF4-FFF2-40B4-BE49-F238E27FC236}">
                <a16:creationId xmlns:a16="http://schemas.microsoft.com/office/drawing/2014/main" id="{2375FF21-5531-06DD-6781-15B3943A10D5}"/>
              </a:ext>
            </a:extLst>
          </p:cNvPr>
          <p:cNvSpPr/>
          <p:nvPr/>
        </p:nvSpPr>
        <p:spPr>
          <a:xfrm>
            <a:off x="2832861" y="2917824"/>
            <a:ext cx="11811000" cy="5941539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99B14EDE-989F-5EE6-5DD4-BD4FF8F76F11}"/>
              </a:ext>
            </a:extLst>
          </p:cNvPr>
          <p:cNvSpPr/>
          <p:nvPr/>
        </p:nvSpPr>
        <p:spPr>
          <a:xfrm>
            <a:off x="2436812" y="7240113"/>
            <a:ext cx="1228725" cy="1619250"/>
          </a:xfrm>
          <a:custGeom>
            <a:avLst/>
            <a:gdLst/>
            <a:ahLst/>
            <a:cxnLst/>
            <a:rect l="l" t="t" r="r" b="b"/>
            <a:pathLst>
              <a:path w="1228725" h="1619250">
                <a:moveTo>
                  <a:pt x="0" y="0"/>
                </a:moveTo>
                <a:lnTo>
                  <a:pt x="1174686" y="1619249"/>
                </a:lnTo>
                <a:lnTo>
                  <a:pt x="1228661" y="1619249"/>
                </a:lnTo>
                <a:lnTo>
                  <a:pt x="0" y="0"/>
                </a:lnTo>
                <a:close/>
              </a:path>
            </a:pathLst>
          </a:custGeom>
          <a:solidFill>
            <a:srgbClr val="25252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37D8ABAB-3424-4AC6-2EA6-4B98B6FE9779}"/>
              </a:ext>
            </a:extLst>
          </p:cNvPr>
          <p:cNvSpPr/>
          <p:nvPr/>
        </p:nvSpPr>
        <p:spPr>
          <a:xfrm>
            <a:off x="2743200" y="7292564"/>
            <a:ext cx="1495425" cy="1567180"/>
          </a:xfrm>
          <a:custGeom>
            <a:avLst/>
            <a:gdLst/>
            <a:ahLst/>
            <a:cxnLst/>
            <a:rect l="l" t="t" r="r" b="b"/>
            <a:pathLst>
              <a:path w="1495425" h="1567179">
                <a:moveTo>
                  <a:pt x="0" y="0"/>
                </a:moveTo>
                <a:lnTo>
                  <a:pt x="1442974" y="1566799"/>
                </a:lnTo>
                <a:lnTo>
                  <a:pt x="1495425" y="1566799"/>
                </a:lnTo>
                <a:lnTo>
                  <a:pt x="0" y="0"/>
                </a:lnTo>
                <a:close/>
              </a:path>
            </a:pathLst>
          </a:custGeom>
          <a:solidFill>
            <a:srgbClr val="7A470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0">
            <a:extLst>
              <a:ext uri="{FF2B5EF4-FFF2-40B4-BE49-F238E27FC236}">
                <a16:creationId xmlns:a16="http://schemas.microsoft.com/office/drawing/2014/main" id="{38CE2CD2-DE0A-9BA3-F7D2-3E6AB076AC7A}"/>
              </a:ext>
            </a:extLst>
          </p:cNvPr>
          <p:cNvSpPr txBox="1"/>
          <p:nvPr/>
        </p:nvSpPr>
        <p:spPr>
          <a:xfrm>
            <a:off x="3660394" y="3501690"/>
            <a:ext cx="296164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99085" indent="-286385">
              <a:lnSpc>
                <a:spcPct val="100000"/>
              </a:lnSpc>
              <a:spcBef>
                <a:spcPts val="95"/>
              </a:spcBef>
              <a:buClr>
                <a:srgbClr val="B86C11"/>
              </a:buClr>
              <a:buSzPct val="144642"/>
              <a:buFont typeface="Arial"/>
              <a:buChar char="•"/>
              <a:tabLst>
                <a:tab pos="299720" algn="l"/>
              </a:tabLst>
            </a:pPr>
            <a:r>
              <a:rPr sz="2800" u="heavy" spc="-30" dirty="0">
                <a:latin typeface="Corbel"/>
                <a:cs typeface="Corbel"/>
              </a:rPr>
              <a:t>BLOCK</a:t>
            </a:r>
            <a:r>
              <a:rPr sz="2800" u="heavy" spc="-50" dirty="0">
                <a:latin typeface="Corbel"/>
                <a:cs typeface="Corbel"/>
              </a:rPr>
              <a:t> </a:t>
            </a:r>
            <a:r>
              <a:rPr sz="2800" u="heavy" spc="-10" dirty="0">
                <a:latin typeface="Corbel"/>
                <a:cs typeface="Corbel"/>
              </a:rPr>
              <a:t>DIAGRAM</a:t>
            </a:r>
            <a:endParaRPr sz="2800">
              <a:latin typeface="Corbel"/>
              <a:cs typeface="Corbel"/>
            </a:endParaRPr>
          </a:p>
        </p:txBody>
      </p:sp>
      <p:sp>
        <p:nvSpPr>
          <p:cNvPr id="18" name="object 11">
            <a:extLst>
              <a:ext uri="{FF2B5EF4-FFF2-40B4-BE49-F238E27FC236}">
                <a16:creationId xmlns:a16="http://schemas.microsoft.com/office/drawing/2014/main" id="{64D88BCC-46E1-3969-C116-743A23684A4C}"/>
              </a:ext>
            </a:extLst>
          </p:cNvPr>
          <p:cNvSpPr txBox="1"/>
          <p:nvPr/>
        </p:nvSpPr>
        <p:spPr>
          <a:xfrm>
            <a:off x="3870071" y="5736293"/>
            <a:ext cx="1983739" cy="824865"/>
          </a:xfrm>
          <a:prstGeom prst="rect">
            <a:avLst/>
          </a:prstGeom>
          <a:solidFill>
            <a:srgbClr val="EB8F21"/>
          </a:solidFill>
          <a:ln w="15875">
            <a:solidFill>
              <a:srgbClr val="AC6816"/>
            </a:solidFill>
          </a:ln>
        </p:spPr>
        <p:txBody>
          <a:bodyPr vert="horz" wrap="square" lIns="0" tIns="123189" rIns="0" bIns="0" rtlCol="0">
            <a:spAutoFit/>
          </a:bodyPr>
          <a:lstStyle/>
          <a:p>
            <a:pPr marL="559435" marR="553085" indent="118745">
              <a:lnSpc>
                <a:spcPct val="100000"/>
              </a:lnSpc>
              <a:spcBef>
                <a:spcPts val="969"/>
              </a:spcBef>
            </a:pP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INPUT  D</a:t>
            </a:r>
            <a:r>
              <a:rPr sz="1800" spc="0" dirty="0">
                <a:solidFill>
                  <a:srgbClr val="FFFFFF"/>
                </a:solidFill>
                <a:latin typeface="Corbel"/>
                <a:cs typeface="Corbel"/>
              </a:rPr>
              <a:t>E</a:t>
            </a: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VICES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20" name="object 12">
            <a:extLst>
              <a:ext uri="{FF2B5EF4-FFF2-40B4-BE49-F238E27FC236}">
                <a16:creationId xmlns:a16="http://schemas.microsoft.com/office/drawing/2014/main" id="{93C43407-AE00-6565-D511-BD88A5745317}"/>
              </a:ext>
            </a:extLst>
          </p:cNvPr>
          <p:cNvSpPr txBox="1"/>
          <p:nvPr/>
        </p:nvSpPr>
        <p:spPr>
          <a:xfrm>
            <a:off x="7441819" y="5736293"/>
            <a:ext cx="1296670" cy="824865"/>
          </a:xfrm>
          <a:prstGeom prst="rect">
            <a:avLst/>
          </a:prstGeom>
          <a:solidFill>
            <a:srgbClr val="EB8F21"/>
          </a:solidFill>
          <a:ln w="15875">
            <a:solidFill>
              <a:srgbClr val="AC6816"/>
            </a:solidFill>
          </a:ln>
        </p:spPr>
        <p:txBody>
          <a:bodyPr vert="horz" wrap="square" lIns="0" tIns="444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5"/>
              </a:spcBef>
            </a:pPr>
            <a:endParaRPr sz="1750">
              <a:latin typeface="Times New Roman"/>
              <a:cs typeface="Times New Roman"/>
            </a:endParaRPr>
          </a:p>
          <a:p>
            <a:pPr marL="1270" algn="ctr">
              <a:lnSpc>
                <a:spcPct val="100000"/>
              </a:lnSpc>
            </a:pPr>
            <a:r>
              <a:rPr sz="1800" spc="-25" dirty="0">
                <a:solidFill>
                  <a:srgbClr val="FFFFFF"/>
                </a:solidFill>
                <a:latin typeface="Corbel"/>
                <a:cs typeface="Corbel"/>
              </a:rPr>
              <a:t>PLC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21" name="object 13">
            <a:extLst>
              <a:ext uri="{FF2B5EF4-FFF2-40B4-BE49-F238E27FC236}">
                <a16:creationId xmlns:a16="http://schemas.microsoft.com/office/drawing/2014/main" id="{9D95BF80-4D38-6603-43F1-84FD3E84C220}"/>
              </a:ext>
            </a:extLst>
          </p:cNvPr>
          <p:cNvSpPr txBox="1"/>
          <p:nvPr/>
        </p:nvSpPr>
        <p:spPr>
          <a:xfrm>
            <a:off x="10097516" y="5761947"/>
            <a:ext cx="1983739" cy="824865"/>
          </a:xfrm>
          <a:prstGeom prst="rect">
            <a:avLst/>
          </a:prstGeom>
          <a:solidFill>
            <a:srgbClr val="EB8F21"/>
          </a:solidFill>
          <a:ln w="15875">
            <a:solidFill>
              <a:srgbClr val="AC6816"/>
            </a:solidFill>
          </a:ln>
        </p:spPr>
        <p:txBody>
          <a:bodyPr vert="horz" wrap="square" lIns="0" tIns="123189" rIns="0" bIns="0" rtlCol="0">
            <a:spAutoFit/>
          </a:bodyPr>
          <a:lstStyle/>
          <a:p>
            <a:pPr marL="560070" marR="552450" indent="1270">
              <a:lnSpc>
                <a:spcPct val="100000"/>
              </a:lnSpc>
              <a:spcBef>
                <a:spcPts val="969"/>
              </a:spcBef>
            </a:pP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OUT</a:t>
            </a:r>
            <a:r>
              <a:rPr sz="1800" spc="0" dirty="0">
                <a:solidFill>
                  <a:srgbClr val="FFFFFF"/>
                </a:solidFill>
                <a:latin typeface="Corbel"/>
                <a:cs typeface="Corbel"/>
              </a:rPr>
              <a:t>P</a:t>
            </a: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UT  D</a:t>
            </a:r>
            <a:r>
              <a:rPr sz="1800" spc="0" dirty="0">
                <a:solidFill>
                  <a:srgbClr val="FFFFFF"/>
                </a:solidFill>
                <a:latin typeface="Corbel"/>
                <a:cs typeface="Corbel"/>
              </a:rPr>
              <a:t>E</a:t>
            </a: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VICES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22" name="object 14">
            <a:extLst>
              <a:ext uri="{FF2B5EF4-FFF2-40B4-BE49-F238E27FC236}">
                <a16:creationId xmlns:a16="http://schemas.microsoft.com/office/drawing/2014/main" id="{ABA924E7-2A17-4DA2-D417-EB1B2CD07CA9}"/>
              </a:ext>
            </a:extLst>
          </p:cNvPr>
          <p:cNvSpPr txBox="1"/>
          <p:nvPr/>
        </p:nvSpPr>
        <p:spPr>
          <a:xfrm>
            <a:off x="7098410" y="4284429"/>
            <a:ext cx="1983739" cy="824865"/>
          </a:xfrm>
          <a:prstGeom prst="rect">
            <a:avLst/>
          </a:prstGeom>
          <a:solidFill>
            <a:srgbClr val="EB8F21"/>
          </a:solidFill>
          <a:ln w="15875">
            <a:solidFill>
              <a:srgbClr val="AC6816"/>
            </a:solidFill>
          </a:ln>
        </p:spPr>
        <p:txBody>
          <a:bodyPr vert="horz" wrap="square" lIns="0" tIns="123190" rIns="0" bIns="0" rtlCol="0">
            <a:spAutoFit/>
          </a:bodyPr>
          <a:lstStyle/>
          <a:p>
            <a:pPr marL="610235">
              <a:lnSpc>
                <a:spcPct val="100000"/>
              </a:lnSpc>
              <a:spcBef>
                <a:spcPts val="970"/>
              </a:spcBef>
            </a:pP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POWER</a:t>
            </a:r>
            <a:endParaRPr sz="1800">
              <a:latin typeface="Corbel"/>
              <a:cs typeface="Corbel"/>
            </a:endParaRPr>
          </a:p>
          <a:p>
            <a:pPr marL="652780">
              <a:lnSpc>
                <a:spcPct val="100000"/>
              </a:lnSpc>
            </a:pPr>
            <a:r>
              <a:rPr sz="1800" spc="-5" dirty="0">
                <a:solidFill>
                  <a:srgbClr val="FFFFFF"/>
                </a:solidFill>
                <a:latin typeface="Corbel"/>
                <a:cs typeface="Corbel"/>
              </a:rPr>
              <a:t>SUPPY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26" name="object 15">
            <a:extLst>
              <a:ext uri="{FF2B5EF4-FFF2-40B4-BE49-F238E27FC236}">
                <a16:creationId xmlns:a16="http://schemas.microsoft.com/office/drawing/2014/main" id="{15168F88-1A21-D96F-9163-445A75D86D60}"/>
              </a:ext>
            </a:extLst>
          </p:cNvPr>
          <p:cNvSpPr txBox="1"/>
          <p:nvPr/>
        </p:nvSpPr>
        <p:spPr>
          <a:xfrm>
            <a:off x="5458460" y="7187992"/>
            <a:ext cx="1983739" cy="824865"/>
          </a:xfrm>
          <a:prstGeom prst="rect">
            <a:avLst/>
          </a:prstGeom>
          <a:solidFill>
            <a:srgbClr val="EB8F21"/>
          </a:solidFill>
          <a:ln w="15875">
            <a:solidFill>
              <a:srgbClr val="AC6816"/>
            </a:solidFill>
          </a:ln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750">
              <a:latin typeface="Times New Roman"/>
              <a:cs typeface="Times New Roman"/>
            </a:endParaRPr>
          </a:p>
          <a:p>
            <a:pPr marL="521334">
              <a:lnSpc>
                <a:spcPct val="100000"/>
              </a:lnSpc>
            </a:pPr>
            <a:r>
              <a:rPr sz="1800" dirty="0">
                <a:solidFill>
                  <a:srgbClr val="FFFFFF"/>
                </a:solidFill>
                <a:latin typeface="Corbel"/>
                <a:cs typeface="Corbel"/>
              </a:rPr>
              <a:t>MEMORY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27" name="object 16">
            <a:extLst>
              <a:ext uri="{FF2B5EF4-FFF2-40B4-BE49-F238E27FC236}">
                <a16:creationId xmlns:a16="http://schemas.microsoft.com/office/drawing/2014/main" id="{733DFD4D-A8B9-D8C7-95B9-4C11CFDB0F4C}"/>
              </a:ext>
            </a:extLst>
          </p:cNvPr>
          <p:cNvSpPr txBox="1"/>
          <p:nvPr/>
        </p:nvSpPr>
        <p:spPr>
          <a:xfrm>
            <a:off x="8738361" y="7187992"/>
            <a:ext cx="1983739" cy="824865"/>
          </a:xfrm>
          <a:prstGeom prst="rect">
            <a:avLst/>
          </a:prstGeom>
          <a:solidFill>
            <a:srgbClr val="EB8F21"/>
          </a:solidFill>
          <a:ln w="15875">
            <a:solidFill>
              <a:srgbClr val="AC6816"/>
            </a:solidFill>
          </a:ln>
        </p:spPr>
        <p:txBody>
          <a:bodyPr vert="horz" wrap="square" lIns="0" tIns="508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40"/>
              </a:spcBef>
            </a:pPr>
            <a:endParaRPr sz="1750">
              <a:latin typeface="Times New Roman"/>
              <a:cs typeface="Times New Roman"/>
            </a:endParaRPr>
          </a:p>
          <a:p>
            <a:pPr marL="434975">
              <a:lnSpc>
                <a:spcPct val="100000"/>
              </a:lnSpc>
            </a:pPr>
            <a:r>
              <a:rPr sz="1800" spc="-15" dirty="0">
                <a:solidFill>
                  <a:srgbClr val="FFFFFF"/>
                </a:solidFill>
                <a:latin typeface="Corbel"/>
                <a:cs typeface="Corbel"/>
              </a:rPr>
              <a:t>INTERFACE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28" name="object 17">
            <a:extLst>
              <a:ext uri="{FF2B5EF4-FFF2-40B4-BE49-F238E27FC236}">
                <a16:creationId xmlns:a16="http://schemas.microsoft.com/office/drawing/2014/main" id="{A3351EB0-93BA-0AC1-64C7-CE049909F931}"/>
              </a:ext>
            </a:extLst>
          </p:cNvPr>
          <p:cNvSpPr/>
          <p:nvPr/>
        </p:nvSpPr>
        <p:spPr>
          <a:xfrm>
            <a:off x="5847079" y="6110321"/>
            <a:ext cx="1595120" cy="76200"/>
          </a:xfrm>
          <a:custGeom>
            <a:avLst/>
            <a:gdLst/>
            <a:ahLst/>
            <a:cxnLst/>
            <a:rect l="l" t="t" r="r" b="b"/>
            <a:pathLst>
              <a:path w="1595120" h="76200">
                <a:moveTo>
                  <a:pt x="1518539" y="0"/>
                </a:moveTo>
                <a:lnTo>
                  <a:pt x="1518539" y="76200"/>
                </a:lnTo>
                <a:lnTo>
                  <a:pt x="1582039" y="44450"/>
                </a:lnTo>
                <a:lnTo>
                  <a:pt x="1534795" y="44450"/>
                </a:lnTo>
                <a:lnTo>
                  <a:pt x="1537589" y="41529"/>
                </a:lnTo>
                <a:lnTo>
                  <a:pt x="1537589" y="34544"/>
                </a:lnTo>
                <a:lnTo>
                  <a:pt x="1534795" y="31750"/>
                </a:lnTo>
                <a:lnTo>
                  <a:pt x="1582039" y="31750"/>
                </a:lnTo>
                <a:lnTo>
                  <a:pt x="1518539" y="0"/>
                </a:lnTo>
                <a:close/>
              </a:path>
              <a:path w="1595120" h="76200">
                <a:moveTo>
                  <a:pt x="1518539" y="31750"/>
                </a:moveTo>
                <a:lnTo>
                  <a:pt x="2921" y="31750"/>
                </a:lnTo>
                <a:lnTo>
                  <a:pt x="0" y="34544"/>
                </a:lnTo>
                <a:lnTo>
                  <a:pt x="0" y="41529"/>
                </a:lnTo>
                <a:lnTo>
                  <a:pt x="2921" y="44450"/>
                </a:lnTo>
                <a:lnTo>
                  <a:pt x="1518539" y="44450"/>
                </a:lnTo>
                <a:lnTo>
                  <a:pt x="1518539" y="31750"/>
                </a:lnTo>
                <a:close/>
              </a:path>
              <a:path w="1595120" h="76200">
                <a:moveTo>
                  <a:pt x="1582039" y="31750"/>
                </a:moveTo>
                <a:lnTo>
                  <a:pt x="1534795" y="31750"/>
                </a:lnTo>
                <a:lnTo>
                  <a:pt x="1537589" y="34544"/>
                </a:lnTo>
                <a:lnTo>
                  <a:pt x="1537589" y="41529"/>
                </a:lnTo>
                <a:lnTo>
                  <a:pt x="1534795" y="44450"/>
                </a:lnTo>
                <a:lnTo>
                  <a:pt x="1582039" y="44450"/>
                </a:lnTo>
                <a:lnTo>
                  <a:pt x="1594739" y="38100"/>
                </a:lnTo>
                <a:lnTo>
                  <a:pt x="1582039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18">
            <a:extLst>
              <a:ext uri="{FF2B5EF4-FFF2-40B4-BE49-F238E27FC236}">
                <a16:creationId xmlns:a16="http://schemas.microsoft.com/office/drawing/2014/main" id="{80C9C8FC-6B27-8001-117A-59D3AD414A25}"/>
              </a:ext>
            </a:extLst>
          </p:cNvPr>
          <p:cNvSpPr/>
          <p:nvPr/>
        </p:nvSpPr>
        <p:spPr>
          <a:xfrm>
            <a:off x="8731884" y="6134578"/>
            <a:ext cx="1365885" cy="76200"/>
          </a:xfrm>
          <a:custGeom>
            <a:avLst/>
            <a:gdLst/>
            <a:ahLst/>
            <a:cxnLst/>
            <a:rect l="l" t="t" r="r" b="b"/>
            <a:pathLst>
              <a:path w="1365884" h="76200">
                <a:moveTo>
                  <a:pt x="1290192" y="0"/>
                </a:moveTo>
                <a:lnTo>
                  <a:pt x="1289610" y="31764"/>
                </a:lnTo>
                <a:lnTo>
                  <a:pt x="1302258" y="32004"/>
                </a:lnTo>
                <a:lnTo>
                  <a:pt x="1305814" y="32004"/>
                </a:lnTo>
                <a:lnTo>
                  <a:pt x="1308608" y="34925"/>
                </a:lnTo>
                <a:lnTo>
                  <a:pt x="1308481" y="41910"/>
                </a:lnTo>
                <a:lnTo>
                  <a:pt x="1305560" y="44704"/>
                </a:lnTo>
                <a:lnTo>
                  <a:pt x="1289373" y="44704"/>
                </a:lnTo>
                <a:lnTo>
                  <a:pt x="1288795" y="76200"/>
                </a:lnTo>
                <a:lnTo>
                  <a:pt x="1354730" y="44704"/>
                </a:lnTo>
                <a:lnTo>
                  <a:pt x="1302131" y="44704"/>
                </a:lnTo>
                <a:lnTo>
                  <a:pt x="1289377" y="44461"/>
                </a:lnTo>
                <a:lnTo>
                  <a:pt x="1355238" y="44461"/>
                </a:lnTo>
                <a:lnTo>
                  <a:pt x="1365631" y="39497"/>
                </a:lnTo>
                <a:lnTo>
                  <a:pt x="1290192" y="0"/>
                </a:lnTo>
                <a:close/>
              </a:path>
              <a:path w="1365884" h="76200">
                <a:moveTo>
                  <a:pt x="1289610" y="31764"/>
                </a:moveTo>
                <a:lnTo>
                  <a:pt x="1289377" y="44461"/>
                </a:lnTo>
                <a:lnTo>
                  <a:pt x="1302131" y="44704"/>
                </a:lnTo>
                <a:lnTo>
                  <a:pt x="1305560" y="44704"/>
                </a:lnTo>
                <a:lnTo>
                  <a:pt x="1308481" y="41910"/>
                </a:lnTo>
                <a:lnTo>
                  <a:pt x="1308608" y="34925"/>
                </a:lnTo>
                <a:lnTo>
                  <a:pt x="1305814" y="32004"/>
                </a:lnTo>
                <a:lnTo>
                  <a:pt x="1302258" y="32004"/>
                </a:lnTo>
                <a:lnTo>
                  <a:pt x="1289610" y="31764"/>
                </a:lnTo>
                <a:close/>
              </a:path>
              <a:path w="1365884" h="76200">
                <a:moveTo>
                  <a:pt x="3048" y="7366"/>
                </a:moveTo>
                <a:lnTo>
                  <a:pt x="126" y="10160"/>
                </a:lnTo>
                <a:lnTo>
                  <a:pt x="0" y="17145"/>
                </a:lnTo>
                <a:lnTo>
                  <a:pt x="2793" y="20066"/>
                </a:lnTo>
                <a:lnTo>
                  <a:pt x="6350" y="20066"/>
                </a:lnTo>
                <a:lnTo>
                  <a:pt x="1289377" y="44461"/>
                </a:lnTo>
                <a:lnTo>
                  <a:pt x="1289610" y="31764"/>
                </a:lnTo>
                <a:lnTo>
                  <a:pt x="6603" y="7493"/>
                </a:lnTo>
                <a:lnTo>
                  <a:pt x="3048" y="7366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19">
            <a:extLst>
              <a:ext uri="{FF2B5EF4-FFF2-40B4-BE49-F238E27FC236}">
                <a16:creationId xmlns:a16="http://schemas.microsoft.com/office/drawing/2014/main" id="{D3748E8E-7CE4-2C53-B0B6-A2F805B7C267}"/>
              </a:ext>
            </a:extLst>
          </p:cNvPr>
          <p:cNvSpPr/>
          <p:nvPr/>
        </p:nvSpPr>
        <p:spPr>
          <a:xfrm>
            <a:off x="8051927" y="5102321"/>
            <a:ext cx="76200" cy="634365"/>
          </a:xfrm>
          <a:custGeom>
            <a:avLst/>
            <a:gdLst/>
            <a:ahLst/>
            <a:cxnLst/>
            <a:rect l="l" t="t" r="r" b="b"/>
            <a:pathLst>
              <a:path w="76200" h="634364">
                <a:moveTo>
                  <a:pt x="31750" y="557657"/>
                </a:moveTo>
                <a:lnTo>
                  <a:pt x="0" y="557657"/>
                </a:lnTo>
                <a:lnTo>
                  <a:pt x="38100" y="633857"/>
                </a:lnTo>
                <a:lnTo>
                  <a:pt x="66675" y="576707"/>
                </a:lnTo>
                <a:lnTo>
                  <a:pt x="34671" y="576707"/>
                </a:lnTo>
                <a:lnTo>
                  <a:pt x="31750" y="573913"/>
                </a:lnTo>
                <a:lnTo>
                  <a:pt x="31750" y="557657"/>
                </a:lnTo>
                <a:close/>
              </a:path>
              <a:path w="76200" h="634364">
                <a:moveTo>
                  <a:pt x="41656" y="0"/>
                </a:moveTo>
                <a:lnTo>
                  <a:pt x="34671" y="0"/>
                </a:lnTo>
                <a:lnTo>
                  <a:pt x="31750" y="2920"/>
                </a:lnTo>
                <a:lnTo>
                  <a:pt x="31750" y="573913"/>
                </a:lnTo>
                <a:lnTo>
                  <a:pt x="34671" y="576707"/>
                </a:lnTo>
                <a:lnTo>
                  <a:pt x="41656" y="576707"/>
                </a:lnTo>
                <a:lnTo>
                  <a:pt x="44450" y="573913"/>
                </a:lnTo>
                <a:lnTo>
                  <a:pt x="44450" y="2920"/>
                </a:lnTo>
                <a:lnTo>
                  <a:pt x="41656" y="0"/>
                </a:lnTo>
                <a:close/>
              </a:path>
              <a:path w="76200" h="634364">
                <a:moveTo>
                  <a:pt x="76200" y="557657"/>
                </a:moveTo>
                <a:lnTo>
                  <a:pt x="44450" y="557657"/>
                </a:lnTo>
                <a:lnTo>
                  <a:pt x="44450" y="573913"/>
                </a:lnTo>
                <a:lnTo>
                  <a:pt x="41656" y="576707"/>
                </a:lnTo>
                <a:lnTo>
                  <a:pt x="66675" y="576707"/>
                </a:lnTo>
                <a:lnTo>
                  <a:pt x="76200" y="55765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20">
            <a:extLst>
              <a:ext uri="{FF2B5EF4-FFF2-40B4-BE49-F238E27FC236}">
                <a16:creationId xmlns:a16="http://schemas.microsoft.com/office/drawing/2014/main" id="{4E61ABB4-758B-A5B2-8813-369542DCC1F3}"/>
              </a:ext>
            </a:extLst>
          </p:cNvPr>
          <p:cNvSpPr/>
          <p:nvPr/>
        </p:nvSpPr>
        <p:spPr>
          <a:xfrm>
            <a:off x="8108822" y="6560535"/>
            <a:ext cx="1716405" cy="628015"/>
          </a:xfrm>
          <a:custGeom>
            <a:avLst/>
            <a:gdLst/>
            <a:ahLst/>
            <a:cxnLst/>
            <a:rect l="l" t="t" r="r" b="b"/>
            <a:pathLst>
              <a:path w="1716404" h="628014">
                <a:moveTo>
                  <a:pt x="1671701" y="551307"/>
                </a:moveTo>
                <a:lnTo>
                  <a:pt x="1639951" y="551307"/>
                </a:lnTo>
                <a:lnTo>
                  <a:pt x="1678051" y="627507"/>
                </a:lnTo>
                <a:lnTo>
                  <a:pt x="1706626" y="570357"/>
                </a:lnTo>
                <a:lnTo>
                  <a:pt x="1674495" y="570357"/>
                </a:lnTo>
                <a:lnTo>
                  <a:pt x="1671701" y="567435"/>
                </a:lnTo>
                <a:lnTo>
                  <a:pt x="1671701" y="551307"/>
                </a:lnTo>
                <a:close/>
              </a:path>
              <a:path w="1716404" h="628014">
                <a:moveTo>
                  <a:pt x="1671701" y="313689"/>
                </a:moveTo>
                <a:lnTo>
                  <a:pt x="1671701" y="567435"/>
                </a:lnTo>
                <a:lnTo>
                  <a:pt x="1674495" y="570357"/>
                </a:lnTo>
                <a:lnTo>
                  <a:pt x="1681606" y="570357"/>
                </a:lnTo>
                <a:lnTo>
                  <a:pt x="1684401" y="567435"/>
                </a:lnTo>
                <a:lnTo>
                  <a:pt x="1684401" y="320039"/>
                </a:lnTo>
                <a:lnTo>
                  <a:pt x="1678051" y="320039"/>
                </a:lnTo>
                <a:lnTo>
                  <a:pt x="1671701" y="313689"/>
                </a:lnTo>
                <a:close/>
              </a:path>
              <a:path w="1716404" h="628014">
                <a:moveTo>
                  <a:pt x="1716151" y="551307"/>
                </a:moveTo>
                <a:lnTo>
                  <a:pt x="1684401" y="551307"/>
                </a:lnTo>
                <a:lnTo>
                  <a:pt x="1684401" y="567435"/>
                </a:lnTo>
                <a:lnTo>
                  <a:pt x="1681606" y="570357"/>
                </a:lnTo>
                <a:lnTo>
                  <a:pt x="1706626" y="570357"/>
                </a:lnTo>
                <a:lnTo>
                  <a:pt x="1716151" y="551307"/>
                </a:lnTo>
                <a:close/>
              </a:path>
              <a:path w="1716404" h="628014">
                <a:moveTo>
                  <a:pt x="41655" y="57150"/>
                </a:moveTo>
                <a:lnTo>
                  <a:pt x="34671" y="57150"/>
                </a:lnTo>
                <a:lnTo>
                  <a:pt x="31750" y="59943"/>
                </a:lnTo>
                <a:lnTo>
                  <a:pt x="31750" y="317245"/>
                </a:lnTo>
                <a:lnTo>
                  <a:pt x="34671" y="320039"/>
                </a:lnTo>
                <a:lnTo>
                  <a:pt x="1671701" y="320039"/>
                </a:lnTo>
                <a:lnTo>
                  <a:pt x="1671701" y="313689"/>
                </a:lnTo>
                <a:lnTo>
                  <a:pt x="44450" y="313689"/>
                </a:lnTo>
                <a:lnTo>
                  <a:pt x="38100" y="307339"/>
                </a:lnTo>
                <a:lnTo>
                  <a:pt x="44450" y="307339"/>
                </a:lnTo>
                <a:lnTo>
                  <a:pt x="44450" y="59943"/>
                </a:lnTo>
                <a:lnTo>
                  <a:pt x="41655" y="57150"/>
                </a:lnTo>
                <a:close/>
              </a:path>
              <a:path w="1716404" h="628014">
                <a:moveTo>
                  <a:pt x="1681606" y="307339"/>
                </a:moveTo>
                <a:lnTo>
                  <a:pt x="44450" y="307339"/>
                </a:lnTo>
                <a:lnTo>
                  <a:pt x="44450" y="313689"/>
                </a:lnTo>
                <a:lnTo>
                  <a:pt x="1671701" y="313689"/>
                </a:lnTo>
                <a:lnTo>
                  <a:pt x="1678051" y="320039"/>
                </a:lnTo>
                <a:lnTo>
                  <a:pt x="1684401" y="320039"/>
                </a:lnTo>
                <a:lnTo>
                  <a:pt x="1684401" y="310133"/>
                </a:lnTo>
                <a:lnTo>
                  <a:pt x="1681606" y="307339"/>
                </a:lnTo>
                <a:close/>
              </a:path>
              <a:path w="1716404" h="628014">
                <a:moveTo>
                  <a:pt x="44450" y="307339"/>
                </a:moveTo>
                <a:lnTo>
                  <a:pt x="38100" y="307339"/>
                </a:lnTo>
                <a:lnTo>
                  <a:pt x="44450" y="313689"/>
                </a:lnTo>
                <a:lnTo>
                  <a:pt x="44450" y="307339"/>
                </a:lnTo>
                <a:close/>
              </a:path>
              <a:path w="1716404" h="628014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59943"/>
                </a:lnTo>
                <a:lnTo>
                  <a:pt x="34671" y="57150"/>
                </a:lnTo>
                <a:lnTo>
                  <a:pt x="66675" y="57150"/>
                </a:lnTo>
                <a:lnTo>
                  <a:pt x="38100" y="0"/>
                </a:lnTo>
                <a:close/>
              </a:path>
              <a:path w="1716404" h="628014">
                <a:moveTo>
                  <a:pt x="66675" y="57150"/>
                </a:moveTo>
                <a:lnTo>
                  <a:pt x="41655" y="57150"/>
                </a:lnTo>
                <a:lnTo>
                  <a:pt x="44450" y="59943"/>
                </a:lnTo>
                <a:lnTo>
                  <a:pt x="44450" y="76200"/>
                </a:lnTo>
                <a:lnTo>
                  <a:pt x="76200" y="76200"/>
                </a:lnTo>
                <a:lnTo>
                  <a:pt x="66675" y="571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21">
            <a:extLst>
              <a:ext uri="{FF2B5EF4-FFF2-40B4-BE49-F238E27FC236}">
                <a16:creationId xmlns:a16="http://schemas.microsoft.com/office/drawing/2014/main" id="{90AA0757-95E4-217C-B67B-B04D15376CCE}"/>
              </a:ext>
            </a:extLst>
          </p:cNvPr>
          <p:cNvSpPr txBox="1"/>
          <p:nvPr/>
        </p:nvSpPr>
        <p:spPr>
          <a:xfrm>
            <a:off x="7384796" y="3668999"/>
            <a:ext cx="878205" cy="56682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rbel"/>
                <a:cs typeface="Corbel"/>
              </a:rPr>
              <a:t>(24V </a:t>
            </a:r>
            <a:r>
              <a:rPr sz="1800" dirty="0">
                <a:latin typeface="Corbel"/>
                <a:cs typeface="Corbel"/>
              </a:rPr>
              <a:t>DC,  </a:t>
            </a:r>
            <a:r>
              <a:rPr lang="en-IN" sz="1800" spc="-10" dirty="0">
                <a:latin typeface="Corbel"/>
                <a:cs typeface="Corbel"/>
              </a:rPr>
              <a:t>240</a:t>
            </a:r>
            <a:r>
              <a:rPr sz="1800" spc="-10" dirty="0">
                <a:latin typeface="Corbel"/>
                <a:cs typeface="Corbel"/>
              </a:rPr>
              <a:t>V</a:t>
            </a:r>
            <a:r>
              <a:rPr sz="1800" spc="-175" dirty="0">
                <a:latin typeface="Corbel"/>
                <a:cs typeface="Corbel"/>
              </a:rPr>
              <a:t> </a:t>
            </a:r>
            <a:r>
              <a:rPr sz="1800" spc="-10" dirty="0">
                <a:latin typeface="Corbel"/>
                <a:cs typeface="Corbel"/>
              </a:rPr>
              <a:t>AC)</a:t>
            </a:r>
            <a:endParaRPr sz="1800" dirty="0">
              <a:latin typeface="Corbel"/>
              <a:cs typeface="Corbel"/>
            </a:endParaRPr>
          </a:p>
        </p:txBody>
      </p:sp>
      <p:sp>
        <p:nvSpPr>
          <p:cNvPr id="33" name="object 22">
            <a:extLst>
              <a:ext uri="{FF2B5EF4-FFF2-40B4-BE49-F238E27FC236}">
                <a16:creationId xmlns:a16="http://schemas.microsoft.com/office/drawing/2014/main" id="{3E6C640C-8210-3964-0C00-4AC8AF209C59}"/>
              </a:ext>
            </a:extLst>
          </p:cNvPr>
          <p:cNvSpPr txBox="1"/>
          <p:nvPr/>
        </p:nvSpPr>
        <p:spPr>
          <a:xfrm>
            <a:off x="3947922" y="4572096"/>
            <a:ext cx="177609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20" dirty="0">
                <a:latin typeface="Corbel"/>
                <a:cs typeface="Corbel"/>
              </a:rPr>
              <a:t>(Toggle </a:t>
            </a:r>
            <a:r>
              <a:rPr sz="1800" spc="-5" dirty="0">
                <a:latin typeface="Corbel"/>
                <a:cs typeface="Corbel"/>
              </a:rPr>
              <a:t>or Push  </a:t>
            </a:r>
            <a:r>
              <a:rPr sz="1800" dirty="0">
                <a:latin typeface="Corbel"/>
                <a:cs typeface="Corbel"/>
              </a:rPr>
              <a:t>buttons,</a:t>
            </a:r>
            <a:r>
              <a:rPr sz="1800" spc="-100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proximity  </a:t>
            </a:r>
            <a:r>
              <a:rPr sz="1800" spc="-5" dirty="0">
                <a:latin typeface="Corbel"/>
                <a:cs typeface="Corbel"/>
              </a:rPr>
              <a:t>or pressure  sensors)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34" name="object 23">
            <a:extLst>
              <a:ext uri="{FF2B5EF4-FFF2-40B4-BE49-F238E27FC236}">
                <a16:creationId xmlns:a16="http://schemas.microsoft.com/office/drawing/2014/main" id="{AF291D06-89C3-D497-D0BE-0EDB92031F6B}"/>
              </a:ext>
            </a:extLst>
          </p:cNvPr>
          <p:cNvSpPr txBox="1"/>
          <p:nvPr/>
        </p:nvSpPr>
        <p:spPr>
          <a:xfrm>
            <a:off x="12321285" y="5780628"/>
            <a:ext cx="1077595" cy="8438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IN" dirty="0"/>
              <a:t>Motors, Solenoids, Valves etc</a:t>
            </a:r>
            <a:endParaRPr sz="1800" dirty="0">
              <a:latin typeface="Corbel"/>
              <a:cs typeface="Corbel"/>
            </a:endParaRPr>
          </a:p>
        </p:txBody>
      </p:sp>
      <p:sp>
        <p:nvSpPr>
          <p:cNvPr id="35" name="object 24">
            <a:extLst>
              <a:ext uri="{FF2B5EF4-FFF2-40B4-BE49-F238E27FC236}">
                <a16:creationId xmlns:a16="http://schemas.microsoft.com/office/drawing/2014/main" id="{0C228BF8-CD05-6120-194A-BD73B39C0904}"/>
              </a:ext>
            </a:extLst>
          </p:cNvPr>
          <p:cNvSpPr txBox="1"/>
          <p:nvPr/>
        </p:nvSpPr>
        <p:spPr>
          <a:xfrm>
            <a:off x="3695827" y="7537547"/>
            <a:ext cx="172656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rbel"/>
                <a:cs typeface="Corbel"/>
              </a:rPr>
              <a:t>(External</a:t>
            </a:r>
            <a:r>
              <a:rPr sz="1800" spc="-65" dirty="0">
                <a:latin typeface="Corbel"/>
                <a:cs typeface="Corbel"/>
              </a:rPr>
              <a:t> </a:t>
            </a:r>
            <a:r>
              <a:rPr sz="1800" dirty="0">
                <a:latin typeface="Corbel"/>
                <a:cs typeface="Corbel"/>
              </a:rPr>
              <a:t>memory  </a:t>
            </a:r>
            <a:r>
              <a:rPr sz="1800" spc="-10" dirty="0">
                <a:latin typeface="Corbel"/>
                <a:cs typeface="Corbel"/>
              </a:rPr>
              <a:t>module)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36" name="object 25">
            <a:extLst>
              <a:ext uri="{FF2B5EF4-FFF2-40B4-BE49-F238E27FC236}">
                <a16:creationId xmlns:a16="http://schemas.microsoft.com/office/drawing/2014/main" id="{7B0E51EF-0596-2DEB-9DDA-9531FA2D6FF3}"/>
              </a:ext>
            </a:extLst>
          </p:cNvPr>
          <p:cNvSpPr txBox="1"/>
          <p:nvPr/>
        </p:nvSpPr>
        <p:spPr>
          <a:xfrm>
            <a:off x="10904601" y="7390633"/>
            <a:ext cx="15481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orbel"/>
                <a:cs typeface="Corbel"/>
              </a:rPr>
              <a:t>(SCADA or</a:t>
            </a:r>
            <a:r>
              <a:rPr sz="1800" spc="-100" dirty="0">
                <a:latin typeface="Corbel"/>
                <a:cs typeface="Corbel"/>
              </a:rPr>
              <a:t> </a:t>
            </a:r>
            <a:r>
              <a:rPr sz="1800" spc="-5" dirty="0">
                <a:latin typeface="Corbel"/>
                <a:cs typeface="Corbel"/>
              </a:rPr>
              <a:t>HMI)</a:t>
            </a:r>
            <a:endParaRPr sz="1800">
              <a:latin typeface="Corbel"/>
              <a:cs typeface="Corbel"/>
            </a:endParaRPr>
          </a:p>
        </p:txBody>
      </p:sp>
      <p:sp>
        <p:nvSpPr>
          <p:cNvPr id="37" name="object 26">
            <a:extLst>
              <a:ext uri="{FF2B5EF4-FFF2-40B4-BE49-F238E27FC236}">
                <a16:creationId xmlns:a16="http://schemas.microsoft.com/office/drawing/2014/main" id="{8824E2EE-EBCB-B3C1-5345-69619E6651CC}"/>
              </a:ext>
            </a:extLst>
          </p:cNvPr>
          <p:cNvSpPr/>
          <p:nvPr/>
        </p:nvSpPr>
        <p:spPr>
          <a:xfrm>
            <a:off x="6412103" y="6560535"/>
            <a:ext cx="1716405" cy="628015"/>
          </a:xfrm>
          <a:custGeom>
            <a:avLst/>
            <a:gdLst/>
            <a:ahLst/>
            <a:cxnLst/>
            <a:rect l="l" t="t" r="r" b="b"/>
            <a:pathLst>
              <a:path w="1716404" h="628014">
                <a:moveTo>
                  <a:pt x="31750" y="551307"/>
                </a:moveTo>
                <a:lnTo>
                  <a:pt x="0" y="551307"/>
                </a:lnTo>
                <a:lnTo>
                  <a:pt x="38100" y="627507"/>
                </a:lnTo>
                <a:lnTo>
                  <a:pt x="66675" y="570357"/>
                </a:lnTo>
                <a:lnTo>
                  <a:pt x="34544" y="570357"/>
                </a:lnTo>
                <a:lnTo>
                  <a:pt x="31750" y="567435"/>
                </a:lnTo>
                <a:lnTo>
                  <a:pt x="31750" y="551307"/>
                </a:lnTo>
                <a:close/>
              </a:path>
              <a:path w="1716404" h="628014">
                <a:moveTo>
                  <a:pt x="1671574" y="307339"/>
                </a:moveTo>
                <a:lnTo>
                  <a:pt x="34544" y="307339"/>
                </a:lnTo>
                <a:lnTo>
                  <a:pt x="31750" y="310133"/>
                </a:lnTo>
                <a:lnTo>
                  <a:pt x="31750" y="567435"/>
                </a:lnTo>
                <a:lnTo>
                  <a:pt x="34544" y="570357"/>
                </a:lnTo>
                <a:lnTo>
                  <a:pt x="41529" y="570357"/>
                </a:lnTo>
                <a:lnTo>
                  <a:pt x="44450" y="567435"/>
                </a:lnTo>
                <a:lnTo>
                  <a:pt x="44450" y="320039"/>
                </a:lnTo>
                <a:lnTo>
                  <a:pt x="38100" y="320039"/>
                </a:lnTo>
                <a:lnTo>
                  <a:pt x="44450" y="313689"/>
                </a:lnTo>
                <a:lnTo>
                  <a:pt x="1671574" y="313689"/>
                </a:lnTo>
                <a:lnTo>
                  <a:pt x="1671574" y="307339"/>
                </a:lnTo>
                <a:close/>
              </a:path>
              <a:path w="1716404" h="628014">
                <a:moveTo>
                  <a:pt x="76200" y="551307"/>
                </a:moveTo>
                <a:lnTo>
                  <a:pt x="44450" y="551307"/>
                </a:lnTo>
                <a:lnTo>
                  <a:pt x="44450" y="567435"/>
                </a:lnTo>
                <a:lnTo>
                  <a:pt x="41529" y="570357"/>
                </a:lnTo>
                <a:lnTo>
                  <a:pt x="66675" y="570357"/>
                </a:lnTo>
                <a:lnTo>
                  <a:pt x="76200" y="551307"/>
                </a:lnTo>
                <a:close/>
              </a:path>
              <a:path w="1716404" h="628014">
                <a:moveTo>
                  <a:pt x="44450" y="313689"/>
                </a:moveTo>
                <a:lnTo>
                  <a:pt x="38100" y="320039"/>
                </a:lnTo>
                <a:lnTo>
                  <a:pt x="44450" y="320039"/>
                </a:lnTo>
                <a:lnTo>
                  <a:pt x="44450" y="313689"/>
                </a:lnTo>
                <a:close/>
              </a:path>
              <a:path w="1716404" h="628014">
                <a:moveTo>
                  <a:pt x="1684274" y="307339"/>
                </a:moveTo>
                <a:lnTo>
                  <a:pt x="1677924" y="307339"/>
                </a:lnTo>
                <a:lnTo>
                  <a:pt x="1671574" y="313689"/>
                </a:lnTo>
                <a:lnTo>
                  <a:pt x="44450" y="313689"/>
                </a:lnTo>
                <a:lnTo>
                  <a:pt x="44450" y="320039"/>
                </a:lnTo>
                <a:lnTo>
                  <a:pt x="1681480" y="320039"/>
                </a:lnTo>
                <a:lnTo>
                  <a:pt x="1684274" y="317245"/>
                </a:lnTo>
                <a:lnTo>
                  <a:pt x="1684274" y="307339"/>
                </a:lnTo>
                <a:close/>
              </a:path>
              <a:path w="1716404" h="628014">
                <a:moveTo>
                  <a:pt x="1681480" y="57150"/>
                </a:moveTo>
                <a:lnTo>
                  <a:pt x="1674495" y="57150"/>
                </a:lnTo>
                <a:lnTo>
                  <a:pt x="1671574" y="59943"/>
                </a:lnTo>
                <a:lnTo>
                  <a:pt x="1671574" y="313689"/>
                </a:lnTo>
                <a:lnTo>
                  <a:pt x="1677924" y="307339"/>
                </a:lnTo>
                <a:lnTo>
                  <a:pt x="1684274" y="307339"/>
                </a:lnTo>
                <a:lnTo>
                  <a:pt x="1684274" y="59943"/>
                </a:lnTo>
                <a:lnTo>
                  <a:pt x="1681480" y="57150"/>
                </a:lnTo>
                <a:close/>
              </a:path>
              <a:path w="1716404" h="628014">
                <a:moveTo>
                  <a:pt x="1677924" y="0"/>
                </a:moveTo>
                <a:lnTo>
                  <a:pt x="1639824" y="76200"/>
                </a:lnTo>
                <a:lnTo>
                  <a:pt x="1671574" y="76200"/>
                </a:lnTo>
                <a:lnTo>
                  <a:pt x="1671574" y="59943"/>
                </a:lnTo>
                <a:lnTo>
                  <a:pt x="1674495" y="57150"/>
                </a:lnTo>
                <a:lnTo>
                  <a:pt x="1706499" y="57150"/>
                </a:lnTo>
                <a:lnTo>
                  <a:pt x="1677924" y="0"/>
                </a:lnTo>
                <a:close/>
              </a:path>
              <a:path w="1716404" h="628014">
                <a:moveTo>
                  <a:pt x="1706499" y="57150"/>
                </a:moveTo>
                <a:lnTo>
                  <a:pt x="1681480" y="57150"/>
                </a:lnTo>
                <a:lnTo>
                  <a:pt x="1684274" y="59943"/>
                </a:lnTo>
                <a:lnTo>
                  <a:pt x="1684274" y="76200"/>
                </a:lnTo>
                <a:lnTo>
                  <a:pt x="1716024" y="76200"/>
                </a:lnTo>
                <a:lnTo>
                  <a:pt x="1706499" y="571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9475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1FCD1E-1350-6E04-6581-BFC4A9786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8259B81-E67D-A9D8-8CF4-CE567B79A736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15403886-845F-9A34-3010-4965FAF0944D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985042-620F-B40A-08B6-DB2CABD01B27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 err="1">
                <a:solidFill>
                  <a:srgbClr val="FFFFFF"/>
                </a:solidFill>
                <a:latin typeface="Public Sans Bold"/>
                <a:sym typeface="Public Sans Bold"/>
              </a:rPr>
              <a:t>S7</a:t>
            </a: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 – 1200 Board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CF226ECA-BEF5-97EB-0949-7F8435E1F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E67DBCAE-99B4-45DC-9DE8-FDFC9CD59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10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5F34AC28-2DF4-E637-4444-51D3EEE900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926DBB-50A1-D817-C759-FCCAA8F829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6200" y="1652100"/>
            <a:ext cx="11049000" cy="7918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7575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C44FE9-31EC-BAF8-EC35-B93D54B06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4E69869-ADA7-F4FF-7E42-83D7517BFB48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DC5B816-9B52-A698-DCE5-8F2976541989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0F04904-540C-A20C-F168-9F6943828BA7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 err="1">
                <a:solidFill>
                  <a:srgbClr val="FFFFFF"/>
                </a:solidFill>
                <a:latin typeface="Public Sans Bold"/>
                <a:sym typeface="Public Sans Bold"/>
              </a:rPr>
              <a:t>S7</a:t>
            </a: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 – 1200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72B3A686-AF5A-77EB-4E74-AFB543AB4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A776B90-D5B5-5623-7024-613512583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11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BE03E4DF-BAFF-7ED0-43FB-F03B1CC92E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250D35-EC67-B83B-6B69-1870A4431D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4200" y="2781300"/>
            <a:ext cx="12954000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0411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E2B975-1C0A-CB2F-9916-AC4A831DB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ADCD70F-FCFB-9CF6-DBC4-15C42D857CFB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8A4DFC5-38E9-1218-A7AE-C8CE93347EC2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46B5ADA-4F4D-9C35-80F3-FDA3C559A96C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Bootup Process - Comparison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43B0A997-C4B0-28BE-EA2C-BD15FD548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2104BD7E-320C-E062-5139-268CFB373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12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C0273DD-5B00-F1FB-0870-027A08F373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501AB9-44EB-4DCF-1F72-0FADD01B2F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5400" y="2628900"/>
            <a:ext cx="15544800" cy="571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1956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2A6D9B-073A-C29D-AE18-A9A49C5DE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B0328E7-63B9-ED61-38FC-5DBB1B5D5E33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3D940C5-492F-0862-B68F-6AC62F799BD2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35F02FB-8390-5607-B5F9-45B5D5E74EC5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How Processor Starts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7621CCDA-CE5B-032D-34A7-707B82459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9BF606EF-3870-4AEA-941A-D4A4BD3E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13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9296B8D3-A9B8-F092-2BB0-4BCC4BCF866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B97513-2D76-8166-9286-D11AAA1ADF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3800" y="2919102"/>
            <a:ext cx="9524999" cy="527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9805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383A3A-A7D1-9FA8-D1C6-90B1E90AAE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0D1D7DF-947F-19A9-C798-75CE4AF60F01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1C7F9A1-E9F9-685D-5517-8870D99B7B7C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F7DB96E-A847-BD40-0CD7-42604C98BA86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PLC Operating Cycle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A34AE3B-08ED-E783-1114-35F6A6133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FCAB6695-4AA3-B6D2-DAB9-56F3036EB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14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1047CE35-06D1-371C-FFD8-EBB416B307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A64744-B0DB-69B3-2587-87ADA5F2F3E1}"/>
              </a:ext>
            </a:extLst>
          </p:cNvPr>
          <p:cNvSpPr txBox="1"/>
          <p:nvPr/>
        </p:nvSpPr>
        <p:spPr>
          <a:xfrm>
            <a:off x="1447800" y="1638300"/>
            <a:ext cx="15981200" cy="7604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Four Steps in the PLC Operations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Input Scan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	Scan the state of the Inputs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Program Scan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	Processes the program logic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Output Scan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	Energize/de-energize the outputs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Housekeeping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	This step includes communications, Internal Diagnostics, etc.</a:t>
            </a:r>
          </a:p>
          <a:p>
            <a:pPr marL="0" lvl="1">
              <a:lnSpc>
                <a:spcPts val="5880"/>
              </a:lnSpc>
            </a:pPr>
            <a:r>
              <a:rPr lang="en-US" altLang="en-US" sz="4000" dirty="0">
                <a:solidFill>
                  <a:schemeClr val="bg1"/>
                </a:solidFill>
              </a:rPr>
              <a:t> 	The steps are continually repeated - processed in a loop.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FDFF647-8232-B760-3886-64ADA99F5FDA}"/>
              </a:ext>
            </a:extLst>
          </p:cNvPr>
          <p:cNvGrpSpPr>
            <a:grpSpLocks/>
          </p:cNvGrpSpPr>
          <p:nvPr/>
        </p:nvGrpSpPr>
        <p:grpSpPr bwMode="auto">
          <a:xfrm>
            <a:off x="12649200" y="2251399"/>
            <a:ext cx="2968625" cy="3189288"/>
            <a:chOff x="3639" y="1082"/>
            <a:chExt cx="1870" cy="1805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82B3944-1502-ED46-A144-7AF0829FB9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3" y="1536"/>
              <a:ext cx="1024" cy="1030"/>
            </a:xfrm>
            <a:prstGeom prst="ellipse">
              <a:avLst/>
            </a:prstGeom>
            <a:noFill/>
            <a:ln w="38100">
              <a:solidFill>
                <a:srgbClr val="993366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eaLnBrk="1" hangingPunct="1"/>
              <a:endParaRPr lang="en-US" altLang="en-US"/>
            </a:p>
          </p:txBody>
        </p:sp>
        <p:sp>
          <p:nvSpPr>
            <p:cNvPr id="10" name="Line 9">
              <a:extLst>
                <a:ext uri="{FF2B5EF4-FFF2-40B4-BE49-F238E27FC236}">
                  <a16:creationId xmlns:a16="http://schemas.microsoft.com/office/drawing/2014/main" id="{9D4D6904-53C8-2880-37E5-28656DD15B7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091" y="2180"/>
              <a:ext cx="76" cy="150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IN">
                <a:highlight>
                  <a:srgbClr val="FFFF00"/>
                </a:highlight>
              </a:endParaRPr>
            </a:p>
          </p:txBody>
        </p:sp>
        <p:sp>
          <p:nvSpPr>
            <p:cNvPr id="11" name="Line 10">
              <a:extLst>
                <a:ext uri="{FF2B5EF4-FFF2-40B4-BE49-F238E27FC236}">
                  <a16:creationId xmlns:a16="http://schemas.microsoft.com/office/drawing/2014/main" id="{FFE22FF2-79FB-8616-C693-C7E061AF22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9" y="1179"/>
              <a:ext cx="0" cy="454"/>
            </a:xfrm>
            <a:prstGeom prst="line">
              <a:avLst/>
            </a:prstGeom>
            <a:noFill/>
            <a:ln w="28575">
              <a:solidFill>
                <a:srgbClr val="FF99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IN"/>
            </a:p>
          </p:txBody>
        </p:sp>
        <p:sp>
          <p:nvSpPr>
            <p:cNvPr id="12" name="Text Box 11">
              <a:extLst>
                <a:ext uri="{FF2B5EF4-FFF2-40B4-BE49-F238E27FC236}">
                  <a16:creationId xmlns:a16="http://schemas.microsoft.com/office/drawing/2014/main" id="{B88E221A-73E4-5B02-EFB2-9BC29801D3F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42" y="1082"/>
              <a:ext cx="651" cy="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2000" baseline="0" dirty="0">
                  <a:solidFill>
                    <a:schemeClr val="accent2"/>
                  </a:solidFill>
                </a:rPr>
                <a:t>START</a:t>
              </a:r>
            </a:p>
          </p:txBody>
        </p:sp>
        <p:sp>
          <p:nvSpPr>
            <p:cNvPr id="13" name="Text Box 12">
              <a:extLst>
                <a:ext uri="{FF2B5EF4-FFF2-40B4-BE49-F238E27FC236}">
                  <a16:creationId xmlns:a16="http://schemas.microsoft.com/office/drawing/2014/main" id="{141C8FAB-7E42-4DFC-F887-462FD72FC1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44" y="1443"/>
              <a:ext cx="465" cy="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aseline="0" dirty="0">
                  <a:solidFill>
                    <a:srgbClr val="92D050"/>
                  </a:solidFill>
                </a:rPr>
                <a:t>Input </a:t>
              </a:r>
            </a:p>
            <a:p>
              <a:pPr algn="ctr"/>
              <a:r>
                <a:rPr lang="en-US" altLang="en-US" sz="1600" baseline="0" dirty="0">
                  <a:solidFill>
                    <a:srgbClr val="92D050"/>
                  </a:solidFill>
                </a:rPr>
                <a:t>Scan</a:t>
              </a:r>
              <a:endParaRPr lang="en-US" altLang="en-US" b="0" baseline="0" dirty="0">
                <a:solidFill>
                  <a:srgbClr val="92D050"/>
                </a:solidFill>
              </a:endParaRPr>
            </a:p>
          </p:txBody>
        </p:sp>
        <p:sp>
          <p:nvSpPr>
            <p:cNvPr id="14" name="Text Box 13">
              <a:extLst>
                <a:ext uri="{FF2B5EF4-FFF2-40B4-BE49-F238E27FC236}">
                  <a16:creationId xmlns:a16="http://schemas.microsoft.com/office/drawing/2014/main" id="{303D4D05-FDFD-24CA-82CC-5FB7C2AF84A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24" y="2558"/>
              <a:ext cx="642" cy="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aseline="0">
                  <a:solidFill>
                    <a:srgbClr val="92D050"/>
                  </a:solidFill>
                </a:rPr>
                <a:t>Program</a:t>
              </a:r>
            </a:p>
            <a:p>
              <a:pPr algn="ctr"/>
              <a:r>
                <a:rPr lang="en-US" altLang="en-US" sz="1600" baseline="0">
                  <a:solidFill>
                    <a:srgbClr val="92D050"/>
                  </a:solidFill>
                </a:rPr>
                <a:t>Scan</a:t>
              </a:r>
            </a:p>
          </p:txBody>
        </p:sp>
        <p:sp>
          <p:nvSpPr>
            <p:cNvPr id="15" name="Text Box 14">
              <a:extLst>
                <a:ext uri="{FF2B5EF4-FFF2-40B4-BE49-F238E27FC236}">
                  <a16:creationId xmlns:a16="http://schemas.microsoft.com/office/drawing/2014/main" id="{B400CBE0-EA2F-C70A-50D1-B48760458EF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9" y="1361"/>
              <a:ext cx="989" cy="1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aseline="0" dirty="0">
                  <a:solidFill>
                    <a:srgbClr val="92D050"/>
                  </a:solidFill>
                </a:rPr>
                <a:t>Housekeeping</a:t>
              </a:r>
            </a:p>
          </p:txBody>
        </p:sp>
        <p:sp>
          <p:nvSpPr>
            <p:cNvPr id="16" name="Text Box 15">
              <a:extLst>
                <a:ext uri="{FF2B5EF4-FFF2-40B4-BE49-F238E27FC236}">
                  <a16:creationId xmlns:a16="http://schemas.microsoft.com/office/drawing/2014/main" id="{E459DAC7-F3B7-FB0C-27E7-64C0ED2883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7" y="1814"/>
              <a:ext cx="536" cy="3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5146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9718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4290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886200" indent="-228600" algn="l" defTabSz="914400" rtl="0" eaLnBrk="0" fontAlgn="base" latinLnBrk="0" hangingPunct="0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aseline="0">
                  <a:solidFill>
                    <a:srgbClr val="92D050"/>
                  </a:solidFill>
                </a:rPr>
                <a:t>Output</a:t>
              </a:r>
            </a:p>
            <a:p>
              <a:pPr algn="ctr"/>
              <a:r>
                <a:rPr lang="en-US" altLang="en-US" sz="1600" baseline="0">
                  <a:solidFill>
                    <a:srgbClr val="92D050"/>
                  </a:solidFill>
                </a:rPr>
                <a:t>Scan</a:t>
              </a:r>
            </a:p>
          </p:txBody>
        </p:sp>
        <p:sp>
          <p:nvSpPr>
            <p:cNvPr id="17" name="Line 16">
              <a:extLst>
                <a:ext uri="{FF2B5EF4-FFF2-40B4-BE49-F238E27FC236}">
                  <a16:creationId xmlns:a16="http://schemas.microsoft.com/office/drawing/2014/main" id="{669BC2C3-351E-1F6B-E695-C6C706ADEC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212" y="1841"/>
              <a:ext cx="48" cy="151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IN">
                <a:highlight>
                  <a:srgbClr val="FFFF00"/>
                </a:highlight>
              </a:endParaRPr>
            </a:p>
          </p:txBody>
        </p:sp>
        <p:sp>
          <p:nvSpPr>
            <p:cNvPr id="18" name="Line 17">
              <a:extLst>
                <a:ext uri="{FF2B5EF4-FFF2-40B4-BE49-F238E27FC236}">
                  <a16:creationId xmlns:a16="http://schemas.microsoft.com/office/drawing/2014/main" id="{9AB16B03-6923-A50C-DBE8-00C8F5105C0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82" y="1589"/>
              <a:ext cx="146" cy="95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IN">
                <a:highlight>
                  <a:srgbClr val="FFFF00"/>
                </a:highlight>
              </a:endParaRPr>
            </a:p>
          </p:txBody>
        </p:sp>
        <p:sp>
          <p:nvSpPr>
            <p:cNvPr id="19" name="Line 18">
              <a:extLst>
                <a:ext uri="{FF2B5EF4-FFF2-40B4-BE49-F238E27FC236}">
                  <a16:creationId xmlns:a16="http://schemas.microsoft.com/office/drawing/2014/main" id="{EF109B75-C6C4-DA5F-90BD-BED1BB9EE8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70" y="1461"/>
              <a:ext cx="168" cy="25"/>
            </a:xfrm>
            <a:prstGeom prst="line">
              <a:avLst/>
            </a:prstGeom>
            <a:noFill/>
            <a:ln w="28575">
              <a:solidFill>
                <a:srgbClr val="0033CC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anchor="ctr">
              <a:spAutoFit/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b="1" kern="1200" baseline="-250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IN">
                <a:highlight>
                  <a:srgbClr val="FFFF00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57034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1D67BF-F385-F4F3-348B-074945BCE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42057C53-2E44-A6B6-0B0C-3297171783D9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2195ECC-3428-7EC7-5B4B-E10FB019B532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8BF8C0F-1263-7EB5-305B-1761DFDE15B0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Human Machine Interface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0F9289F5-89B4-503B-B8B6-2D1BC7309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839A58DE-241F-E1DF-13E1-A94FB9DC9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15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861EF2D5-64EA-2B56-B698-69702ED924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B84D6E9C-BC19-3DE7-46DA-828F27F3F5E2}"/>
              </a:ext>
            </a:extLst>
          </p:cNvPr>
          <p:cNvSpPr txBox="1"/>
          <p:nvPr/>
        </p:nvSpPr>
        <p:spPr>
          <a:xfrm>
            <a:off x="1835582" y="1619963"/>
            <a:ext cx="15461817" cy="95612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Face of Industrial Control System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  <a:sym typeface="Arial MT Pro"/>
              </a:rPr>
              <a:t>Connects to PLC using </a:t>
            </a:r>
            <a:r>
              <a:rPr lang="en-GB" sz="4400" dirty="0" err="1">
                <a:solidFill>
                  <a:schemeClr val="bg1"/>
                </a:solidFill>
                <a:sym typeface="Arial MT Pro"/>
              </a:rPr>
              <a:t>PROFINET</a:t>
            </a:r>
            <a:r>
              <a:rPr lang="en-GB" sz="4400" dirty="0">
                <a:solidFill>
                  <a:schemeClr val="bg1"/>
                </a:solidFill>
                <a:sym typeface="Arial MT Pro"/>
              </a:rPr>
              <a:t> (Ethernet Based Protocol)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 err="1">
                <a:solidFill>
                  <a:schemeClr val="bg1"/>
                </a:solidFill>
                <a:sym typeface="Arial MT Pro"/>
              </a:rPr>
              <a:t>RJ45</a:t>
            </a:r>
            <a:r>
              <a:rPr lang="en-GB" sz="4400" dirty="0">
                <a:solidFill>
                  <a:schemeClr val="bg1"/>
                </a:solidFill>
                <a:sym typeface="Arial MT Pro"/>
              </a:rPr>
              <a:t> Cable</a:t>
            </a: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r>
              <a:rPr lang="en-GB" sz="4400" dirty="0">
                <a:solidFill>
                  <a:schemeClr val="bg1"/>
                </a:solidFill>
              </a:rPr>
              <a:t>The HMI does not run the machine's logic; it "polls" the PLC</a:t>
            </a:r>
          </a:p>
          <a:p>
            <a:pPr marL="1028700" lvl="2" indent="-5715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bg1"/>
                </a:solidFill>
                <a:sym typeface="Arial MT Pro"/>
              </a:rPr>
              <a:t>Request: The HMI asks the PLC: "What is the current value of the Temperature sensor?"</a:t>
            </a:r>
          </a:p>
          <a:p>
            <a:pPr marL="1028700" lvl="2" indent="-5715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bg1"/>
                </a:solidFill>
                <a:sym typeface="Arial MT Pro"/>
              </a:rPr>
              <a:t>Response: The PLC sends back the value (e.g., </a:t>
            </a:r>
            <a:r>
              <a:rPr lang="en-GB" sz="3600" dirty="0" err="1">
                <a:solidFill>
                  <a:schemeClr val="bg1"/>
                </a:solidFill>
                <a:sym typeface="Arial MT Pro"/>
              </a:rPr>
              <a:t>75°C</a:t>
            </a:r>
            <a:r>
              <a:rPr lang="en-GB" sz="3600" dirty="0">
                <a:solidFill>
                  <a:schemeClr val="bg1"/>
                </a:solidFill>
                <a:sym typeface="Arial MT Pro"/>
              </a:rPr>
              <a:t>).</a:t>
            </a:r>
          </a:p>
          <a:p>
            <a:pPr marL="1028700" lvl="2" indent="-5715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bg1"/>
                </a:solidFill>
                <a:sym typeface="Arial MT Pro"/>
              </a:rPr>
              <a:t>Visualization: The HMI updates a gauge on the screen to show 75.</a:t>
            </a:r>
          </a:p>
          <a:p>
            <a:pPr marL="1028700" lvl="2" indent="-571500">
              <a:buFont typeface="Arial" panose="020B0604020202020204" pitchFamily="34" charset="0"/>
              <a:buChar char="•"/>
            </a:pPr>
            <a:r>
              <a:rPr lang="en-GB" sz="3600" dirty="0">
                <a:solidFill>
                  <a:schemeClr val="bg1"/>
                </a:solidFill>
                <a:sym typeface="Arial MT Pro"/>
              </a:rPr>
              <a:t>Command: If the operator presses a "Start" button on the HMI, it writes a 1 to a specific bit in the PLC memory, which the PLC then uses to trigger a physical motor.</a:t>
            </a:r>
          </a:p>
          <a:p>
            <a:pPr lvl="1">
              <a:lnSpc>
                <a:spcPts val="5880"/>
              </a:lnSpc>
            </a:pPr>
            <a:endParaRPr lang="en-GB" sz="4400" dirty="0">
              <a:solidFill>
                <a:schemeClr val="bg1"/>
              </a:solidFill>
              <a:sym typeface="Arial MT Pro"/>
            </a:endParaRPr>
          </a:p>
          <a:p>
            <a:pPr>
              <a:lnSpc>
                <a:spcPts val="5880"/>
              </a:lnSpc>
            </a:pPr>
            <a:endParaRPr lang="en-GB" sz="4400" dirty="0">
              <a:solidFill>
                <a:schemeClr val="bg1"/>
              </a:solidFill>
              <a:sym typeface="Arial MT Pro"/>
            </a:endParaRPr>
          </a:p>
          <a:p>
            <a:pPr marL="571500" indent="-571500">
              <a:lnSpc>
                <a:spcPts val="5880"/>
              </a:lnSpc>
              <a:buFont typeface="Arial" panose="020B0604020202020204" pitchFamily="34" charset="0"/>
              <a:buChar char="•"/>
            </a:pPr>
            <a:endParaRPr lang="en-US" sz="4200" dirty="0">
              <a:solidFill>
                <a:schemeClr val="bg1"/>
              </a:solidFill>
              <a:latin typeface="Arial MT Pro"/>
              <a:sym typeface="Arial MT Pro"/>
            </a:endParaRPr>
          </a:p>
          <a:p>
            <a:pPr marL="342900" indent="-342900" algn="l">
              <a:lnSpc>
                <a:spcPts val="3155"/>
              </a:lnSpc>
              <a:buFont typeface="Arial" panose="020B0604020202020204" pitchFamily="34" charset="0"/>
              <a:buChar char="•"/>
            </a:pPr>
            <a:endParaRPr lang="en-US" sz="2253" dirty="0">
              <a:solidFill>
                <a:schemeClr val="bg1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</p:spTree>
    <p:extLst>
      <p:ext uri="{BB962C8B-B14F-4D97-AF65-F5344CB8AC3E}">
        <p14:creationId xmlns:p14="http://schemas.microsoft.com/office/powerpoint/2010/main" val="38399080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94FCB6-4794-C4CC-11B7-6B67DF19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E0E39A9-90E4-348E-9FD6-EF7157C9457F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64D23A0-BE53-7525-8B03-21205EF2628E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5FC5069-D0A8-B24B-BB6D-B1731D504D82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Siemens HMI - OS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5D7A8477-6313-B8A3-BD03-CA603C2E3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26540F56-C55B-C9FA-ACDE-E54E692B0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16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98ABA756-CC4F-DE22-3D95-F02F9D82C4C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AF9837-3B2E-A4C4-155A-ADF3D35022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5200" y="2628900"/>
            <a:ext cx="11887199" cy="464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9687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9BFE16-1D9C-85AB-0F30-60AF3C600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201A604-D344-4A1E-51A3-ED9B2EF3A793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D1102BCA-2302-85B7-AEA2-5F7966069986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7BB7B06-56B0-8253-1576-BB5114148A50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  <a:sym typeface="Public Sans Bold"/>
              </a:rPr>
              <a:t>Communication Protocols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B803BB8-B8C6-915D-8640-FBEF8D79A3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2E44AB8A-642D-2385-5BB5-8B662B4D5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17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8401A9EB-AA3C-2475-01C2-73AFB8BC9F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9D2A23-26C7-5A3D-81B8-5BAFA1D0F0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3600" y="2379065"/>
            <a:ext cx="12679544" cy="5239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9001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1FFEA5-D54B-45AB-0EF4-183CDD5A9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EEC1493-89F0-D98F-EFA8-13FCF738D067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665FB75-C73E-3B99-334E-79160D22F9BB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96A1C5B-08AF-3626-B400-8D1934CBEE92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PLC BRANDS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19" name="TextBox 7">
            <a:extLst>
              <a:ext uri="{FF2B5EF4-FFF2-40B4-BE49-F238E27FC236}">
                <a16:creationId xmlns:a16="http://schemas.microsoft.com/office/drawing/2014/main" id="{FEC6D8E3-4514-5CBC-E9DA-04FE2ECA817A}"/>
              </a:ext>
            </a:extLst>
          </p:cNvPr>
          <p:cNvSpPr txBox="1"/>
          <p:nvPr/>
        </p:nvSpPr>
        <p:spPr>
          <a:xfrm>
            <a:off x="1828800" y="1932780"/>
            <a:ext cx="15461817" cy="65604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Panasonic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Allen Bradley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Delta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Omron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Siemens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Keyence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Schnieder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400" dirty="0">
                <a:solidFill>
                  <a:schemeClr val="bg1"/>
                </a:solidFill>
              </a:rPr>
              <a:t>Mitsubishi</a:t>
            </a:r>
            <a:endParaRPr lang="en-GB" sz="4400" dirty="0">
              <a:solidFill>
                <a:schemeClr val="bg1"/>
              </a:solidFill>
              <a:sym typeface="Arial MT Pro"/>
            </a:endParaRPr>
          </a:p>
          <a:p>
            <a:pPr marL="742950" indent="-742950">
              <a:lnSpc>
                <a:spcPts val="5880"/>
              </a:lnSpc>
              <a:buFont typeface="+mj-lt"/>
              <a:buAutoNum type="arabicPeriod"/>
            </a:pPr>
            <a:endParaRPr lang="en-US" sz="4200" dirty="0">
              <a:solidFill>
                <a:schemeClr val="bg1"/>
              </a:solidFill>
              <a:latin typeface="Arial MT Pro"/>
              <a:sym typeface="Arial MT Pro"/>
            </a:endParaRPr>
          </a:p>
          <a:p>
            <a:pPr marL="342900" indent="-342900" algn="l">
              <a:lnSpc>
                <a:spcPts val="3155"/>
              </a:lnSpc>
              <a:buFont typeface="Arial" panose="020B0604020202020204" pitchFamily="34" charset="0"/>
              <a:buChar char="•"/>
            </a:pPr>
            <a:endParaRPr lang="en-US" sz="2253" dirty="0">
              <a:solidFill>
                <a:schemeClr val="bg1"/>
              </a:solidFill>
              <a:latin typeface="Arial MT Pro"/>
              <a:ea typeface="Arial MT Pro"/>
              <a:cs typeface="Arial MT Pro"/>
              <a:sym typeface="Arial MT Pro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C03B4B3A-3811-DC88-DEFD-AE0E3E083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6A24F80B-A4A0-93E8-C980-FB413C1E7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18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A07C0D06-834F-06F0-DDB4-80209ECBDF1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34178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D70DAF-A6EC-8F4F-15DC-A0AF88AF5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2180231-2769-815E-9394-794FFC295031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B68CB8DB-184A-404B-2C32-1E09F87184BE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EF92D06-1877-28C0-9925-AE9A3E2B54BF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PLC: INDIA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DD8DD2B6-D355-E486-30F9-86EC28F76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8A45EA95-F311-F6FB-365D-FA8C52E16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19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B7DA8A7B-3AAB-65A0-EF51-0D62601E14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6669CB-43EF-C6D7-4B9F-BE431C1FC3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9800" y="2379064"/>
            <a:ext cx="14477999" cy="512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10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908DA7-B594-97A2-3121-E9539E9BF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D6951C6-83C1-CA98-B05C-CB2BD9AA0F71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64168DE0-A020-611A-80C5-E6C2539E017C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2291AF5-095A-0EE9-FAA8-547837C251AC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PLC: INDIA PRESENCE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2C997C6E-C99E-0852-2DD8-37E3C56C7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8B925760-5A29-B625-0082-710349B0D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20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0DF17A65-D8E1-2DAE-CE23-592FD976EB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B80566-D48A-590D-7B17-8ABF3D51D6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7199" y="2900049"/>
            <a:ext cx="15413601" cy="448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8151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A9D538-1AC3-60FD-531B-B83E4C14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57CF0E8-B2FD-3E50-DB3B-DEB9D749BD27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E6B5E0-3E20-DE46-6544-7E6FE567741D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EB57C28-E313-C661-DA56-B8BAA7CE84DE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PLC: INDIA PRESENCE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0A12E8D0-C9FF-B48C-296F-ACA549371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FBA776AE-DB5A-39F6-FF8B-994F34424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21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93C8742C-9304-D950-FFEE-ED81F1FB3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9FDD6EB-6BD1-A42A-7476-51E01A3D3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2379065"/>
            <a:ext cx="15118285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7544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E13E47-67F3-A466-B1B3-D6557D99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464FA78-187C-8B28-332B-1803721154C4}"/>
              </a:ext>
            </a:extLst>
          </p:cNvPr>
          <p:cNvSpPr/>
          <p:nvPr/>
        </p:nvSpPr>
        <p:spPr>
          <a:xfrm flipV="1">
            <a:off x="0" y="773440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0507FE1-29CD-5CC7-18D7-2D20999D5006}"/>
              </a:ext>
            </a:extLst>
          </p:cNvPr>
          <p:cNvSpPr/>
          <p:nvPr/>
        </p:nvSpPr>
        <p:spPr>
          <a:xfrm flipV="1">
            <a:off x="-1" y="-1"/>
            <a:ext cx="5637425" cy="1301377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B8CF1AC-3382-C02E-CB9F-61299C11226B}"/>
              </a:ext>
            </a:extLst>
          </p:cNvPr>
          <p:cNvSpPr txBox="1"/>
          <p:nvPr/>
        </p:nvSpPr>
        <p:spPr>
          <a:xfrm>
            <a:off x="0" y="231761"/>
            <a:ext cx="18288000" cy="14065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92"/>
              </a:lnSpc>
            </a:pPr>
            <a:r>
              <a:rPr lang="en-GB" sz="8565" b="1" dirty="0">
                <a:solidFill>
                  <a:srgbClr val="FFFFFF"/>
                </a:solidFill>
                <a:latin typeface="Public Sans Bold"/>
              </a:rPr>
              <a:t>PLC: NOT IN INDIA</a:t>
            </a:r>
            <a:endParaRPr lang="en-US" sz="8565" b="1" dirty="0">
              <a:solidFill>
                <a:srgbClr val="FFFFFF"/>
              </a:solidFill>
              <a:latin typeface="Public Sans Bold"/>
              <a:sym typeface="Public Sans Bold"/>
            </a:endParaRPr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B1C48411-EBD7-2CDE-2DA0-E204BBCEFA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8598" y="9570615"/>
            <a:ext cx="2895600" cy="365125"/>
          </a:xfrm>
        </p:spPr>
        <p:txBody>
          <a:bodyPr anchor="b"/>
          <a:lstStyle/>
          <a:p>
            <a:r>
              <a:rPr lang="en-US" sz="1800" dirty="0"/>
              <a:t>PLC, HMI &amp; SCADA</a:t>
            </a:r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86C472DE-5711-6E19-BBC8-A15B2ED92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95400" y="9570615"/>
            <a:ext cx="2133600" cy="365125"/>
          </a:xfrm>
        </p:spPr>
        <p:txBody>
          <a:bodyPr anchor="b"/>
          <a:lstStyle/>
          <a:p>
            <a:fld id="{B6F15528-21DE-4FAA-801E-634DDDAF4B2B}" type="slidenum">
              <a:rPr lang="en-US" sz="1800" smtClean="0"/>
              <a:pPr/>
              <a:t>22</a:t>
            </a:fld>
            <a:endParaRPr lang="en-US" sz="1800"/>
          </a:p>
        </p:txBody>
      </p:sp>
      <p:sp>
        <p:nvSpPr>
          <p:cNvPr id="25" name="Date Placeholder 24">
            <a:extLst>
              <a:ext uri="{FF2B5EF4-FFF2-40B4-BE49-F238E27FC236}">
                <a16:creationId xmlns:a16="http://schemas.microsoft.com/office/drawing/2014/main" id="{DC049829-2F8A-55C6-71DB-403E6CBE1D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57200" y="9570615"/>
            <a:ext cx="2133600" cy="365125"/>
          </a:xfrm>
        </p:spPr>
        <p:txBody>
          <a:bodyPr anchor="b"/>
          <a:lstStyle/>
          <a:p>
            <a:fld id="{3EAAE9EC-049B-44A6-9225-C210D559419C}" type="datetime1">
              <a:rPr lang="en-US" sz="1800" smtClean="0"/>
              <a:t>3/13/2026</a:t>
            </a:fld>
            <a:endParaRPr lang="en-US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49B789-5A4A-F8BC-AC59-F71FDFFF3AC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7199" y="2900049"/>
            <a:ext cx="15413601" cy="44869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C186D6-7E08-4632-BAFE-1E815C75DF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6120" y="2076022"/>
            <a:ext cx="16375760" cy="613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652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37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V="1">
            <a:off x="-2" y="773440"/>
            <a:ext cx="2400103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3" name="Freeform 3"/>
          <p:cNvSpPr/>
          <p:nvPr/>
        </p:nvSpPr>
        <p:spPr>
          <a:xfrm flipH="1">
            <a:off x="15887898" y="7907934"/>
            <a:ext cx="2400102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5961182" y="0"/>
                </a:moveTo>
                <a:lnTo>
                  <a:pt x="0" y="0"/>
                </a:lnTo>
                <a:lnTo>
                  <a:pt x="0" y="1605625"/>
                </a:lnTo>
                <a:lnTo>
                  <a:pt x="5961182" y="1605625"/>
                </a:lnTo>
                <a:lnTo>
                  <a:pt x="596118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4" name="Freeform 4"/>
          <p:cNvSpPr/>
          <p:nvPr/>
        </p:nvSpPr>
        <p:spPr>
          <a:xfrm flipV="1">
            <a:off x="-1" y="-304248"/>
            <a:ext cx="5637425" cy="1605625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1605625"/>
                </a:moveTo>
                <a:lnTo>
                  <a:pt x="5961182" y="1605625"/>
                </a:lnTo>
                <a:lnTo>
                  <a:pt x="5961182" y="0"/>
                </a:lnTo>
                <a:lnTo>
                  <a:pt x="0" y="0"/>
                </a:lnTo>
                <a:lnTo>
                  <a:pt x="0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5" name="Freeform 5"/>
          <p:cNvSpPr/>
          <p:nvPr/>
        </p:nvSpPr>
        <p:spPr>
          <a:xfrm flipH="1">
            <a:off x="12650574" y="8985623"/>
            <a:ext cx="5637425" cy="1301378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5961182" y="0"/>
                </a:moveTo>
                <a:lnTo>
                  <a:pt x="0" y="0"/>
                </a:lnTo>
                <a:lnTo>
                  <a:pt x="0" y="1605625"/>
                </a:lnTo>
                <a:lnTo>
                  <a:pt x="5961182" y="1605625"/>
                </a:lnTo>
                <a:lnTo>
                  <a:pt x="5961182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6"/>
          <p:cNvSpPr txBox="1"/>
          <p:nvPr/>
        </p:nvSpPr>
        <p:spPr>
          <a:xfrm>
            <a:off x="2920469" y="3594568"/>
            <a:ext cx="12447062" cy="1991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239"/>
              </a:lnSpc>
            </a:pPr>
            <a:r>
              <a:rPr lang="en-US" sz="11599" b="1">
                <a:solidFill>
                  <a:srgbClr val="FFFFFF"/>
                </a:solidFill>
                <a:latin typeface="Public Sans Bold"/>
                <a:ea typeface="Public Sans Bold"/>
                <a:cs typeface="Public Sans Bold"/>
                <a:sym typeface="Public Sans Bold"/>
              </a:rPr>
              <a:t>THANK YOU</a:t>
            </a:r>
          </a:p>
        </p:txBody>
      </p:sp>
      <p:sp>
        <p:nvSpPr>
          <p:cNvPr id="8" name="Freeform 8"/>
          <p:cNvSpPr/>
          <p:nvPr/>
        </p:nvSpPr>
        <p:spPr>
          <a:xfrm>
            <a:off x="-1" y="8980601"/>
            <a:ext cx="4207853" cy="1192099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0" y="0"/>
                </a:moveTo>
                <a:lnTo>
                  <a:pt x="5961182" y="0"/>
                </a:lnTo>
                <a:lnTo>
                  <a:pt x="5961182" y="1605625"/>
                </a:lnTo>
                <a:lnTo>
                  <a:pt x="0" y="16056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9" name="Freeform 9"/>
          <p:cNvSpPr/>
          <p:nvPr/>
        </p:nvSpPr>
        <p:spPr>
          <a:xfrm flipH="1" flipV="1">
            <a:off x="14080146" y="-1"/>
            <a:ext cx="4207853" cy="1306398"/>
          </a:xfrm>
          <a:custGeom>
            <a:avLst/>
            <a:gdLst/>
            <a:ahLst/>
            <a:cxnLst/>
            <a:rect l="l" t="t" r="r" b="b"/>
            <a:pathLst>
              <a:path w="5961182" h="1605625">
                <a:moveTo>
                  <a:pt x="5961182" y="1605625"/>
                </a:moveTo>
                <a:lnTo>
                  <a:pt x="0" y="1605625"/>
                </a:lnTo>
                <a:lnTo>
                  <a:pt x="0" y="0"/>
                </a:lnTo>
                <a:lnTo>
                  <a:pt x="5961182" y="0"/>
                </a:lnTo>
                <a:lnTo>
                  <a:pt x="5961182" y="1605625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466</TotalTime>
  <Words>722</Words>
  <Application>Microsoft Office PowerPoint</Application>
  <PresentationFormat>Custom</PresentationFormat>
  <Paragraphs>168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 MT Pro</vt:lpstr>
      <vt:lpstr>Aptos</vt:lpstr>
      <vt:lpstr>Public Sans Bold</vt:lpstr>
      <vt:lpstr>Arial</vt:lpstr>
      <vt:lpstr>Calibri</vt:lpstr>
      <vt:lpstr>Times New Roman</vt:lpstr>
      <vt:lpstr>Corbel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Babu Chandranna Dev</cp:lastModifiedBy>
  <cp:revision>128</cp:revision>
  <dcterms:created xsi:type="dcterms:W3CDTF">2006-08-16T00:00:00Z</dcterms:created>
  <dcterms:modified xsi:type="dcterms:W3CDTF">2026-03-13T09:33:58Z</dcterms:modified>
  <dc:identifier>DAHDt44sOHw</dc:identifier>
</cp:coreProperties>
</file>
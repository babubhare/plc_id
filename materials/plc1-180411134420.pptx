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90" r:id="rId2"/>
    <p:sldId id="257" r:id="rId3"/>
    <p:sldId id="258" r:id="rId4"/>
    <p:sldId id="259" r:id="rId5"/>
    <p:sldId id="260" r:id="rId6"/>
    <p:sldId id="293" r:id="rId7"/>
    <p:sldId id="262" r:id="rId8"/>
    <p:sldId id="296" r:id="rId9"/>
    <p:sldId id="263" r:id="rId10"/>
    <p:sldId id="268" r:id="rId11"/>
    <p:sldId id="271" r:id="rId12"/>
    <p:sldId id="294" r:id="rId13"/>
    <p:sldId id="261" r:id="rId14"/>
    <p:sldId id="279" r:id="rId15"/>
    <p:sldId id="280" r:id="rId16"/>
    <p:sldId id="282" r:id="rId17"/>
    <p:sldId id="283" r:id="rId18"/>
    <p:sldId id="300" r:id="rId19"/>
    <p:sldId id="298" r:id="rId20"/>
    <p:sldId id="299" r:id="rId21"/>
    <p:sldId id="289" r:id="rId22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5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6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5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4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4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2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8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8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7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9904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60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2849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78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32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99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77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B01F-E7CF-4579-B1E0-F048EB74E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3276600"/>
          </a:xfrm>
        </p:spPr>
        <p:txBody>
          <a:bodyPr>
            <a:noAutofit/>
          </a:bodyPr>
          <a:lstStyle/>
          <a:p>
            <a:r>
              <a:rPr lang="en-US" sz="7200" dirty="0"/>
              <a:t>             PLC </a:t>
            </a:r>
            <a:br>
              <a:rPr lang="en-US" sz="7200" dirty="0"/>
            </a:br>
            <a:r>
              <a:rPr lang="en-US" sz="7200" dirty="0"/>
              <a:t>              &amp;</a:t>
            </a:r>
            <a:br>
              <a:rPr lang="en-US" sz="7200" dirty="0"/>
            </a:br>
            <a:r>
              <a:rPr lang="en-US" sz="7200" dirty="0"/>
              <a:t>           SCADA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2B90D-2A68-4155-B21C-E3B788753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720562"/>
            <a:ext cx="8596668" cy="132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                                                                                    RATNESH VERMA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                                                                                       1509720042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                                                                                       EE(3</a:t>
            </a:r>
            <a:r>
              <a:rPr lang="en-US" sz="2000" b="1" baseline="30000" dirty="0">
                <a:solidFill>
                  <a:srgbClr val="0070C0"/>
                </a:solidFill>
              </a:rPr>
              <a:t>rd</a:t>
            </a:r>
            <a:r>
              <a:rPr lang="en-US" sz="2000" b="1" dirty="0">
                <a:solidFill>
                  <a:srgbClr val="0070C0"/>
                </a:solidFill>
              </a:rPr>
              <a:t> Year)</a:t>
            </a:r>
          </a:p>
        </p:txBody>
      </p:sp>
    </p:spTree>
    <p:extLst>
      <p:ext uri="{BB962C8B-B14F-4D97-AF65-F5344CB8AC3E}">
        <p14:creationId xmlns:p14="http://schemas.microsoft.com/office/powerpoint/2010/main" val="109042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2F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0C5A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128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747896" y="624077"/>
            <a:ext cx="54895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5" dirty="0">
                <a:latin typeface="Corbel"/>
                <a:cs typeface="Corbel"/>
              </a:rPr>
              <a:t>What </a:t>
            </a:r>
            <a:r>
              <a:rPr u="heavy" dirty="0">
                <a:latin typeface="Corbel"/>
                <a:cs typeface="Corbel"/>
              </a:rPr>
              <a:t>is</a:t>
            </a:r>
            <a:r>
              <a:rPr u="heavy" spc="-270" dirty="0">
                <a:latin typeface="Corbel"/>
                <a:cs typeface="Corbel"/>
              </a:rPr>
              <a:t> </a:t>
            </a:r>
            <a:r>
              <a:rPr u="heavy" spc="-40" dirty="0">
                <a:latin typeface="Corbel"/>
                <a:cs typeface="Corbel"/>
              </a:rPr>
              <a:t>AUTOMATION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63116" y="2084019"/>
            <a:ext cx="9816465" cy="3763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Making products under the control of computers</a:t>
            </a:r>
            <a:r>
              <a:rPr sz="2800" spc="40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and</a:t>
            </a:r>
            <a:endParaRPr sz="2800">
              <a:latin typeface="Corbel"/>
              <a:cs typeface="Corbel"/>
            </a:endParaRPr>
          </a:p>
          <a:p>
            <a:pPr marL="299085">
              <a:lnSpc>
                <a:spcPct val="100000"/>
              </a:lnSpc>
            </a:pPr>
            <a:r>
              <a:rPr sz="2800" spc="-5" dirty="0">
                <a:latin typeface="Corbel"/>
                <a:cs typeface="Corbel"/>
              </a:rPr>
              <a:t>programmable controllers is known as</a:t>
            </a:r>
            <a:r>
              <a:rPr sz="2800" spc="75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automation.</a:t>
            </a:r>
            <a:endParaRPr sz="28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75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Manufacturing assembly lines as well as </a:t>
            </a:r>
            <a:r>
              <a:rPr sz="2800" spc="-10" dirty="0">
                <a:latin typeface="Corbel"/>
                <a:cs typeface="Corbel"/>
              </a:rPr>
              <a:t>stand </a:t>
            </a:r>
            <a:r>
              <a:rPr sz="2800" spc="-5" dirty="0">
                <a:latin typeface="Corbel"/>
                <a:cs typeface="Corbel"/>
              </a:rPr>
              <a:t>alone</a:t>
            </a:r>
            <a:r>
              <a:rPr sz="2800" spc="165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machine</a:t>
            </a:r>
            <a:endParaRPr sz="2800">
              <a:latin typeface="Corbel"/>
              <a:cs typeface="Corbel"/>
            </a:endParaRPr>
          </a:p>
          <a:p>
            <a:pPr marL="299085">
              <a:lnSpc>
                <a:spcPct val="100000"/>
              </a:lnSpc>
            </a:pPr>
            <a:r>
              <a:rPr sz="2800" spc="-5" dirty="0">
                <a:latin typeface="Corbel"/>
                <a:cs typeface="Corbel"/>
              </a:rPr>
              <a:t>tools and robotic devices fall into this</a:t>
            </a:r>
            <a:r>
              <a:rPr sz="2800" spc="35" dirty="0">
                <a:latin typeface="Corbel"/>
                <a:cs typeface="Corbel"/>
              </a:rPr>
              <a:t> </a:t>
            </a:r>
            <a:r>
              <a:rPr sz="2800" spc="-20" dirty="0">
                <a:latin typeface="Corbel"/>
                <a:cs typeface="Corbel"/>
              </a:rPr>
              <a:t>category.</a:t>
            </a:r>
            <a:endParaRPr sz="2800">
              <a:latin typeface="Corbel"/>
              <a:cs typeface="Corbel"/>
            </a:endParaRPr>
          </a:p>
          <a:p>
            <a:pPr marL="299085" marR="5080" indent="-286385">
              <a:lnSpc>
                <a:spcPct val="100000"/>
              </a:lnSpc>
              <a:spcBef>
                <a:spcPts val="127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It is delegation of human control functions to technical  equipment for increasing </a:t>
            </a:r>
            <a:r>
              <a:rPr sz="2800" spc="-10" dirty="0">
                <a:latin typeface="Corbel"/>
                <a:cs typeface="Corbel"/>
              </a:rPr>
              <a:t>the productivity, </a:t>
            </a:r>
            <a:r>
              <a:rPr sz="2800" spc="-15" dirty="0">
                <a:latin typeface="Corbel"/>
                <a:cs typeface="Corbel"/>
              </a:rPr>
              <a:t>quality, </a:t>
            </a:r>
            <a:r>
              <a:rPr sz="2800" spc="-5" dirty="0">
                <a:latin typeface="Corbel"/>
                <a:cs typeface="Corbel"/>
              </a:rPr>
              <a:t>and increasing  the safety in working conditions </a:t>
            </a:r>
            <a:r>
              <a:rPr sz="2800" spc="-10" dirty="0">
                <a:latin typeface="Corbel"/>
                <a:cs typeface="Corbel"/>
              </a:rPr>
              <a:t>thereby </a:t>
            </a:r>
            <a:r>
              <a:rPr sz="2800" spc="-5" dirty="0">
                <a:latin typeface="Corbel"/>
                <a:cs typeface="Corbel"/>
              </a:rPr>
              <a:t>reducing the manpower  and </a:t>
            </a:r>
            <a:r>
              <a:rPr sz="2800" spc="-10" dirty="0">
                <a:latin typeface="Corbel"/>
                <a:cs typeface="Corbel"/>
              </a:rPr>
              <a:t>cost.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2F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0C5A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128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06395" y="666115"/>
            <a:ext cx="6767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dirty="0">
                <a:latin typeface="Corbel"/>
                <a:cs typeface="Corbel"/>
              </a:rPr>
              <a:t>INSUSTRIAL</a:t>
            </a:r>
            <a:r>
              <a:rPr u="heavy" spc="-270" dirty="0">
                <a:latin typeface="Corbel"/>
                <a:cs typeface="Corbel"/>
              </a:rPr>
              <a:t> </a:t>
            </a:r>
            <a:r>
              <a:rPr u="heavy" spc="-40" dirty="0">
                <a:latin typeface="Corbel"/>
                <a:cs typeface="Corbel"/>
              </a:rPr>
              <a:t>AUTOMATION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48130" y="2368042"/>
            <a:ext cx="9765665" cy="2482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10" dirty="0">
                <a:latin typeface="Corbel"/>
                <a:cs typeface="Corbel"/>
              </a:rPr>
              <a:t>Now </a:t>
            </a:r>
            <a:r>
              <a:rPr sz="2800" spc="-5" dirty="0">
                <a:latin typeface="Corbel"/>
                <a:cs typeface="Corbel"/>
              </a:rPr>
              <a:t>a days, every </a:t>
            </a:r>
            <a:r>
              <a:rPr sz="2800" spc="-10" dirty="0">
                <a:latin typeface="Corbel"/>
                <a:cs typeface="Corbel"/>
              </a:rPr>
              <a:t>small </a:t>
            </a:r>
            <a:r>
              <a:rPr sz="2800" spc="-5" dirty="0">
                <a:latin typeface="Corbel"/>
                <a:cs typeface="Corbel"/>
              </a:rPr>
              <a:t>and large industry employ</a:t>
            </a:r>
            <a:r>
              <a:rPr sz="2800" spc="114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automation.</a:t>
            </a:r>
            <a:endParaRPr sz="2800">
              <a:latin typeface="Corbel"/>
              <a:cs typeface="Corbel"/>
            </a:endParaRPr>
          </a:p>
          <a:p>
            <a:pPr marL="299085" marR="5080" indent="-286385">
              <a:lnSpc>
                <a:spcPct val="100000"/>
              </a:lnSpc>
              <a:spcBef>
                <a:spcPts val="127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In manual </a:t>
            </a:r>
            <a:r>
              <a:rPr sz="2800" spc="-10" dirty="0">
                <a:latin typeface="Corbel"/>
                <a:cs typeface="Corbel"/>
              </a:rPr>
              <a:t>control, </a:t>
            </a:r>
            <a:r>
              <a:rPr sz="2800" spc="-5" dirty="0">
                <a:latin typeface="Corbel"/>
                <a:cs typeface="Corbel"/>
              </a:rPr>
              <a:t>an </a:t>
            </a:r>
            <a:r>
              <a:rPr sz="2800" spc="-10" dirty="0">
                <a:latin typeface="Corbel"/>
                <a:cs typeface="Corbel"/>
              </a:rPr>
              <a:t>operator </a:t>
            </a:r>
            <a:r>
              <a:rPr sz="2800" spc="-5" dirty="0">
                <a:latin typeface="Corbel"/>
                <a:cs typeface="Corbel"/>
              </a:rPr>
              <a:t>periodically reads </a:t>
            </a:r>
            <a:r>
              <a:rPr sz="2800" spc="-10" dirty="0">
                <a:latin typeface="Corbel"/>
                <a:cs typeface="Corbel"/>
              </a:rPr>
              <a:t>the </a:t>
            </a:r>
            <a:r>
              <a:rPr sz="2800" spc="-5" dirty="0">
                <a:latin typeface="Corbel"/>
                <a:cs typeface="Corbel"/>
              </a:rPr>
              <a:t>process and  adjusts </a:t>
            </a:r>
            <a:r>
              <a:rPr sz="2800" spc="-10" dirty="0">
                <a:latin typeface="Corbel"/>
                <a:cs typeface="Corbel"/>
              </a:rPr>
              <a:t>the </a:t>
            </a:r>
            <a:r>
              <a:rPr sz="2800" spc="-5" dirty="0">
                <a:latin typeface="Corbel"/>
                <a:cs typeface="Corbel"/>
              </a:rPr>
              <a:t>input </a:t>
            </a:r>
            <a:r>
              <a:rPr sz="2800" spc="-20" dirty="0">
                <a:latin typeface="Corbel"/>
                <a:cs typeface="Corbel"/>
              </a:rPr>
              <a:t>accordingly. </a:t>
            </a:r>
            <a:r>
              <a:rPr sz="2800" spc="-10" dirty="0">
                <a:latin typeface="Corbel"/>
                <a:cs typeface="Corbel"/>
              </a:rPr>
              <a:t>Quite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hectic!</a:t>
            </a:r>
            <a:endParaRPr sz="2800">
              <a:latin typeface="Corbel"/>
              <a:cs typeface="Corbel"/>
            </a:endParaRPr>
          </a:p>
          <a:p>
            <a:pPr marL="299085" marR="24765" indent="-286385">
              <a:lnSpc>
                <a:spcPct val="100000"/>
              </a:lnSpc>
              <a:spcBef>
                <a:spcPts val="1275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In automation </a:t>
            </a:r>
            <a:r>
              <a:rPr sz="2800" spc="-10" dirty="0">
                <a:latin typeface="Corbel"/>
                <a:cs typeface="Corbel"/>
              </a:rPr>
              <a:t>control, </a:t>
            </a:r>
            <a:r>
              <a:rPr sz="2800" spc="-5" dirty="0">
                <a:latin typeface="Corbel"/>
                <a:cs typeface="Corbel"/>
              </a:rPr>
              <a:t>measurements and adjustments are done  automatically on a </a:t>
            </a:r>
            <a:r>
              <a:rPr sz="2800" spc="-10" dirty="0">
                <a:latin typeface="Corbel"/>
                <a:cs typeface="Corbel"/>
              </a:rPr>
              <a:t>continuous </a:t>
            </a:r>
            <a:r>
              <a:rPr sz="2800" spc="-5" dirty="0">
                <a:latin typeface="Corbel"/>
                <a:cs typeface="Corbel"/>
              </a:rPr>
              <a:t>basis. </a:t>
            </a:r>
            <a:r>
              <a:rPr sz="2800" spc="-10" dirty="0">
                <a:latin typeface="Corbel"/>
                <a:cs typeface="Corbel"/>
              </a:rPr>
              <a:t>Quite</a:t>
            </a:r>
            <a:r>
              <a:rPr sz="2800" spc="-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convenient!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2F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0C5A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128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36317" y="842517"/>
            <a:ext cx="7911465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4990" marR="5080" indent="-542925">
              <a:lnSpc>
                <a:spcPct val="100000"/>
              </a:lnSpc>
              <a:spcBef>
                <a:spcPts val="105"/>
              </a:spcBef>
            </a:pPr>
            <a:r>
              <a:rPr u="heavy" spc="-55" dirty="0">
                <a:latin typeface="Corbel"/>
                <a:cs typeface="Corbel"/>
              </a:rPr>
              <a:t>Types </a:t>
            </a:r>
            <a:r>
              <a:rPr u="heavy" dirty="0">
                <a:latin typeface="Corbel"/>
                <a:cs typeface="Corbel"/>
              </a:rPr>
              <a:t>of </a:t>
            </a:r>
            <a:r>
              <a:rPr u="heavy" spc="-5" dirty="0">
                <a:latin typeface="Corbel"/>
                <a:cs typeface="Corbel"/>
              </a:rPr>
              <a:t>Control Systems </a:t>
            </a:r>
            <a:r>
              <a:rPr u="heavy" dirty="0">
                <a:latin typeface="Corbel"/>
                <a:cs typeface="Corbel"/>
              </a:rPr>
              <a:t>used</a:t>
            </a:r>
            <a:r>
              <a:rPr u="heavy" spc="-300" dirty="0">
                <a:latin typeface="Corbel"/>
                <a:cs typeface="Corbel"/>
              </a:rPr>
              <a:t> </a:t>
            </a:r>
            <a:r>
              <a:rPr u="heavy" dirty="0">
                <a:latin typeface="Corbel"/>
                <a:cs typeface="Corbel"/>
              </a:rPr>
              <a:t>in </a:t>
            </a:r>
            <a:r>
              <a:rPr dirty="0">
                <a:latin typeface="Corbel"/>
                <a:cs typeface="Corbel"/>
              </a:rPr>
              <a:t> </a:t>
            </a:r>
            <a:r>
              <a:rPr u="heavy" dirty="0">
                <a:latin typeface="Corbel"/>
                <a:cs typeface="Corbel"/>
              </a:rPr>
              <a:t>INDUSTRIAL</a:t>
            </a:r>
            <a:r>
              <a:rPr u="heavy" spc="-240" dirty="0">
                <a:latin typeface="Corbel"/>
                <a:cs typeface="Corbel"/>
              </a:rPr>
              <a:t> </a:t>
            </a:r>
            <a:r>
              <a:rPr u="heavy" spc="-40" dirty="0">
                <a:latin typeface="Corbel"/>
                <a:cs typeface="Corbel"/>
              </a:rPr>
              <a:t>AUTOMATION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60245" y="2986532"/>
            <a:ext cx="5516880" cy="2249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10" dirty="0">
                <a:latin typeface="Corbel"/>
                <a:cs typeface="Corbel"/>
              </a:rPr>
              <a:t>PID controller </a:t>
            </a:r>
            <a:r>
              <a:rPr sz="2800" spc="-5" dirty="0">
                <a:latin typeface="Corbel"/>
                <a:cs typeface="Corbel"/>
              </a:rPr>
              <a:t>based </a:t>
            </a:r>
            <a:r>
              <a:rPr sz="2800" spc="-10" dirty="0">
                <a:latin typeface="Corbel"/>
                <a:cs typeface="Corbel"/>
              </a:rPr>
              <a:t>control</a:t>
            </a:r>
            <a:r>
              <a:rPr sz="2800" spc="2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system</a:t>
            </a:r>
            <a:endParaRPr sz="28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7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45" dirty="0">
                <a:latin typeface="Corbel"/>
                <a:cs typeface="Corbel"/>
              </a:rPr>
              <a:t>PLC </a:t>
            </a:r>
            <a:r>
              <a:rPr sz="2800" spc="-5" dirty="0">
                <a:latin typeface="Corbel"/>
                <a:cs typeface="Corbel"/>
              </a:rPr>
              <a:t>based </a:t>
            </a:r>
            <a:r>
              <a:rPr sz="2800" spc="-10" dirty="0">
                <a:latin typeface="Corbel"/>
                <a:cs typeface="Corbel"/>
              </a:rPr>
              <a:t>control</a:t>
            </a:r>
            <a:r>
              <a:rPr sz="2800" spc="5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system</a:t>
            </a:r>
            <a:endParaRPr sz="28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7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DCS based </a:t>
            </a:r>
            <a:r>
              <a:rPr sz="2800" spc="-10" dirty="0">
                <a:latin typeface="Corbel"/>
                <a:cs typeface="Corbel"/>
              </a:rPr>
              <a:t>control</a:t>
            </a:r>
            <a:r>
              <a:rPr sz="2800" spc="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system</a:t>
            </a:r>
            <a:endParaRPr sz="28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7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PC based </a:t>
            </a:r>
            <a:r>
              <a:rPr sz="2800" spc="-10" dirty="0">
                <a:latin typeface="Corbel"/>
                <a:cs typeface="Corbel"/>
              </a:rPr>
              <a:t>control</a:t>
            </a:r>
            <a:r>
              <a:rPr sz="2800" spc="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system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-14068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8AB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455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6886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5147" y="713943"/>
            <a:ext cx="8853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15" dirty="0">
                <a:latin typeface="Corbel"/>
                <a:cs typeface="Corbel"/>
              </a:rPr>
              <a:t>PLC(Programmable </a:t>
            </a:r>
            <a:r>
              <a:rPr u="heavy" spc="-5" dirty="0">
                <a:latin typeface="Corbel"/>
                <a:cs typeface="Corbel"/>
              </a:rPr>
              <a:t>Logic</a:t>
            </a:r>
            <a:r>
              <a:rPr u="heavy" spc="-200" dirty="0">
                <a:latin typeface="Corbel"/>
                <a:cs typeface="Corbel"/>
              </a:rPr>
              <a:t> </a:t>
            </a:r>
            <a:r>
              <a:rPr u="heavy" spc="-5" dirty="0">
                <a:latin typeface="Corbel"/>
                <a:cs typeface="Corbel"/>
              </a:rPr>
              <a:t>Controller)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17929" y="2471166"/>
            <a:ext cx="9644380" cy="4126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318770" indent="-286385">
              <a:lnSpc>
                <a:spcPct val="100000"/>
              </a:lnSpc>
              <a:spcBef>
                <a:spcPts val="95"/>
              </a:spcBef>
              <a:buClr>
                <a:srgbClr val="688627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It is microprocessor based </a:t>
            </a:r>
            <a:r>
              <a:rPr sz="2800" spc="-10" dirty="0">
                <a:latin typeface="Corbel"/>
                <a:cs typeface="Corbel"/>
              </a:rPr>
              <a:t>solid state/industrial computer that  </a:t>
            </a:r>
            <a:r>
              <a:rPr sz="2800" spc="-5" dirty="0">
                <a:latin typeface="Corbel"/>
                <a:cs typeface="Corbel"/>
              </a:rPr>
              <a:t>perform discrete or sequential</a:t>
            </a:r>
            <a:r>
              <a:rPr sz="2800" spc="5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logic.</a:t>
            </a:r>
            <a:endParaRPr sz="2800" dirty="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70"/>
              </a:spcBef>
              <a:buClr>
                <a:srgbClr val="688627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It was developed to replace </a:t>
            </a:r>
            <a:r>
              <a:rPr sz="2800" spc="-10" dirty="0">
                <a:latin typeface="Corbel"/>
                <a:cs typeface="Corbel"/>
              </a:rPr>
              <a:t>mechanical </a:t>
            </a:r>
            <a:r>
              <a:rPr sz="2800" spc="-5" dirty="0">
                <a:latin typeface="Corbel"/>
                <a:cs typeface="Corbel"/>
              </a:rPr>
              <a:t>relays, </a:t>
            </a:r>
            <a:r>
              <a:rPr sz="2800" spc="-10" dirty="0">
                <a:latin typeface="Corbel"/>
                <a:cs typeface="Corbel"/>
              </a:rPr>
              <a:t>timers,</a:t>
            </a:r>
            <a:r>
              <a:rPr sz="2800" spc="14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counters.</a:t>
            </a:r>
            <a:endParaRPr sz="2800" dirty="0">
              <a:latin typeface="Corbel"/>
              <a:cs typeface="Corbel"/>
            </a:endParaRPr>
          </a:p>
          <a:p>
            <a:pPr marL="299085" marR="906780" indent="-286385">
              <a:lnSpc>
                <a:spcPct val="100000"/>
              </a:lnSpc>
              <a:spcBef>
                <a:spcPts val="1270"/>
              </a:spcBef>
              <a:buClr>
                <a:srgbClr val="688627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10" dirty="0">
                <a:latin typeface="Corbel"/>
                <a:cs typeface="Corbel"/>
              </a:rPr>
              <a:t>The </a:t>
            </a:r>
            <a:r>
              <a:rPr sz="2800" spc="-5" dirty="0">
                <a:latin typeface="Corbel"/>
                <a:cs typeface="Corbel"/>
              </a:rPr>
              <a:t>early </a:t>
            </a:r>
            <a:r>
              <a:rPr sz="2800" spc="-45" dirty="0">
                <a:latin typeface="Corbel"/>
                <a:cs typeface="Corbel"/>
              </a:rPr>
              <a:t>PLC’s </a:t>
            </a:r>
            <a:r>
              <a:rPr sz="2800" spc="-5" dirty="0">
                <a:latin typeface="Corbel"/>
                <a:cs typeface="Corbel"/>
              </a:rPr>
              <a:t>were used to reduce </a:t>
            </a:r>
            <a:r>
              <a:rPr sz="2800" spc="-10" dirty="0">
                <a:latin typeface="Corbel"/>
                <a:cs typeface="Corbel"/>
              </a:rPr>
              <a:t>the changeover time,  </a:t>
            </a:r>
            <a:r>
              <a:rPr sz="2800" spc="-5" dirty="0">
                <a:latin typeface="Corbel"/>
                <a:cs typeface="Corbel"/>
              </a:rPr>
              <a:t>wiring/re-wiring.</a:t>
            </a:r>
            <a:endParaRPr sz="2800" dirty="0">
              <a:latin typeface="Corbel"/>
              <a:cs typeface="Corbel"/>
            </a:endParaRPr>
          </a:p>
          <a:p>
            <a:pPr marL="299085" marR="5080" indent="-286385">
              <a:lnSpc>
                <a:spcPct val="100000"/>
              </a:lnSpc>
              <a:spcBef>
                <a:spcPts val="1275"/>
              </a:spcBef>
              <a:buClr>
                <a:srgbClr val="688627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45" dirty="0">
                <a:latin typeface="Corbel"/>
                <a:cs typeface="Corbel"/>
              </a:rPr>
              <a:t>PLC</a:t>
            </a:r>
            <a:r>
              <a:rPr lang="en-US" sz="2800" spc="-45" dirty="0">
                <a:latin typeface="Corbel"/>
                <a:cs typeface="Corbel"/>
              </a:rPr>
              <a:t> works on 24V DC and I/O devices that are directly connected to PLC also works on 24V DC.</a:t>
            </a:r>
          </a:p>
          <a:p>
            <a:pPr marL="299085" marR="5080" indent="-286385">
              <a:lnSpc>
                <a:spcPct val="100000"/>
              </a:lnSpc>
              <a:spcBef>
                <a:spcPts val="1275"/>
              </a:spcBef>
              <a:buClr>
                <a:srgbClr val="688627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lang="en-US" sz="2800" spc="-45" dirty="0">
                <a:latin typeface="Corbel"/>
                <a:cs typeface="Corbel"/>
              </a:rPr>
              <a:t>To connect it with AC devices we use relay and transistor</a:t>
            </a:r>
            <a:r>
              <a:rPr sz="2800" spc="-45" dirty="0">
                <a:latin typeface="Corbel"/>
                <a:cs typeface="Corbel"/>
              </a:rPr>
              <a:t> </a:t>
            </a:r>
            <a:endParaRPr sz="28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997B-FD72-4D78-B429-503F00A0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</a:t>
            </a:r>
            <a:r>
              <a:rPr lang="en-US" sz="4800" dirty="0">
                <a:solidFill>
                  <a:srgbClr val="7030A0"/>
                </a:solidFill>
              </a:rPr>
              <a:t>Brands of PLC’s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61565-1388-4FC0-B805-2E48A5507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401"/>
            <a:ext cx="8596668" cy="4364962"/>
          </a:xfrm>
        </p:spPr>
        <p:txBody>
          <a:bodyPr/>
          <a:lstStyle/>
          <a:p>
            <a:r>
              <a:rPr lang="en-US" dirty="0"/>
              <a:t>Panasonic</a:t>
            </a:r>
          </a:p>
          <a:p>
            <a:r>
              <a:rPr lang="en-US" dirty="0"/>
              <a:t>Allen Bradley</a:t>
            </a:r>
          </a:p>
          <a:p>
            <a:r>
              <a:rPr lang="en-US" dirty="0"/>
              <a:t>Delta</a:t>
            </a:r>
          </a:p>
          <a:p>
            <a:r>
              <a:rPr lang="en-US" dirty="0"/>
              <a:t>Omron</a:t>
            </a:r>
          </a:p>
          <a:p>
            <a:r>
              <a:rPr lang="en-US" dirty="0"/>
              <a:t>Siemense</a:t>
            </a:r>
          </a:p>
          <a:p>
            <a:r>
              <a:rPr lang="en-US" dirty="0"/>
              <a:t>Keyence</a:t>
            </a:r>
          </a:p>
          <a:p>
            <a:r>
              <a:rPr lang="en-US" dirty="0"/>
              <a:t>Schnieder</a:t>
            </a:r>
          </a:p>
          <a:p>
            <a:r>
              <a:rPr lang="en-US" dirty="0"/>
              <a:t>Mitshubishi</a:t>
            </a:r>
          </a:p>
        </p:txBody>
      </p:sp>
    </p:spTree>
    <p:extLst>
      <p:ext uri="{BB962C8B-B14F-4D97-AF65-F5344CB8AC3E}">
        <p14:creationId xmlns:p14="http://schemas.microsoft.com/office/powerpoint/2010/main" val="231510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EB8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7A47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B86C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11170" y="1109705"/>
            <a:ext cx="6965060" cy="5675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24711" y="725246"/>
            <a:ext cx="97377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u="heavy" spc="-5" dirty="0">
                <a:latin typeface="Corbel"/>
                <a:cs typeface="Corbel"/>
              </a:rPr>
              <a:t>Different types of</a:t>
            </a:r>
            <a:r>
              <a:rPr u="heavy" dirty="0">
                <a:latin typeface="Corbel"/>
                <a:cs typeface="Corbel"/>
              </a:rPr>
              <a:t> </a:t>
            </a:r>
            <a:r>
              <a:rPr b="0" u="heavy" dirty="0">
                <a:latin typeface="Corbel"/>
                <a:cs typeface="Corbel"/>
              </a:rPr>
              <a:t>programmable</a:t>
            </a:r>
            <a:r>
              <a:rPr b="0" u="heavy" spc="-70" dirty="0">
                <a:latin typeface="Corbel"/>
                <a:cs typeface="Corbel"/>
              </a:rPr>
              <a:t> </a:t>
            </a:r>
            <a:r>
              <a:rPr b="0" u="heavy" spc="-5" dirty="0">
                <a:latin typeface="Corbel"/>
                <a:cs typeface="Corbel"/>
              </a:rPr>
              <a:t>controller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5977-C529-451B-8357-8CC56736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609600"/>
            <a:ext cx="6302202" cy="1320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5">
                    <a:lumMod val="75000"/>
                  </a:schemeClr>
                </a:solidFill>
              </a:rPr>
              <a:t>Types of PLC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72A55-6700-45DA-820F-22EC2CE02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401"/>
            <a:ext cx="8596668" cy="4364962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Fixed/Compact type</a:t>
            </a:r>
          </a:p>
          <a:p>
            <a:pPr marL="0" indent="0">
              <a:buNone/>
            </a:pPr>
            <a:r>
              <a:rPr lang="en-US" sz="1300" dirty="0"/>
              <a:t>Expansion is not possible</a:t>
            </a:r>
          </a:p>
          <a:p>
            <a:pPr marL="0" indent="0">
              <a:buNone/>
            </a:pPr>
            <a:r>
              <a:rPr lang="en-US" sz="1300" dirty="0"/>
              <a:t>Fixed number of I/O ports</a:t>
            </a:r>
          </a:p>
          <a:p>
            <a:pPr marL="0" indent="0">
              <a:buNone/>
            </a:pPr>
            <a:r>
              <a:rPr lang="en-US" sz="1300" dirty="0"/>
              <a:t>Memory up to 2kb</a:t>
            </a:r>
          </a:p>
          <a:p>
            <a:pPr marL="0" indent="0">
              <a:buNone/>
            </a:pPr>
            <a:r>
              <a:rPr lang="en-US" sz="1300" dirty="0"/>
              <a:t>Maximum 248 I/O ports are possible</a:t>
            </a:r>
          </a:p>
          <a:p>
            <a:r>
              <a:rPr lang="en-US" sz="2200" dirty="0">
                <a:solidFill>
                  <a:srgbClr val="0070C0"/>
                </a:solidFill>
              </a:rPr>
              <a:t>Modular type</a:t>
            </a:r>
          </a:p>
          <a:p>
            <a:pPr marL="0" indent="0">
              <a:buNone/>
            </a:pPr>
            <a:r>
              <a:rPr lang="en-US" sz="1300" dirty="0"/>
              <a:t>Expansion is possible</a:t>
            </a:r>
          </a:p>
          <a:p>
            <a:pPr marL="0" indent="0">
              <a:buNone/>
            </a:pPr>
            <a:r>
              <a:rPr lang="en-US" sz="1300" dirty="0"/>
              <a:t>Serial expansion</a:t>
            </a:r>
          </a:p>
          <a:p>
            <a:pPr marL="0" indent="0">
              <a:buNone/>
            </a:pPr>
            <a:r>
              <a:rPr lang="en-US" sz="1300" dirty="0"/>
              <a:t>Memory up to 32kb</a:t>
            </a:r>
          </a:p>
          <a:p>
            <a:pPr marL="0" indent="0">
              <a:buNone/>
            </a:pPr>
            <a:r>
              <a:rPr lang="en-US" sz="1300" dirty="0"/>
              <a:t>Maximum 2048 I/O ports are possible</a:t>
            </a:r>
          </a:p>
          <a:p>
            <a:r>
              <a:rPr lang="en-US" sz="2200" dirty="0">
                <a:solidFill>
                  <a:srgbClr val="0070C0"/>
                </a:solidFill>
              </a:rPr>
              <a:t>Rack type</a:t>
            </a:r>
          </a:p>
          <a:p>
            <a:pPr marL="0" indent="0">
              <a:buNone/>
            </a:pPr>
            <a:r>
              <a:rPr lang="en-US" sz="1300" dirty="0"/>
              <a:t>Expansion is possible</a:t>
            </a:r>
          </a:p>
          <a:p>
            <a:pPr marL="0" indent="0">
              <a:buNone/>
            </a:pPr>
            <a:r>
              <a:rPr lang="en-US" sz="1300" dirty="0"/>
              <a:t>Parallel expansion</a:t>
            </a:r>
          </a:p>
          <a:p>
            <a:pPr marL="0" indent="0">
              <a:buNone/>
            </a:pPr>
            <a:r>
              <a:rPr lang="en-US" sz="1300" dirty="0"/>
              <a:t>Maximum 16000 I/O ports are possible</a:t>
            </a:r>
          </a:p>
          <a:p>
            <a:pPr marL="0" indent="0">
              <a:buNone/>
            </a:pPr>
            <a:r>
              <a:rPr lang="en-US" sz="1300" dirty="0"/>
              <a:t>Memory up to 2mb</a:t>
            </a:r>
          </a:p>
        </p:txBody>
      </p:sp>
    </p:spTree>
    <p:extLst>
      <p:ext uri="{BB962C8B-B14F-4D97-AF65-F5344CB8AC3E}">
        <p14:creationId xmlns:p14="http://schemas.microsoft.com/office/powerpoint/2010/main" val="201479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EB8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7A47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B86C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864102" y="573151"/>
            <a:ext cx="50965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latin typeface="Corbel"/>
                <a:cs typeface="Corbel"/>
              </a:rPr>
              <a:t>Architecture </a:t>
            </a:r>
            <a:r>
              <a:rPr u="heavy" dirty="0">
                <a:latin typeface="Corbel"/>
                <a:cs typeface="Corbel"/>
              </a:rPr>
              <a:t>of a</a:t>
            </a:r>
            <a:r>
              <a:rPr u="heavy" spc="-70" dirty="0">
                <a:latin typeface="Corbel"/>
                <a:cs typeface="Corbel"/>
              </a:rPr>
              <a:t> </a:t>
            </a:r>
            <a:r>
              <a:rPr u="heavy" spc="-60" dirty="0">
                <a:latin typeface="Corbel"/>
                <a:cs typeface="Corbel"/>
              </a:rPr>
              <a:t>PLC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74394" y="1500327"/>
            <a:ext cx="296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B86C11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u="heavy" spc="-30" dirty="0">
                <a:latin typeface="Corbel"/>
                <a:cs typeface="Corbel"/>
              </a:rPr>
              <a:t>BLOCK</a:t>
            </a:r>
            <a:r>
              <a:rPr sz="2800" u="heavy" spc="-50" dirty="0">
                <a:latin typeface="Corbel"/>
                <a:cs typeface="Corbel"/>
              </a:rPr>
              <a:t> </a:t>
            </a:r>
            <a:r>
              <a:rPr sz="2800" u="heavy" spc="-10" dirty="0">
                <a:latin typeface="Corbel"/>
                <a:cs typeface="Corbel"/>
              </a:rPr>
              <a:t>DIAGRAM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4071" y="3734930"/>
            <a:ext cx="1983739" cy="824865"/>
          </a:xfrm>
          <a:prstGeom prst="rect">
            <a:avLst/>
          </a:prstGeom>
          <a:solidFill>
            <a:srgbClr val="EB8F21"/>
          </a:solidFill>
          <a:ln w="15875">
            <a:solidFill>
              <a:srgbClr val="AC6816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559435" marR="553085" indent="118745">
              <a:lnSpc>
                <a:spcPct val="100000"/>
              </a:lnSpc>
              <a:spcBef>
                <a:spcPts val="969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INPUT  D</a:t>
            </a:r>
            <a:r>
              <a:rPr sz="1800" spc="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VICES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5819" y="3734930"/>
            <a:ext cx="1296670" cy="824865"/>
          </a:xfrm>
          <a:prstGeom prst="rect">
            <a:avLst/>
          </a:prstGeom>
          <a:solidFill>
            <a:srgbClr val="EB8F21"/>
          </a:solidFill>
          <a:ln w="15875">
            <a:solidFill>
              <a:srgbClr val="AC681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PLC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1516" y="3760584"/>
            <a:ext cx="1983739" cy="824865"/>
          </a:xfrm>
          <a:prstGeom prst="rect">
            <a:avLst/>
          </a:prstGeom>
          <a:solidFill>
            <a:srgbClr val="EB8F21"/>
          </a:solidFill>
          <a:ln w="15875">
            <a:solidFill>
              <a:srgbClr val="AC6816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560070" marR="552450" indent="1270">
              <a:lnSpc>
                <a:spcPct val="100000"/>
              </a:lnSpc>
              <a:spcBef>
                <a:spcPts val="969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OUT</a:t>
            </a:r>
            <a:r>
              <a:rPr sz="1800" spc="0" dirty="0">
                <a:solidFill>
                  <a:srgbClr val="FFFFFF"/>
                </a:solidFill>
                <a:latin typeface="Corbel"/>
                <a:cs typeface="Corbel"/>
              </a:rPr>
              <a:t>P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UT  D</a:t>
            </a:r>
            <a:r>
              <a:rPr sz="1800" spc="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VICES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12410" y="2283066"/>
            <a:ext cx="1983739" cy="824865"/>
          </a:xfrm>
          <a:prstGeom prst="rect">
            <a:avLst/>
          </a:prstGeom>
          <a:solidFill>
            <a:srgbClr val="EB8F21"/>
          </a:solidFill>
          <a:ln w="15875">
            <a:solidFill>
              <a:srgbClr val="AC6816"/>
            </a:solidFill>
          </a:ln>
        </p:spPr>
        <p:txBody>
          <a:bodyPr vert="horz" wrap="square" lIns="0" tIns="123190" rIns="0" bIns="0" rtlCol="0">
            <a:spAutoFit/>
          </a:bodyPr>
          <a:lstStyle/>
          <a:p>
            <a:pPr marL="610235">
              <a:lnSpc>
                <a:spcPct val="100000"/>
              </a:lnSpc>
              <a:spcBef>
                <a:spcPts val="97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POWER</a:t>
            </a:r>
            <a:endParaRPr sz="1800">
              <a:latin typeface="Corbel"/>
              <a:cs typeface="Corbel"/>
            </a:endParaRPr>
          </a:p>
          <a:p>
            <a:pPr marL="65278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rbel"/>
                <a:cs typeface="Corbel"/>
              </a:rPr>
              <a:t>SUPPY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2460" y="5186629"/>
            <a:ext cx="1983739" cy="824865"/>
          </a:xfrm>
          <a:prstGeom prst="rect">
            <a:avLst/>
          </a:prstGeom>
          <a:solidFill>
            <a:srgbClr val="EB8F21"/>
          </a:solidFill>
          <a:ln w="15875">
            <a:solidFill>
              <a:srgbClr val="AC681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521334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52361" y="5186629"/>
            <a:ext cx="1983739" cy="824865"/>
          </a:xfrm>
          <a:prstGeom prst="rect">
            <a:avLst/>
          </a:prstGeom>
          <a:solidFill>
            <a:srgbClr val="EB8F21"/>
          </a:solidFill>
          <a:ln w="15875">
            <a:solidFill>
              <a:srgbClr val="AC681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434975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INTERFACE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61079" y="4108958"/>
            <a:ext cx="1595120" cy="76200"/>
          </a:xfrm>
          <a:custGeom>
            <a:avLst/>
            <a:gdLst/>
            <a:ahLst/>
            <a:cxnLst/>
            <a:rect l="l" t="t" r="r" b="b"/>
            <a:pathLst>
              <a:path w="1595120" h="76200">
                <a:moveTo>
                  <a:pt x="1518539" y="0"/>
                </a:moveTo>
                <a:lnTo>
                  <a:pt x="1518539" y="76200"/>
                </a:lnTo>
                <a:lnTo>
                  <a:pt x="1582039" y="44450"/>
                </a:lnTo>
                <a:lnTo>
                  <a:pt x="1534795" y="44450"/>
                </a:lnTo>
                <a:lnTo>
                  <a:pt x="1537589" y="41529"/>
                </a:lnTo>
                <a:lnTo>
                  <a:pt x="1537589" y="34544"/>
                </a:lnTo>
                <a:lnTo>
                  <a:pt x="1534795" y="31750"/>
                </a:lnTo>
                <a:lnTo>
                  <a:pt x="1582039" y="31750"/>
                </a:lnTo>
                <a:lnTo>
                  <a:pt x="1518539" y="0"/>
                </a:lnTo>
                <a:close/>
              </a:path>
              <a:path w="1595120" h="76200">
                <a:moveTo>
                  <a:pt x="1518539" y="31750"/>
                </a:moveTo>
                <a:lnTo>
                  <a:pt x="2921" y="31750"/>
                </a:lnTo>
                <a:lnTo>
                  <a:pt x="0" y="34544"/>
                </a:lnTo>
                <a:lnTo>
                  <a:pt x="0" y="41529"/>
                </a:lnTo>
                <a:lnTo>
                  <a:pt x="2921" y="44450"/>
                </a:lnTo>
                <a:lnTo>
                  <a:pt x="1518539" y="44450"/>
                </a:lnTo>
                <a:lnTo>
                  <a:pt x="1518539" y="31750"/>
                </a:lnTo>
                <a:close/>
              </a:path>
              <a:path w="1595120" h="76200">
                <a:moveTo>
                  <a:pt x="1582039" y="31750"/>
                </a:moveTo>
                <a:lnTo>
                  <a:pt x="1534795" y="31750"/>
                </a:lnTo>
                <a:lnTo>
                  <a:pt x="1537589" y="34544"/>
                </a:lnTo>
                <a:lnTo>
                  <a:pt x="1537589" y="41529"/>
                </a:lnTo>
                <a:lnTo>
                  <a:pt x="1534795" y="44450"/>
                </a:lnTo>
                <a:lnTo>
                  <a:pt x="1582039" y="44450"/>
                </a:lnTo>
                <a:lnTo>
                  <a:pt x="1594739" y="38100"/>
                </a:lnTo>
                <a:lnTo>
                  <a:pt x="158203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5884" y="4133215"/>
            <a:ext cx="1365885" cy="76200"/>
          </a:xfrm>
          <a:custGeom>
            <a:avLst/>
            <a:gdLst/>
            <a:ahLst/>
            <a:cxnLst/>
            <a:rect l="l" t="t" r="r" b="b"/>
            <a:pathLst>
              <a:path w="1365884" h="76200">
                <a:moveTo>
                  <a:pt x="1290192" y="0"/>
                </a:moveTo>
                <a:lnTo>
                  <a:pt x="1289610" y="31764"/>
                </a:lnTo>
                <a:lnTo>
                  <a:pt x="1302258" y="32004"/>
                </a:lnTo>
                <a:lnTo>
                  <a:pt x="1305814" y="32004"/>
                </a:lnTo>
                <a:lnTo>
                  <a:pt x="1308608" y="34925"/>
                </a:lnTo>
                <a:lnTo>
                  <a:pt x="1308481" y="41910"/>
                </a:lnTo>
                <a:lnTo>
                  <a:pt x="1305560" y="44704"/>
                </a:lnTo>
                <a:lnTo>
                  <a:pt x="1289373" y="44704"/>
                </a:lnTo>
                <a:lnTo>
                  <a:pt x="1288795" y="76200"/>
                </a:lnTo>
                <a:lnTo>
                  <a:pt x="1354730" y="44704"/>
                </a:lnTo>
                <a:lnTo>
                  <a:pt x="1302131" y="44704"/>
                </a:lnTo>
                <a:lnTo>
                  <a:pt x="1289377" y="44461"/>
                </a:lnTo>
                <a:lnTo>
                  <a:pt x="1355238" y="44461"/>
                </a:lnTo>
                <a:lnTo>
                  <a:pt x="1365631" y="39497"/>
                </a:lnTo>
                <a:lnTo>
                  <a:pt x="1290192" y="0"/>
                </a:lnTo>
                <a:close/>
              </a:path>
              <a:path w="1365884" h="76200">
                <a:moveTo>
                  <a:pt x="1289610" y="31764"/>
                </a:moveTo>
                <a:lnTo>
                  <a:pt x="1289377" y="44461"/>
                </a:lnTo>
                <a:lnTo>
                  <a:pt x="1302131" y="44704"/>
                </a:lnTo>
                <a:lnTo>
                  <a:pt x="1305560" y="44704"/>
                </a:lnTo>
                <a:lnTo>
                  <a:pt x="1308481" y="41910"/>
                </a:lnTo>
                <a:lnTo>
                  <a:pt x="1308608" y="34925"/>
                </a:lnTo>
                <a:lnTo>
                  <a:pt x="1305814" y="32004"/>
                </a:lnTo>
                <a:lnTo>
                  <a:pt x="1302258" y="32004"/>
                </a:lnTo>
                <a:lnTo>
                  <a:pt x="1289610" y="31764"/>
                </a:lnTo>
                <a:close/>
              </a:path>
              <a:path w="1365884" h="76200">
                <a:moveTo>
                  <a:pt x="3048" y="7366"/>
                </a:moveTo>
                <a:lnTo>
                  <a:pt x="126" y="10160"/>
                </a:lnTo>
                <a:lnTo>
                  <a:pt x="0" y="17145"/>
                </a:lnTo>
                <a:lnTo>
                  <a:pt x="2793" y="20066"/>
                </a:lnTo>
                <a:lnTo>
                  <a:pt x="6350" y="20066"/>
                </a:lnTo>
                <a:lnTo>
                  <a:pt x="1289377" y="44461"/>
                </a:lnTo>
                <a:lnTo>
                  <a:pt x="1289610" y="31764"/>
                </a:lnTo>
                <a:lnTo>
                  <a:pt x="6603" y="7493"/>
                </a:lnTo>
                <a:lnTo>
                  <a:pt x="3048" y="73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65927" y="3100958"/>
            <a:ext cx="76200" cy="634365"/>
          </a:xfrm>
          <a:custGeom>
            <a:avLst/>
            <a:gdLst/>
            <a:ahLst/>
            <a:cxnLst/>
            <a:rect l="l" t="t" r="r" b="b"/>
            <a:pathLst>
              <a:path w="76200" h="634364">
                <a:moveTo>
                  <a:pt x="31750" y="557657"/>
                </a:moveTo>
                <a:lnTo>
                  <a:pt x="0" y="557657"/>
                </a:lnTo>
                <a:lnTo>
                  <a:pt x="38100" y="633857"/>
                </a:lnTo>
                <a:lnTo>
                  <a:pt x="66675" y="576707"/>
                </a:lnTo>
                <a:lnTo>
                  <a:pt x="34671" y="576707"/>
                </a:lnTo>
                <a:lnTo>
                  <a:pt x="31750" y="573913"/>
                </a:lnTo>
                <a:lnTo>
                  <a:pt x="31750" y="557657"/>
                </a:lnTo>
                <a:close/>
              </a:path>
              <a:path w="76200" h="634364">
                <a:moveTo>
                  <a:pt x="41656" y="0"/>
                </a:moveTo>
                <a:lnTo>
                  <a:pt x="34671" y="0"/>
                </a:lnTo>
                <a:lnTo>
                  <a:pt x="31750" y="2920"/>
                </a:lnTo>
                <a:lnTo>
                  <a:pt x="31750" y="573913"/>
                </a:lnTo>
                <a:lnTo>
                  <a:pt x="34671" y="576707"/>
                </a:lnTo>
                <a:lnTo>
                  <a:pt x="41656" y="576707"/>
                </a:lnTo>
                <a:lnTo>
                  <a:pt x="44450" y="573913"/>
                </a:lnTo>
                <a:lnTo>
                  <a:pt x="44450" y="2920"/>
                </a:lnTo>
                <a:lnTo>
                  <a:pt x="41656" y="0"/>
                </a:lnTo>
                <a:close/>
              </a:path>
              <a:path w="76200" h="634364">
                <a:moveTo>
                  <a:pt x="76200" y="557657"/>
                </a:moveTo>
                <a:lnTo>
                  <a:pt x="44450" y="557657"/>
                </a:lnTo>
                <a:lnTo>
                  <a:pt x="44450" y="573913"/>
                </a:lnTo>
                <a:lnTo>
                  <a:pt x="41656" y="576707"/>
                </a:lnTo>
                <a:lnTo>
                  <a:pt x="66675" y="576707"/>
                </a:lnTo>
                <a:lnTo>
                  <a:pt x="76200" y="557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22822" y="4559172"/>
            <a:ext cx="1716405" cy="628015"/>
          </a:xfrm>
          <a:custGeom>
            <a:avLst/>
            <a:gdLst/>
            <a:ahLst/>
            <a:cxnLst/>
            <a:rect l="l" t="t" r="r" b="b"/>
            <a:pathLst>
              <a:path w="1716404" h="628014">
                <a:moveTo>
                  <a:pt x="1671701" y="551307"/>
                </a:moveTo>
                <a:lnTo>
                  <a:pt x="1639951" y="551307"/>
                </a:lnTo>
                <a:lnTo>
                  <a:pt x="1678051" y="627507"/>
                </a:lnTo>
                <a:lnTo>
                  <a:pt x="1706626" y="570357"/>
                </a:lnTo>
                <a:lnTo>
                  <a:pt x="1674495" y="570357"/>
                </a:lnTo>
                <a:lnTo>
                  <a:pt x="1671701" y="567435"/>
                </a:lnTo>
                <a:lnTo>
                  <a:pt x="1671701" y="551307"/>
                </a:lnTo>
                <a:close/>
              </a:path>
              <a:path w="1716404" h="628014">
                <a:moveTo>
                  <a:pt x="1671701" y="313689"/>
                </a:moveTo>
                <a:lnTo>
                  <a:pt x="1671701" y="567435"/>
                </a:lnTo>
                <a:lnTo>
                  <a:pt x="1674495" y="570357"/>
                </a:lnTo>
                <a:lnTo>
                  <a:pt x="1681606" y="570357"/>
                </a:lnTo>
                <a:lnTo>
                  <a:pt x="1684401" y="567435"/>
                </a:lnTo>
                <a:lnTo>
                  <a:pt x="1684401" y="320039"/>
                </a:lnTo>
                <a:lnTo>
                  <a:pt x="1678051" y="320039"/>
                </a:lnTo>
                <a:lnTo>
                  <a:pt x="1671701" y="313689"/>
                </a:lnTo>
                <a:close/>
              </a:path>
              <a:path w="1716404" h="628014">
                <a:moveTo>
                  <a:pt x="1716151" y="551307"/>
                </a:moveTo>
                <a:lnTo>
                  <a:pt x="1684401" y="551307"/>
                </a:lnTo>
                <a:lnTo>
                  <a:pt x="1684401" y="567435"/>
                </a:lnTo>
                <a:lnTo>
                  <a:pt x="1681606" y="570357"/>
                </a:lnTo>
                <a:lnTo>
                  <a:pt x="1706626" y="570357"/>
                </a:lnTo>
                <a:lnTo>
                  <a:pt x="1716151" y="551307"/>
                </a:lnTo>
                <a:close/>
              </a:path>
              <a:path w="1716404" h="628014">
                <a:moveTo>
                  <a:pt x="41655" y="57150"/>
                </a:moveTo>
                <a:lnTo>
                  <a:pt x="34671" y="57150"/>
                </a:lnTo>
                <a:lnTo>
                  <a:pt x="31750" y="59943"/>
                </a:lnTo>
                <a:lnTo>
                  <a:pt x="31750" y="317245"/>
                </a:lnTo>
                <a:lnTo>
                  <a:pt x="34671" y="320039"/>
                </a:lnTo>
                <a:lnTo>
                  <a:pt x="1671701" y="320039"/>
                </a:lnTo>
                <a:lnTo>
                  <a:pt x="1671701" y="313689"/>
                </a:lnTo>
                <a:lnTo>
                  <a:pt x="44450" y="313689"/>
                </a:lnTo>
                <a:lnTo>
                  <a:pt x="38100" y="307339"/>
                </a:lnTo>
                <a:lnTo>
                  <a:pt x="44450" y="307339"/>
                </a:lnTo>
                <a:lnTo>
                  <a:pt x="44450" y="59943"/>
                </a:lnTo>
                <a:lnTo>
                  <a:pt x="41655" y="57150"/>
                </a:lnTo>
                <a:close/>
              </a:path>
              <a:path w="1716404" h="628014">
                <a:moveTo>
                  <a:pt x="1681606" y="307339"/>
                </a:moveTo>
                <a:lnTo>
                  <a:pt x="44450" y="307339"/>
                </a:lnTo>
                <a:lnTo>
                  <a:pt x="44450" y="313689"/>
                </a:lnTo>
                <a:lnTo>
                  <a:pt x="1671701" y="313689"/>
                </a:lnTo>
                <a:lnTo>
                  <a:pt x="1678051" y="320039"/>
                </a:lnTo>
                <a:lnTo>
                  <a:pt x="1684401" y="320039"/>
                </a:lnTo>
                <a:lnTo>
                  <a:pt x="1684401" y="310133"/>
                </a:lnTo>
                <a:lnTo>
                  <a:pt x="1681606" y="307339"/>
                </a:lnTo>
                <a:close/>
              </a:path>
              <a:path w="1716404" h="628014">
                <a:moveTo>
                  <a:pt x="44450" y="307339"/>
                </a:moveTo>
                <a:lnTo>
                  <a:pt x="38100" y="307339"/>
                </a:lnTo>
                <a:lnTo>
                  <a:pt x="44450" y="313689"/>
                </a:lnTo>
                <a:lnTo>
                  <a:pt x="44450" y="307339"/>
                </a:lnTo>
                <a:close/>
              </a:path>
              <a:path w="1716404" h="62801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59943"/>
                </a:lnTo>
                <a:lnTo>
                  <a:pt x="34671" y="57150"/>
                </a:lnTo>
                <a:lnTo>
                  <a:pt x="66675" y="57150"/>
                </a:lnTo>
                <a:lnTo>
                  <a:pt x="38100" y="0"/>
                </a:lnTo>
                <a:close/>
              </a:path>
              <a:path w="1716404" h="628014">
                <a:moveTo>
                  <a:pt x="66675" y="57150"/>
                </a:moveTo>
                <a:lnTo>
                  <a:pt x="41655" y="57150"/>
                </a:lnTo>
                <a:lnTo>
                  <a:pt x="44450" y="59943"/>
                </a:lnTo>
                <a:lnTo>
                  <a:pt x="44450" y="76200"/>
                </a:lnTo>
                <a:lnTo>
                  <a:pt x="76200" y="76200"/>
                </a:lnTo>
                <a:lnTo>
                  <a:pt x="6667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98796" y="1667636"/>
            <a:ext cx="878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rbel"/>
                <a:cs typeface="Corbel"/>
              </a:rPr>
              <a:t>(24V </a:t>
            </a:r>
            <a:r>
              <a:rPr sz="1800" dirty="0">
                <a:latin typeface="Corbel"/>
                <a:cs typeface="Corbel"/>
              </a:rPr>
              <a:t>DC,  </a:t>
            </a:r>
            <a:r>
              <a:rPr sz="1800" spc="-10" dirty="0">
                <a:latin typeface="Corbel"/>
                <a:cs typeface="Corbel"/>
              </a:rPr>
              <a:t>120V</a:t>
            </a:r>
            <a:r>
              <a:rPr sz="1800" spc="-17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AC)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61922" y="2570733"/>
            <a:ext cx="17760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orbel"/>
                <a:cs typeface="Corbel"/>
              </a:rPr>
              <a:t>(Toggle </a:t>
            </a:r>
            <a:r>
              <a:rPr sz="1800" spc="-5" dirty="0">
                <a:latin typeface="Corbel"/>
                <a:cs typeface="Corbel"/>
              </a:rPr>
              <a:t>or Push  </a:t>
            </a:r>
            <a:r>
              <a:rPr sz="1800" dirty="0">
                <a:latin typeface="Corbel"/>
                <a:cs typeface="Corbel"/>
              </a:rPr>
              <a:t>buttons,</a:t>
            </a:r>
            <a:r>
              <a:rPr sz="1800" spc="-10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proximity  </a:t>
            </a:r>
            <a:r>
              <a:rPr sz="1800" spc="-5" dirty="0">
                <a:latin typeface="Corbel"/>
                <a:cs typeface="Corbel"/>
              </a:rPr>
              <a:t>or pressure  sensors)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5285" y="3779265"/>
            <a:ext cx="1077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rbel"/>
                <a:cs typeface="Corbel"/>
              </a:rPr>
              <a:t>(Displays</a:t>
            </a:r>
            <a:r>
              <a:rPr sz="1800" spc="-8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&amp;  Monitors)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09827" y="5536184"/>
            <a:ext cx="17265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rbel"/>
                <a:cs typeface="Corbel"/>
              </a:rPr>
              <a:t>(External</a:t>
            </a:r>
            <a:r>
              <a:rPr sz="1800" spc="-6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memory  </a:t>
            </a:r>
            <a:r>
              <a:rPr sz="1800" spc="-10" dirty="0">
                <a:latin typeface="Corbel"/>
                <a:cs typeface="Corbel"/>
              </a:rPr>
              <a:t>module)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18601" y="5389270"/>
            <a:ext cx="1548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rbel"/>
                <a:cs typeface="Corbel"/>
              </a:rPr>
              <a:t>(SCADA or</a:t>
            </a:r>
            <a:r>
              <a:rPr sz="1800" spc="-10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HMI)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26103" y="4559172"/>
            <a:ext cx="1716405" cy="628015"/>
          </a:xfrm>
          <a:custGeom>
            <a:avLst/>
            <a:gdLst/>
            <a:ahLst/>
            <a:cxnLst/>
            <a:rect l="l" t="t" r="r" b="b"/>
            <a:pathLst>
              <a:path w="1716404" h="628014">
                <a:moveTo>
                  <a:pt x="31750" y="551307"/>
                </a:moveTo>
                <a:lnTo>
                  <a:pt x="0" y="551307"/>
                </a:lnTo>
                <a:lnTo>
                  <a:pt x="38100" y="627507"/>
                </a:lnTo>
                <a:lnTo>
                  <a:pt x="66675" y="570357"/>
                </a:lnTo>
                <a:lnTo>
                  <a:pt x="34544" y="570357"/>
                </a:lnTo>
                <a:lnTo>
                  <a:pt x="31750" y="567435"/>
                </a:lnTo>
                <a:lnTo>
                  <a:pt x="31750" y="551307"/>
                </a:lnTo>
                <a:close/>
              </a:path>
              <a:path w="1716404" h="628014">
                <a:moveTo>
                  <a:pt x="1671574" y="307339"/>
                </a:moveTo>
                <a:lnTo>
                  <a:pt x="34544" y="307339"/>
                </a:lnTo>
                <a:lnTo>
                  <a:pt x="31750" y="310133"/>
                </a:lnTo>
                <a:lnTo>
                  <a:pt x="31750" y="567435"/>
                </a:lnTo>
                <a:lnTo>
                  <a:pt x="34544" y="570357"/>
                </a:lnTo>
                <a:lnTo>
                  <a:pt x="41529" y="570357"/>
                </a:lnTo>
                <a:lnTo>
                  <a:pt x="44450" y="567435"/>
                </a:lnTo>
                <a:lnTo>
                  <a:pt x="44450" y="320039"/>
                </a:lnTo>
                <a:lnTo>
                  <a:pt x="38100" y="320039"/>
                </a:lnTo>
                <a:lnTo>
                  <a:pt x="44450" y="313689"/>
                </a:lnTo>
                <a:lnTo>
                  <a:pt x="1671574" y="313689"/>
                </a:lnTo>
                <a:lnTo>
                  <a:pt x="1671574" y="307339"/>
                </a:lnTo>
                <a:close/>
              </a:path>
              <a:path w="1716404" h="628014">
                <a:moveTo>
                  <a:pt x="76200" y="551307"/>
                </a:moveTo>
                <a:lnTo>
                  <a:pt x="44450" y="551307"/>
                </a:lnTo>
                <a:lnTo>
                  <a:pt x="44450" y="567435"/>
                </a:lnTo>
                <a:lnTo>
                  <a:pt x="41529" y="570357"/>
                </a:lnTo>
                <a:lnTo>
                  <a:pt x="66675" y="570357"/>
                </a:lnTo>
                <a:lnTo>
                  <a:pt x="76200" y="551307"/>
                </a:lnTo>
                <a:close/>
              </a:path>
              <a:path w="1716404" h="628014">
                <a:moveTo>
                  <a:pt x="44450" y="313689"/>
                </a:moveTo>
                <a:lnTo>
                  <a:pt x="38100" y="320039"/>
                </a:lnTo>
                <a:lnTo>
                  <a:pt x="44450" y="320039"/>
                </a:lnTo>
                <a:lnTo>
                  <a:pt x="44450" y="313689"/>
                </a:lnTo>
                <a:close/>
              </a:path>
              <a:path w="1716404" h="628014">
                <a:moveTo>
                  <a:pt x="1684274" y="307339"/>
                </a:moveTo>
                <a:lnTo>
                  <a:pt x="1677924" y="307339"/>
                </a:lnTo>
                <a:lnTo>
                  <a:pt x="1671574" y="313689"/>
                </a:lnTo>
                <a:lnTo>
                  <a:pt x="44450" y="313689"/>
                </a:lnTo>
                <a:lnTo>
                  <a:pt x="44450" y="320039"/>
                </a:lnTo>
                <a:lnTo>
                  <a:pt x="1681480" y="320039"/>
                </a:lnTo>
                <a:lnTo>
                  <a:pt x="1684274" y="317245"/>
                </a:lnTo>
                <a:lnTo>
                  <a:pt x="1684274" y="307339"/>
                </a:lnTo>
                <a:close/>
              </a:path>
              <a:path w="1716404" h="628014">
                <a:moveTo>
                  <a:pt x="1681480" y="57150"/>
                </a:moveTo>
                <a:lnTo>
                  <a:pt x="1674495" y="57150"/>
                </a:lnTo>
                <a:lnTo>
                  <a:pt x="1671574" y="59943"/>
                </a:lnTo>
                <a:lnTo>
                  <a:pt x="1671574" y="313689"/>
                </a:lnTo>
                <a:lnTo>
                  <a:pt x="1677924" y="307339"/>
                </a:lnTo>
                <a:lnTo>
                  <a:pt x="1684274" y="307339"/>
                </a:lnTo>
                <a:lnTo>
                  <a:pt x="1684274" y="59943"/>
                </a:lnTo>
                <a:lnTo>
                  <a:pt x="1681480" y="57150"/>
                </a:lnTo>
                <a:close/>
              </a:path>
              <a:path w="1716404" h="628014">
                <a:moveTo>
                  <a:pt x="1677924" y="0"/>
                </a:moveTo>
                <a:lnTo>
                  <a:pt x="1639824" y="76200"/>
                </a:lnTo>
                <a:lnTo>
                  <a:pt x="1671574" y="76200"/>
                </a:lnTo>
                <a:lnTo>
                  <a:pt x="1671574" y="59943"/>
                </a:lnTo>
                <a:lnTo>
                  <a:pt x="1674495" y="57150"/>
                </a:lnTo>
                <a:lnTo>
                  <a:pt x="1706499" y="57150"/>
                </a:lnTo>
                <a:lnTo>
                  <a:pt x="1677924" y="0"/>
                </a:lnTo>
                <a:close/>
              </a:path>
              <a:path w="1716404" h="628014">
                <a:moveTo>
                  <a:pt x="1706499" y="57150"/>
                </a:moveTo>
                <a:lnTo>
                  <a:pt x="1681480" y="57150"/>
                </a:lnTo>
                <a:lnTo>
                  <a:pt x="1684274" y="59943"/>
                </a:lnTo>
                <a:lnTo>
                  <a:pt x="1684274" y="76200"/>
                </a:lnTo>
                <a:lnTo>
                  <a:pt x="1716024" y="76200"/>
                </a:lnTo>
                <a:lnTo>
                  <a:pt x="1706499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BB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5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8D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62909" y="1177797"/>
            <a:ext cx="60617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dirty="0">
                <a:latin typeface="Corbel"/>
                <a:cs typeface="Corbel"/>
              </a:rPr>
              <a:t>PROGRAMMING </a:t>
            </a:r>
            <a:r>
              <a:rPr u="heavy" spc="-5" dirty="0">
                <a:latin typeface="Corbel"/>
                <a:cs typeface="Corbel"/>
              </a:rPr>
              <a:t>the</a:t>
            </a:r>
            <a:r>
              <a:rPr u="heavy" spc="-80" dirty="0">
                <a:latin typeface="Corbel"/>
                <a:cs typeface="Corbel"/>
              </a:rPr>
              <a:t> </a:t>
            </a:r>
            <a:r>
              <a:rPr u="heavy" spc="-60" dirty="0">
                <a:latin typeface="Corbel"/>
                <a:cs typeface="Corbel"/>
              </a:rPr>
              <a:t>PLC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66494" y="2671064"/>
            <a:ext cx="9838690" cy="21922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6385">
              <a:lnSpc>
                <a:spcPct val="100000"/>
              </a:lnSpc>
              <a:spcBef>
                <a:spcPts val="95"/>
              </a:spcBef>
              <a:buClr>
                <a:srgbClr val="8D1515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b="1" u="heavy" spc="-5" dirty="0">
                <a:latin typeface="Corbel"/>
                <a:cs typeface="Corbel"/>
              </a:rPr>
              <a:t>Programming </a:t>
            </a:r>
            <a:r>
              <a:rPr sz="2800" b="1" u="heavy" spc="-10" dirty="0">
                <a:latin typeface="Corbel"/>
                <a:cs typeface="Corbel"/>
              </a:rPr>
              <a:t>language </a:t>
            </a:r>
            <a:r>
              <a:rPr sz="2800" b="1" u="heavy" spc="-5" dirty="0">
                <a:latin typeface="Corbel"/>
                <a:cs typeface="Corbel"/>
              </a:rPr>
              <a:t>used</a:t>
            </a:r>
            <a:r>
              <a:rPr sz="2800" spc="-5" dirty="0">
                <a:latin typeface="Corbel"/>
                <a:cs typeface="Corbel"/>
              </a:rPr>
              <a:t>:</a:t>
            </a:r>
            <a:endParaRPr lang="en-US" sz="2800" spc="-5" dirty="0">
              <a:latin typeface="Corbel"/>
              <a:cs typeface="Corbel"/>
            </a:endParaRPr>
          </a:p>
          <a:p>
            <a:pPr marL="299085" marR="5080" indent="-286385">
              <a:lnSpc>
                <a:spcPct val="100000"/>
              </a:lnSpc>
              <a:spcBef>
                <a:spcPts val="95"/>
              </a:spcBef>
              <a:buClr>
                <a:srgbClr val="8D1515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 LADDER language</a:t>
            </a:r>
            <a:r>
              <a:rPr lang="en-US" sz="2800" spc="-5" dirty="0">
                <a:latin typeface="Corbel"/>
                <a:cs typeface="Corbel"/>
              </a:rPr>
              <a:t>-</a:t>
            </a:r>
            <a:r>
              <a:rPr sz="2800" spc="-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The  </a:t>
            </a:r>
            <a:r>
              <a:rPr sz="2800" spc="-5" dirty="0">
                <a:latin typeface="Corbel"/>
                <a:cs typeface="Corbel"/>
              </a:rPr>
              <a:t>programming </a:t>
            </a:r>
            <a:r>
              <a:rPr sz="2800" spc="-10" dirty="0">
                <a:latin typeface="Corbel"/>
                <a:cs typeface="Corbel"/>
              </a:rPr>
              <a:t>can </a:t>
            </a:r>
            <a:r>
              <a:rPr sz="2800" spc="-5" dirty="0">
                <a:latin typeface="Corbel"/>
                <a:cs typeface="Corbel"/>
              </a:rPr>
              <a:t>be done with </a:t>
            </a:r>
            <a:r>
              <a:rPr sz="2800" spc="-10" dirty="0">
                <a:latin typeface="Corbel"/>
                <a:cs typeface="Corbel"/>
              </a:rPr>
              <a:t>simple contacts that simulate the  opening </a:t>
            </a:r>
            <a:r>
              <a:rPr sz="2800" spc="-5" dirty="0">
                <a:latin typeface="Corbel"/>
                <a:cs typeface="Corbel"/>
              </a:rPr>
              <a:t>and </a:t>
            </a:r>
            <a:r>
              <a:rPr sz="2800" spc="-10" dirty="0">
                <a:latin typeface="Corbel"/>
                <a:cs typeface="Corbel"/>
              </a:rPr>
              <a:t>closing </a:t>
            </a:r>
            <a:r>
              <a:rPr sz="2800" spc="-5" dirty="0">
                <a:latin typeface="Corbel"/>
                <a:cs typeface="Corbel"/>
              </a:rPr>
              <a:t>of relays, </a:t>
            </a:r>
            <a:r>
              <a:rPr sz="2800" spc="-10" dirty="0">
                <a:latin typeface="Corbel"/>
                <a:cs typeface="Corbel"/>
              </a:rPr>
              <a:t>counters, timers, shift </a:t>
            </a:r>
            <a:r>
              <a:rPr sz="2800" spc="-5" dirty="0">
                <a:latin typeface="Corbel"/>
                <a:cs typeface="Corbel"/>
              </a:rPr>
              <a:t>registers  and other math</a:t>
            </a:r>
            <a:r>
              <a:rPr sz="2800" spc="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operations.</a:t>
            </a:r>
            <a:endParaRPr lang="en-US" sz="2800" spc="-10" dirty="0">
              <a:latin typeface="Corbel"/>
              <a:cs typeface="Corbel"/>
            </a:endParaRPr>
          </a:p>
          <a:p>
            <a:pPr marL="299085" marR="5080" indent="-286385">
              <a:lnSpc>
                <a:spcPct val="100000"/>
              </a:lnSpc>
              <a:spcBef>
                <a:spcPts val="95"/>
              </a:spcBef>
              <a:buClr>
                <a:srgbClr val="8D1515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endParaRPr sz="28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631316"/>
            <a:ext cx="57689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START- </a:t>
            </a:r>
            <a:r>
              <a:rPr spc="-20" dirty="0"/>
              <a:t>STOP</a:t>
            </a:r>
            <a:r>
              <a:rPr spc="-100" dirty="0"/>
              <a:t> </a:t>
            </a:r>
            <a:r>
              <a:rPr dirty="0"/>
              <a:t>LOGIC:</a:t>
            </a:r>
          </a:p>
        </p:txBody>
      </p:sp>
      <p:sp>
        <p:nvSpPr>
          <p:cNvPr id="3" name="object 3"/>
          <p:cNvSpPr/>
          <p:nvPr/>
        </p:nvSpPr>
        <p:spPr>
          <a:xfrm>
            <a:off x="3223895" y="1292352"/>
            <a:ext cx="5742940" cy="0"/>
          </a:xfrm>
          <a:custGeom>
            <a:avLst/>
            <a:gdLst/>
            <a:ahLst/>
            <a:cxnLst/>
            <a:rect l="l" t="t" r="r" b="b"/>
            <a:pathLst>
              <a:path w="5742940">
                <a:moveTo>
                  <a:pt x="0" y="0"/>
                </a:moveTo>
                <a:lnTo>
                  <a:pt x="5742432" y="0"/>
                </a:lnTo>
              </a:path>
            </a:pathLst>
          </a:custGeom>
          <a:ln w="5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93494"/>
            <a:ext cx="1203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spc="-22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R</a:t>
            </a:r>
            <a:r>
              <a:rPr sz="2800" spc="-18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2590" y="1793494"/>
            <a:ext cx="4859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954" algn="l"/>
              </a:tabLst>
            </a:pPr>
            <a:r>
              <a:rPr sz="2800" u="heavy" spc="-10" dirty="0">
                <a:latin typeface="Calibri"/>
                <a:cs typeface="Calibri"/>
              </a:rPr>
              <a:t>ha</a:t>
            </a:r>
            <a:r>
              <a:rPr sz="2800" u="heavy" spc="-50" dirty="0">
                <a:latin typeface="Calibri"/>
                <a:cs typeface="Calibri"/>
              </a:rPr>
              <a:t>r</a:t>
            </a:r>
            <a:r>
              <a:rPr sz="2800" u="heavy" spc="-10" dirty="0">
                <a:latin typeface="Calibri"/>
                <a:cs typeface="Calibri"/>
              </a:rPr>
              <a:t>d</a:t>
            </a:r>
            <a:r>
              <a:rPr sz="2800" u="heavy" spc="-45" dirty="0">
                <a:latin typeface="Calibri"/>
                <a:cs typeface="Calibri"/>
              </a:rPr>
              <a:t>w</a:t>
            </a:r>
            <a:r>
              <a:rPr sz="2800" u="heavy" spc="-10" dirty="0">
                <a:latin typeface="Calibri"/>
                <a:cs typeface="Calibri"/>
              </a:rPr>
              <a:t>a</a:t>
            </a:r>
            <a:r>
              <a:rPr sz="2800" u="heavy" spc="-45" dirty="0">
                <a:latin typeface="Calibri"/>
                <a:cs typeface="Calibri"/>
              </a:rPr>
              <a:t>r</a:t>
            </a:r>
            <a:r>
              <a:rPr sz="2800" u="heavy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u="heavy" spc="-10" dirty="0">
                <a:latin typeface="Calibri"/>
                <a:cs typeface="Calibri"/>
              </a:rPr>
              <a:t>soft</a:t>
            </a:r>
            <a:r>
              <a:rPr sz="2800" u="heavy" spc="-40" dirty="0">
                <a:latin typeface="Calibri"/>
                <a:cs typeface="Calibri"/>
              </a:rPr>
              <a:t>w</a:t>
            </a:r>
            <a:r>
              <a:rPr sz="2800" u="heavy" spc="-10" dirty="0">
                <a:latin typeface="Calibri"/>
                <a:cs typeface="Calibri"/>
              </a:rPr>
              <a:t>a</a:t>
            </a:r>
            <a:r>
              <a:rPr sz="2800" u="heavy" spc="-45" dirty="0">
                <a:latin typeface="Calibri"/>
                <a:cs typeface="Calibri"/>
              </a:rPr>
              <a:t>r</a:t>
            </a:r>
            <a:r>
              <a:rPr sz="2800" u="heavy" spc="-5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2221124"/>
            <a:ext cx="2230120" cy="25806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R="18415" algn="r">
              <a:lnSpc>
                <a:spcPct val="100000"/>
              </a:lnSpc>
              <a:spcBef>
                <a:spcPts val="760"/>
              </a:spcBef>
            </a:pPr>
            <a:r>
              <a:rPr sz="2800" spc="-10" dirty="0">
                <a:latin typeface="Calibri"/>
                <a:cs typeface="Calibri"/>
              </a:rPr>
              <a:t>NO</a:t>
            </a:r>
            <a:r>
              <a:rPr sz="2800" spc="-5" dirty="0"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  <a:p>
            <a:pPr marR="64135" algn="r">
              <a:lnSpc>
                <a:spcPct val="100000"/>
              </a:lnSpc>
              <a:spcBef>
                <a:spcPts val="660"/>
              </a:spcBef>
            </a:pP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1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050">
              <a:latin typeface="Times New Roman"/>
              <a:cs typeface="Times New Roman"/>
            </a:endParaRPr>
          </a:p>
          <a:p>
            <a:pPr marL="241300" marR="5080" indent="-228600" algn="r">
              <a:lnSpc>
                <a:spcPct val="100000"/>
              </a:lnSpc>
              <a:buFont typeface="Arial"/>
              <a:buChar char="•"/>
              <a:tabLst>
                <a:tab pos="241300" algn="l"/>
                <a:tab pos="1630680" algn="l"/>
              </a:tabLst>
            </a:pP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spc="-85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15" dirty="0">
                <a:latin typeface="Calibri"/>
                <a:cs typeface="Calibri"/>
              </a:rPr>
              <a:t>P</a:t>
            </a:r>
            <a:r>
              <a:rPr sz="2800" spc="-5" dirty="0">
                <a:latin typeface="Calibri"/>
                <a:cs typeface="Calibri"/>
              </a:rPr>
              <a:t>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NO-</a:t>
            </a:r>
            <a:endParaRPr sz="2800">
              <a:latin typeface="Calibri"/>
              <a:cs typeface="Calibri"/>
            </a:endParaRPr>
          </a:p>
          <a:p>
            <a:pPr marR="64135" algn="r">
              <a:lnSpc>
                <a:spcPct val="100000"/>
              </a:lnSpc>
              <a:spcBef>
                <a:spcPts val="660"/>
              </a:spcBef>
            </a:pP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1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2122" y="2248204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31176" y="2248204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32122" y="2810687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31176" y="2813862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14444" y="3000755"/>
            <a:ext cx="123189" cy="237490"/>
          </a:xfrm>
          <a:custGeom>
            <a:avLst/>
            <a:gdLst/>
            <a:ahLst/>
            <a:cxnLst/>
            <a:rect l="l" t="t" r="r" b="b"/>
            <a:pathLst>
              <a:path w="123189" h="237489">
                <a:moveTo>
                  <a:pt x="0" y="237490"/>
                </a:moveTo>
                <a:lnTo>
                  <a:pt x="122808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13496" y="3006470"/>
            <a:ext cx="123189" cy="237490"/>
          </a:xfrm>
          <a:custGeom>
            <a:avLst/>
            <a:gdLst/>
            <a:ahLst/>
            <a:cxnLst/>
            <a:rect l="l" t="t" r="r" b="b"/>
            <a:pathLst>
              <a:path w="123190" h="237489">
                <a:moveTo>
                  <a:pt x="0" y="237362"/>
                </a:moveTo>
                <a:lnTo>
                  <a:pt x="122808" y="0"/>
                </a:lnTo>
              </a:path>
            </a:pathLst>
          </a:custGeom>
          <a:ln w="1269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48378" y="3714292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48378" y="4244517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31176" y="3710736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63815" y="4273219"/>
            <a:ext cx="810374" cy="855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72348" y="3955796"/>
            <a:ext cx="123189" cy="237490"/>
          </a:xfrm>
          <a:custGeom>
            <a:avLst/>
            <a:gdLst/>
            <a:ahLst/>
            <a:cxnLst/>
            <a:rect l="l" t="t" r="r" b="b"/>
            <a:pathLst>
              <a:path w="123190" h="237489">
                <a:moveTo>
                  <a:pt x="0" y="237489"/>
                </a:moveTo>
                <a:lnTo>
                  <a:pt x="122935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11015" y="4427601"/>
            <a:ext cx="123189" cy="237490"/>
          </a:xfrm>
          <a:custGeom>
            <a:avLst/>
            <a:gdLst/>
            <a:ahLst/>
            <a:cxnLst/>
            <a:rect l="l" t="t" r="r" b="b"/>
            <a:pathLst>
              <a:path w="123189" h="237489">
                <a:moveTo>
                  <a:pt x="0" y="237490"/>
                </a:moveTo>
                <a:lnTo>
                  <a:pt x="122809" y="0"/>
                </a:lnTo>
              </a:path>
            </a:pathLst>
          </a:custGeom>
          <a:ln w="1269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B050-47C4-42BE-B290-FE7CF684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695266" cy="1752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Software for the Programing of    Allen  Bradley PLC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F5A0B-A24B-4D60-8676-3EA4330AE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590800"/>
            <a:ext cx="8596668" cy="324147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RSLinx Classic( Driver Software)</a:t>
            </a:r>
          </a:p>
          <a:p>
            <a:r>
              <a:rPr lang="en-US" sz="2800" dirty="0"/>
              <a:t>RSLogix 500 English(Programing Software)</a:t>
            </a:r>
          </a:p>
          <a:p>
            <a:r>
              <a:rPr lang="en-US" sz="2800" dirty="0"/>
              <a:t>RS Logix Emulate 500(Simulation Software)</a:t>
            </a:r>
          </a:p>
        </p:txBody>
      </p:sp>
    </p:spTree>
    <p:extLst>
      <p:ext uri="{BB962C8B-B14F-4D97-AF65-F5344CB8AC3E}">
        <p14:creationId xmlns:p14="http://schemas.microsoft.com/office/powerpoint/2010/main" val="801571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8AB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455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6886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961635" y="491693"/>
            <a:ext cx="2909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latin typeface="Corbel"/>
                <a:cs typeface="Corbel"/>
              </a:rPr>
              <a:t>Advantages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59407" y="1475358"/>
            <a:ext cx="9233535" cy="472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10" dirty="0">
                <a:latin typeface="Corbel"/>
                <a:cs typeface="Corbel"/>
              </a:rPr>
              <a:t>Reliability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operation.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10" dirty="0">
                <a:latin typeface="Corbel"/>
                <a:cs typeface="Corbel"/>
              </a:rPr>
              <a:t>Flexibility </a:t>
            </a:r>
            <a:r>
              <a:rPr sz="2400" dirty="0">
                <a:latin typeface="Corbel"/>
                <a:cs typeface="Corbel"/>
              </a:rPr>
              <a:t>in </a:t>
            </a:r>
            <a:r>
              <a:rPr sz="2400" spc="-5" dirty="0">
                <a:latin typeface="Corbel"/>
                <a:cs typeface="Corbel"/>
              </a:rPr>
              <a:t>control </a:t>
            </a:r>
            <a:r>
              <a:rPr sz="2400" dirty="0">
                <a:latin typeface="Corbel"/>
                <a:cs typeface="Corbel"/>
              </a:rPr>
              <a:t>and programming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techniques.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10" dirty="0">
                <a:latin typeface="Corbel"/>
                <a:cs typeface="Corbel"/>
              </a:rPr>
              <a:t>Online </a:t>
            </a:r>
            <a:r>
              <a:rPr sz="2400" spc="-5" dirty="0">
                <a:latin typeface="Corbel"/>
                <a:cs typeface="Corbel"/>
              </a:rPr>
              <a:t>offline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modifications.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Small physical size, shorter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" dirty="0">
                <a:latin typeface="Corbel"/>
                <a:cs typeface="Corbel"/>
              </a:rPr>
              <a:t> time.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dirty="0">
                <a:latin typeface="Corbel"/>
                <a:cs typeface="Corbel"/>
              </a:rPr>
              <a:t>In </a:t>
            </a:r>
            <a:r>
              <a:rPr sz="2400" spc="-5" dirty="0">
                <a:latin typeface="Corbel"/>
                <a:cs typeface="Corbel"/>
              </a:rPr>
              <a:t>house </a:t>
            </a:r>
            <a:r>
              <a:rPr sz="2400" spc="-10" dirty="0">
                <a:latin typeface="Corbel"/>
                <a:cs typeface="Corbel"/>
              </a:rPr>
              <a:t>simulation </a:t>
            </a:r>
            <a:r>
              <a:rPr sz="2400" dirty="0">
                <a:latin typeface="Corbel"/>
                <a:cs typeface="Corbel"/>
              </a:rPr>
              <a:t>and </a:t>
            </a:r>
            <a:r>
              <a:rPr sz="2400" spc="-10" dirty="0">
                <a:latin typeface="Corbel"/>
                <a:cs typeface="Corbel"/>
              </a:rPr>
              <a:t>testing </a:t>
            </a:r>
            <a:r>
              <a:rPr sz="2400" spc="-5" dirty="0">
                <a:latin typeface="Corbel"/>
                <a:cs typeface="Corbel"/>
              </a:rPr>
              <a:t>of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project.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90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dirty="0">
                <a:latin typeface="Corbel"/>
                <a:cs typeface="Corbel"/>
              </a:rPr>
              <a:t>Speed </a:t>
            </a:r>
            <a:r>
              <a:rPr sz="2400" spc="-5" dirty="0">
                <a:latin typeface="Corbel"/>
                <a:cs typeface="Corbel"/>
              </a:rPr>
              <a:t>of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operation.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Ease of maintenance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troubleshooting.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Ability to communicate </a:t>
            </a:r>
            <a:r>
              <a:rPr sz="2400" dirty="0">
                <a:latin typeface="Corbel"/>
                <a:cs typeface="Corbel"/>
              </a:rPr>
              <a:t>and </a:t>
            </a:r>
            <a:r>
              <a:rPr sz="2400" spc="-10" dirty="0">
                <a:latin typeface="Corbel"/>
                <a:cs typeface="Corbel"/>
              </a:rPr>
              <a:t>networking </a:t>
            </a:r>
            <a:r>
              <a:rPr sz="2400" spc="-5" dirty="0">
                <a:latin typeface="Corbel"/>
                <a:cs typeface="Corbel"/>
              </a:rPr>
              <a:t>with computer system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plant.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90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Documentation and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security.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688627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dirty="0">
                <a:latin typeface="Corbel"/>
                <a:cs typeface="Corbel"/>
              </a:rPr>
              <a:t>Designed </a:t>
            </a:r>
            <a:r>
              <a:rPr sz="2400" spc="-5" dirty="0">
                <a:latin typeface="Corbel"/>
                <a:cs typeface="Corbel"/>
              </a:rPr>
              <a:t>to </a:t>
            </a:r>
            <a:r>
              <a:rPr sz="2400" dirty="0">
                <a:latin typeface="Corbel"/>
                <a:cs typeface="Corbel"/>
              </a:rPr>
              <a:t>work </a:t>
            </a:r>
            <a:r>
              <a:rPr sz="2400" spc="-5" dirty="0">
                <a:latin typeface="Corbel"/>
                <a:cs typeface="Corbel"/>
              </a:rPr>
              <a:t>in all types of industrial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conditions.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526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7C92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939410" y="491693"/>
            <a:ext cx="3030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latin typeface="Corbel"/>
                <a:cs typeface="Corbel"/>
              </a:rPr>
              <a:t>Applications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24050" y="1899920"/>
            <a:ext cx="5812155" cy="424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Material Handling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Packaging</a:t>
            </a:r>
            <a:r>
              <a:rPr sz="2400" spc="-1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Applications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General Industrial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Machinery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90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10" dirty="0">
                <a:latin typeface="Corbel"/>
                <a:cs typeface="Corbel"/>
              </a:rPr>
              <a:t>Printing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Food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Beverage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Pharmaceutical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90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Water Wastewater </a:t>
            </a:r>
            <a:r>
              <a:rPr sz="2400" dirty="0">
                <a:latin typeface="Corbel"/>
                <a:cs typeface="Corbel"/>
              </a:rPr>
              <a:t>/</a:t>
            </a:r>
            <a:r>
              <a:rPr sz="2400" spc="-19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SCADA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10" dirty="0">
                <a:latin typeface="Corbel"/>
                <a:cs typeface="Corbel"/>
              </a:rPr>
              <a:t>Clutch/Brake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control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Clr>
                <a:srgbClr val="7C9262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20" dirty="0">
                <a:latin typeface="Corbel"/>
                <a:cs typeface="Corbel"/>
              </a:rPr>
              <a:t>Position </a:t>
            </a:r>
            <a:r>
              <a:rPr sz="2400" spc="-5" dirty="0">
                <a:latin typeface="Corbel"/>
                <a:cs typeface="Corbel"/>
              </a:rPr>
              <a:t>Control </a:t>
            </a:r>
            <a:r>
              <a:rPr sz="2400" dirty="0">
                <a:latin typeface="Corbel"/>
                <a:cs typeface="Corbel"/>
              </a:rPr>
              <a:t>- </a:t>
            </a:r>
            <a:r>
              <a:rPr sz="2400" spc="-5" dirty="0">
                <a:latin typeface="Corbel"/>
                <a:cs typeface="Corbel"/>
              </a:rPr>
              <a:t>Pick-and-place </a:t>
            </a:r>
            <a:r>
              <a:rPr sz="2400" dirty="0">
                <a:latin typeface="Corbel"/>
                <a:cs typeface="Corbel"/>
              </a:rPr>
              <a:t>/</a:t>
            </a:r>
            <a:r>
              <a:rPr sz="2400" spc="-1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Conveyor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595365" y="842899"/>
            <a:ext cx="17957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latin typeface="Corbel"/>
                <a:cs typeface="Corbel"/>
              </a:rPr>
              <a:t>SCADA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63116" y="2377567"/>
            <a:ext cx="9783445" cy="3690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A6A6A6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b="1" u="heavy" spc="-5" dirty="0">
                <a:latin typeface="Corbel"/>
                <a:cs typeface="Corbel"/>
              </a:rPr>
              <a:t>S</a:t>
            </a:r>
            <a:r>
              <a:rPr sz="2800" spc="-5" dirty="0">
                <a:latin typeface="Corbel"/>
                <a:cs typeface="Corbel"/>
              </a:rPr>
              <a:t>upervisory </a:t>
            </a:r>
            <a:r>
              <a:rPr sz="2800" b="1" u="heavy" spc="-10" dirty="0">
                <a:latin typeface="Corbel"/>
                <a:cs typeface="Corbel"/>
              </a:rPr>
              <a:t>C</a:t>
            </a:r>
            <a:r>
              <a:rPr sz="2800" spc="-10" dirty="0">
                <a:latin typeface="Corbel"/>
                <a:cs typeface="Corbel"/>
              </a:rPr>
              <a:t>ontrol </a:t>
            </a:r>
            <a:r>
              <a:rPr sz="2800" b="1" u="heavy" spc="-10" dirty="0">
                <a:latin typeface="Corbel"/>
                <a:cs typeface="Corbel"/>
              </a:rPr>
              <a:t>A</a:t>
            </a:r>
            <a:r>
              <a:rPr sz="2800" spc="-10" dirty="0">
                <a:latin typeface="Corbel"/>
                <a:cs typeface="Corbel"/>
              </a:rPr>
              <a:t>nd </a:t>
            </a:r>
            <a:r>
              <a:rPr sz="2800" b="1" u="heavy" spc="-5" dirty="0">
                <a:latin typeface="Corbel"/>
                <a:cs typeface="Corbel"/>
              </a:rPr>
              <a:t>D</a:t>
            </a:r>
            <a:r>
              <a:rPr sz="2800" spc="-5" dirty="0">
                <a:latin typeface="Corbel"/>
                <a:cs typeface="Corbel"/>
              </a:rPr>
              <a:t>ata</a:t>
            </a:r>
            <a:r>
              <a:rPr sz="2800" spc="25" dirty="0">
                <a:latin typeface="Corbel"/>
                <a:cs typeface="Corbel"/>
              </a:rPr>
              <a:t> </a:t>
            </a:r>
            <a:r>
              <a:rPr sz="2800" b="1" u="heavy" spc="-5" dirty="0">
                <a:latin typeface="Corbel"/>
                <a:cs typeface="Corbel"/>
              </a:rPr>
              <a:t>A</a:t>
            </a:r>
            <a:r>
              <a:rPr sz="2800" spc="-5" dirty="0">
                <a:latin typeface="Corbel"/>
                <a:cs typeface="Corbel"/>
              </a:rPr>
              <a:t>cquisition</a:t>
            </a:r>
            <a:endParaRPr sz="2800">
              <a:latin typeface="Corbel"/>
              <a:cs typeface="Corbel"/>
            </a:endParaRPr>
          </a:p>
          <a:p>
            <a:pPr marL="299085" marR="196215" indent="-286385">
              <a:lnSpc>
                <a:spcPct val="100000"/>
              </a:lnSpc>
              <a:spcBef>
                <a:spcPts val="1270"/>
              </a:spcBef>
              <a:buClr>
                <a:srgbClr val="A6A6A6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It is a </a:t>
            </a:r>
            <a:r>
              <a:rPr sz="2800" spc="-10" dirty="0">
                <a:latin typeface="Corbel"/>
                <a:cs typeface="Corbel"/>
              </a:rPr>
              <a:t>software </a:t>
            </a:r>
            <a:r>
              <a:rPr sz="2800" spc="-5" dirty="0">
                <a:latin typeface="Corbel"/>
                <a:cs typeface="Corbel"/>
              </a:rPr>
              <a:t>through which we </a:t>
            </a:r>
            <a:r>
              <a:rPr sz="2800" spc="-10" dirty="0">
                <a:latin typeface="Corbel"/>
                <a:cs typeface="Corbel"/>
              </a:rPr>
              <a:t>can create </a:t>
            </a:r>
            <a:r>
              <a:rPr sz="2800" spc="-5" dirty="0">
                <a:latin typeface="Corbel"/>
                <a:cs typeface="Corbel"/>
              </a:rPr>
              <a:t>visualization of any  industrial</a:t>
            </a:r>
            <a:r>
              <a:rPr sz="2800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process.</a:t>
            </a:r>
            <a:endParaRPr sz="2800">
              <a:latin typeface="Corbel"/>
              <a:cs typeface="Corbel"/>
            </a:endParaRPr>
          </a:p>
          <a:p>
            <a:pPr marL="299085" marR="5080" indent="-286385">
              <a:lnSpc>
                <a:spcPct val="100000"/>
              </a:lnSpc>
              <a:spcBef>
                <a:spcPts val="1270"/>
              </a:spcBef>
              <a:buClr>
                <a:srgbClr val="A6A6A6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25" dirty="0">
                <a:latin typeface="Corbel"/>
                <a:cs typeface="Corbel"/>
              </a:rPr>
              <a:t>Earlier, </a:t>
            </a:r>
            <a:r>
              <a:rPr sz="2800" spc="-45" dirty="0">
                <a:latin typeface="Corbel"/>
                <a:cs typeface="Corbel"/>
              </a:rPr>
              <a:t>PLC’s </a:t>
            </a:r>
            <a:r>
              <a:rPr sz="2800" spc="-5" dirty="0">
                <a:latin typeface="Corbel"/>
                <a:cs typeface="Corbel"/>
              </a:rPr>
              <a:t>were programmed, download the program in it and  it used to run for</a:t>
            </a:r>
            <a:r>
              <a:rPr sz="2800" spc="0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years</a:t>
            </a:r>
            <a:endParaRPr sz="28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65"/>
              </a:spcBef>
              <a:buClr>
                <a:srgbClr val="A6A6A6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10" dirty="0">
                <a:latin typeface="Corbel"/>
                <a:cs typeface="Corbel"/>
              </a:rPr>
              <a:t>The </a:t>
            </a:r>
            <a:r>
              <a:rPr sz="2800" spc="-5" dirty="0">
                <a:latin typeface="Corbel"/>
                <a:cs typeface="Corbel"/>
              </a:rPr>
              <a:t>problem- no </a:t>
            </a:r>
            <a:r>
              <a:rPr sz="2800" spc="-10" dirty="0">
                <a:latin typeface="Corbel"/>
                <a:cs typeface="Corbel"/>
              </a:rPr>
              <a:t>one </a:t>
            </a:r>
            <a:r>
              <a:rPr sz="2800" spc="-5" dirty="0">
                <a:latin typeface="Corbel"/>
                <a:cs typeface="Corbel"/>
              </a:rPr>
              <a:t>knew </a:t>
            </a:r>
            <a:r>
              <a:rPr sz="2800" spc="-20" dirty="0">
                <a:latin typeface="Corbel"/>
                <a:cs typeface="Corbel"/>
              </a:rPr>
              <a:t>what’s </a:t>
            </a:r>
            <a:r>
              <a:rPr sz="2800" spc="-5" dirty="0">
                <a:latin typeface="Corbel"/>
                <a:cs typeface="Corbel"/>
              </a:rPr>
              <a:t>happening inside </a:t>
            </a:r>
            <a:r>
              <a:rPr sz="2800" spc="-10" dirty="0">
                <a:latin typeface="Corbel"/>
                <a:cs typeface="Corbel"/>
              </a:rPr>
              <a:t>the</a:t>
            </a:r>
            <a:r>
              <a:rPr sz="2800" spc="90" dirty="0">
                <a:latin typeface="Corbel"/>
                <a:cs typeface="Corbel"/>
              </a:rPr>
              <a:t> </a:t>
            </a:r>
            <a:r>
              <a:rPr sz="2800" spc="-35" dirty="0">
                <a:latin typeface="Corbel"/>
                <a:cs typeface="Corbel"/>
              </a:rPr>
              <a:t>PLC.</a:t>
            </a:r>
            <a:endParaRPr sz="28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70"/>
              </a:spcBef>
              <a:buClr>
                <a:srgbClr val="A6A6A6"/>
              </a:buClr>
              <a:buSzPct val="144642"/>
              <a:buFont typeface="Arial"/>
              <a:buChar char="•"/>
              <a:tabLst>
                <a:tab pos="299720" algn="l"/>
              </a:tabLst>
            </a:pPr>
            <a:r>
              <a:rPr sz="2800" spc="-5" dirty="0">
                <a:latin typeface="Corbel"/>
                <a:cs typeface="Corbel"/>
              </a:rPr>
              <a:t>Solution=</a:t>
            </a:r>
            <a:r>
              <a:rPr sz="2800" spc="-10" dirty="0">
                <a:latin typeface="Corbel"/>
                <a:cs typeface="Corbel"/>
              </a:rPr>
              <a:t> </a:t>
            </a:r>
            <a:r>
              <a:rPr sz="2800" spc="-20" dirty="0">
                <a:latin typeface="Corbel"/>
                <a:cs typeface="Corbel"/>
              </a:rPr>
              <a:t>PLC+SCADA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620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66413" y="877950"/>
            <a:ext cx="4851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heavy" spc="-35" dirty="0">
                <a:latin typeface="Corbel"/>
                <a:cs typeface="Corbel"/>
              </a:rPr>
              <a:t>FEATURES </a:t>
            </a:r>
            <a:r>
              <a:rPr sz="4000" u="heavy" spc="-10" dirty="0">
                <a:latin typeface="Corbel"/>
                <a:cs typeface="Corbel"/>
              </a:rPr>
              <a:t>OF</a:t>
            </a:r>
            <a:r>
              <a:rPr sz="4000" u="heavy" spc="-245" dirty="0">
                <a:latin typeface="Corbel"/>
                <a:cs typeface="Corbel"/>
              </a:rPr>
              <a:t> </a:t>
            </a:r>
            <a:r>
              <a:rPr sz="4000" u="heavy" spc="-10" dirty="0">
                <a:latin typeface="Corbel"/>
                <a:cs typeface="Corbel"/>
              </a:rPr>
              <a:t>SCADA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0755" y="2352801"/>
            <a:ext cx="5374005" cy="2844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A6A6A6"/>
              </a:buClr>
              <a:buSzPct val="143750"/>
              <a:tabLst>
                <a:tab pos="299720" algn="l"/>
              </a:tabLst>
            </a:pPr>
            <a:endParaRPr sz="2400" dirty="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175"/>
              </a:spcBef>
              <a:buClr>
                <a:srgbClr val="A6A6A6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Alarm</a:t>
            </a:r>
            <a:endParaRPr sz="2400" dirty="0">
              <a:latin typeface="Corbel"/>
              <a:cs typeface="Corbel"/>
            </a:endParaRPr>
          </a:p>
          <a:p>
            <a:pPr marL="355600" indent="-342900">
              <a:lnSpc>
                <a:spcPct val="100000"/>
              </a:lnSpc>
              <a:spcBef>
                <a:spcPts val="1170"/>
              </a:spcBef>
              <a:buClr>
                <a:srgbClr val="A6A6A6"/>
              </a:buClr>
              <a:buSzPct val="14375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sz="2400" spc="-15" dirty="0">
                <a:latin typeface="Corbel"/>
                <a:cs typeface="Corbel"/>
              </a:rPr>
              <a:t>Real </a:t>
            </a:r>
            <a:r>
              <a:rPr sz="2400" spc="-5" dirty="0">
                <a:latin typeface="Corbel"/>
                <a:cs typeface="Corbel"/>
              </a:rPr>
              <a:t>time trend </a:t>
            </a:r>
            <a:r>
              <a:rPr sz="2400" dirty="0">
                <a:latin typeface="Corbel"/>
                <a:cs typeface="Corbel"/>
              </a:rPr>
              <a:t>and </a:t>
            </a:r>
            <a:r>
              <a:rPr sz="2400" spc="-10" dirty="0">
                <a:latin typeface="Corbel"/>
                <a:cs typeface="Corbel"/>
              </a:rPr>
              <a:t>historical </a:t>
            </a:r>
            <a:r>
              <a:rPr sz="2400" spc="-5" dirty="0">
                <a:latin typeface="Corbel"/>
                <a:cs typeface="Corbel"/>
              </a:rPr>
              <a:t>trend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view</a:t>
            </a:r>
            <a:endParaRPr sz="2400" dirty="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175"/>
              </a:spcBef>
              <a:buClr>
                <a:srgbClr val="A6A6A6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dirty="0">
                <a:latin typeface="Corbel"/>
                <a:cs typeface="Corbel"/>
              </a:rPr>
              <a:t>Security</a:t>
            </a:r>
          </a:p>
          <a:p>
            <a:pPr marL="299085" indent="-286385">
              <a:lnSpc>
                <a:spcPct val="100000"/>
              </a:lnSpc>
              <a:spcBef>
                <a:spcPts val="1175"/>
              </a:spcBef>
              <a:buClr>
                <a:srgbClr val="A6A6A6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Device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connectivity</a:t>
            </a:r>
            <a:endParaRPr sz="24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627245" y="1212850"/>
            <a:ext cx="37312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heavy" spc="-10" dirty="0">
                <a:latin typeface="Corbel"/>
                <a:cs typeface="Corbel"/>
              </a:rPr>
              <a:t>SCADA</a:t>
            </a:r>
            <a:r>
              <a:rPr sz="4000" u="heavy" spc="-170" dirty="0">
                <a:latin typeface="Corbel"/>
                <a:cs typeface="Corbel"/>
              </a:rPr>
              <a:t> </a:t>
            </a:r>
            <a:r>
              <a:rPr sz="4000" u="heavy" spc="-10" dirty="0">
                <a:latin typeface="Corbel"/>
                <a:cs typeface="Corbel"/>
              </a:rPr>
              <a:t>Software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98142" y="2623566"/>
            <a:ext cx="3047365" cy="1964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A6A6A6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15" dirty="0">
                <a:latin typeface="Corbel"/>
                <a:cs typeface="Corbel"/>
              </a:rPr>
              <a:t>Wonderware-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Intouch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175"/>
              </a:spcBef>
              <a:buClr>
                <a:srgbClr val="A6A6A6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10" dirty="0">
                <a:latin typeface="Corbel"/>
                <a:cs typeface="Corbel"/>
              </a:rPr>
              <a:t>Rockwell- </a:t>
            </a:r>
            <a:r>
              <a:rPr sz="2400" dirty="0">
                <a:latin typeface="Corbel"/>
                <a:cs typeface="Corbel"/>
              </a:rPr>
              <a:t>RS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view32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175"/>
              </a:spcBef>
              <a:buClr>
                <a:srgbClr val="A6A6A6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Siemens-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winCC</a:t>
            </a:r>
            <a:endParaRPr sz="2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175"/>
              </a:spcBef>
              <a:buClr>
                <a:srgbClr val="A6A6A6"/>
              </a:buClr>
              <a:buSzPct val="143750"/>
              <a:buFont typeface="Arial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GE-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Intellation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04DD-DA1A-4423-8754-808E7F8F4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609600"/>
            <a:ext cx="7064202" cy="1320800"/>
          </a:xfrm>
        </p:spPr>
        <p:txBody>
          <a:bodyPr/>
          <a:lstStyle/>
          <a:p>
            <a:r>
              <a:rPr lang="en-US" dirty="0"/>
              <a:t>Application of SCADA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6DA10B-BCC0-4048-9464-96FC1480A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633164"/>
            <a:ext cx="7792702" cy="492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334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380C-43E8-46E7-AFBF-B8082C6E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609600"/>
            <a:ext cx="6607002" cy="1320800"/>
          </a:xfrm>
        </p:spPr>
        <p:txBody>
          <a:bodyPr/>
          <a:lstStyle/>
          <a:p>
            <a:r>
              <a:rPr lang="en-US" dirty="0"/>
              <a:t>Application of SCADA</a:t>
            </a:r>
          </a:p>
        </p:txBody>
      </p:sp>
      <p:pic>
        <p:nvPicPr>
          <p:cNvPr id="4" name="g10">
            <a:hlinkClick r:id="" action="ppaction://media"/>
            <a:extLst>
              <a:ext uri="{FF2B5EF4-FFF2-40B4-BE49-F238E27FC236}">
                <a16:creationId xmlns:a16="http://schemas.microsoft.com/office/drawing/2014/main" id="{0CB8479F-41C1-4CAB-899B-F2A11565067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5588" y="2160588"/>
            <a:ext cx="6900862" cy="3881437"/>
          </a:xfrm>
        </p:spPr>
      </p:pic>
    </p:spTree>
    <p:extLst>
      <p:ext uri="{BB962C8B-B14F-4D97-AF65-F5344CB8AC3E}">
        <p14:creationId xmlns:p14="http://schemas.microsoft.com/office/powerpoint/2010/main" val="404207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852B-7655-4BBD-9270-8E74CDBA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609600"/>
            <a:ext cx="7445202" cy="13208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      Bottle Filling</a:t>
            </a:r>
          </a:p>
        </p:txBody>
      </p:sp>
      <p:pic>
        <p:nvPicPr>
          <p:cNvPr id="4" name="g6">
            <a:hlinkClick r:id="" action="ppaction://media"/>
            <a:extLst>
              <a:ext uri="{FF2B5EF4-FFF2-40B4-BE49-F238E27FC236}">
                <a16:creationId xmlns:a16="http://schemas.microsoft.com/office/drawing/2014/main" id="{AB3E00D9-C0C3-4B7F-98D5-75570280CE9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5588" y="2160588"/>
            <a:ext cx="6900862" cy="3881437"/>
          </a:xfrm>
        </p:spPr>
      </p:pic>
    </p:spTree>
    <p:extLst>
      <p:ext uri="{BB962C8B-B14F-4D97-AF65-F5344CB8AC3E}">
        <p14:creationId xmlns:p14="http://schemas.microsoft.com/office/powerpoint/2010/main" val="39392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2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8AB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" y="5238750"/>
            <a:ext cx="1228725" cy="1619250"/>
          </a:xfrm>
          <a:custGeom>
            <a:avLst/>
            <a:gdLst/>
            <a:ahLst/>
            <a:cxnLst/>
            <a:rect l="l" t="t" r="r" b="b"/>
            <a:pathLst>
              <a:path w="1228725" h="1619250">
                <a:moveTo>
                  <a:pt x="0" y="0"/>
                </a:moveTo>
                <a:lnTo>
                  <a:pt x="1174686" y="1619249"/>
                </a:lnTo>
                <a:lnTo>
                  <a:pt x="1228661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5291201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2974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455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699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799"/>
                </a:lnTo>
                <a:lnTo>
                  <a:pt x="0" y="0"/>
                </a:lnTo>
                <a:close/>
              </a:path>
            </a:pathLst>
          </a:custGeom>
          <a:solidFill>
            <a:srgbClr val="6886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0812" y="5238750"/>
            <a:ext cx="1695450" cy="1619250"/>
          </a:xfrm>
          <a:custGeom>
            <a:avLst/>
            <a:gdLst/>
            <a:ahLst/>
            <a:cxnLst/>
            <a:rect l="l" t="t" r="r" b="b"/>
            <a:pathLst>
              <a:path w="1695450" h="1619250">
                <a:moveTo>
                  <a:pt x="0" y="0"/>
                </a:moveTo>
                <a:lnTo>
                  <a:pt x="1228661" y="1619249"/>
                </a:lnTo>
                <a:lnTo>
                  <a:pt x="1695386" y="1619249"/>
                </a:lnTo>
                <a:lnTo>
                  <a:pt x="292100" y="95250"/>
                </a:lnTo>
                <a:lnTo>
                  <a:pt x="244475" y="42799"/>
                </a:lnTo>
                <a:lnTo>
                  <a:pt x="249237" y="42799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16807" y="2301697"/>
            <a:ext cx="548195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" dirty="0">
                <a:latin typeface="Corbel"/>
                <a:cs typeface="Corbel"/>
              </a:rPr>
              <a:t>THANK </a:t>
            </a:r>
            <a:r>
              <a:rPr sz="6600" spc="-50" dirty="0">
                <a:latin typeface="Corbel"/>
                <a:cs typeface="Corbel"/>
              </a:rPr>
              <a:t>YOU</a:t>
            </a:r>
            <a:r>
              <a:rPr sz="6600" spc="-805" dirty="0">
                <a:latin typeface="Corbel"/>
                <a:cs typeface="Corbel"/>
              </a:rPr>
              <a:t> </a:t>
            </a:r>
            <a:r>
              <a:rPr sz="6600" spc="-5" dirty="0">
                <a:latin typeface="Corbel"/>
                <a:cs typeface="Corbel"/>
              </a:rPr>
              <a:t>!!!</a:t>
            </a:r>
            <a:endParaRPr sz="6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205</TotalTime>
  <Words>637</Words>
  <Application>Microsoft Office PowerPoint</Application>
  <PresentationFormat>Widescreen</PresentationFormat>
  <Paragraphs>128</Paragraphs>
  <Slides>21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Corbel</vt:lpstr>
      <vt:lpstr>Times New Roman</vt:lpstr>
      <vt:lpstr>Trebuchet MS</vt:lpstr>
      <vt:lpstr>Wingdings 3</vt:lpstr>
      <vt:lpstr>Facet</vt:lpstr>
      <vt:lpstr>             PLC                &amp;            SCADA</vt:lpstr>
      <vt:lpstr>What is AUTOMATION</vt:lpstr>
      <vt:lpstr>INSUSTRIAL AUTOMATION</vt:lpstr>
      <vt:lpstr>Types of Control Systems used in  INDUSTRIAL AUTOMATION</vt:lpstr>
      <vt:lpstr>PLC(Programmable Logic Controller)</vt:lpstr>
      <vt:lpstr>                Brands of PLC’s</vt:lpstr>
      <vt:lpstr>Different types of programmable controller</vt:lpstr>
      <vt:lpstr>Types of PLC</vt:lpstr>
      <vt:lpstr>Architecture of a PLC</vt:lpstr>
      <vt:lpstr>PROGRAMMING the PLC</vt:lpstr>
      <vt:lpstr>START- STOP LOGIC:</vt:lpstr>
      <vt:lpstr>Software for the Programing of    Allen  Bradley PLC</vt:lpstr>
      <vt:lpstr>Advantages</vt:lpstr>
      <vt:lpstr>Applications</vt:lpstr>
      <vt:lpstr>SCADA</vt:lpstr>
      <vt:lpstr>FEATURES OF SCADA</vt:lpstr>
      <vt:lpstr>SCADA Software</vt:lpstr>
      <vt:lpstr>Application of SCADA</vt:lpstr>
      <vt:lpstr>Application of SCADA</vt:lpstr>
      <vt:lpstr>      Bottle Filling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ratnesh0603@outlook.com</cp:lastModifiedBy>
  <cp:revision>21</cp:revision>
  <dcterms:created xsi:type="dcterms:W3CDTF">2018-02-07T15:40:41Z</dcterms:created>
  <dcterms:modified xsi:type="dcterms:W3CDTF">2018-02-08T10:58:38Z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2013-09-03T00:00:00Z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2018-02-07T00:00:00Z</vt:filetime>
  </property>
</Properties>
</file>
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CB6347E1-ADE2-447E-9D25-8D03C6CF8EF1}">
  <a:tblStyle styleId="{CB6347E1-ADE2-447E-9D25-8D03C6CF8E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c86816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c86816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834a41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834a41c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834a41c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834a41c5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d4a3604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dd4a36040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d4a3604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dd4a36040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f7363a0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f7363a0a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4008497980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4008497980_0_4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834a41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d834a41c5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834a41c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834a41c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00849798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4008497980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400849798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4008497980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40960c28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40960c28d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0960c28d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40960c28dc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0960c28d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40960c28dc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40960c28d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40960c28dc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40960c28dc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40960c28dc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40960c28d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40960c28dc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834a41c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d834a41c5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834a41c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d834a41c5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834a41c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d834a41c5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834a41c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d834a41c5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834a41c5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d834a41c5_0_2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d9d9f859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d9d9f8590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d9d9f859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d9d9f8590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d9d9f859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d9d9f8590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9d9f859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d9d9f8590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8adc6b7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f8adc6b74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dd4a3604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dd4a36040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4008497980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4008497980_0_3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dbc71526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dbc71526c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dbc71526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dbc71526c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dbc71526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dbc71526c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de92353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g3de923536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400849798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g4008497980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400849798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g4008497980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dbc71526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g3dbc71526c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d834a41c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g3d834a41c5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dd4a3604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g3dd4a36040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dd4a3604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g3dd4a36040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4008497980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g4008497980_0_4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4008497980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g4008497980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dd4a3604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g3dd4a36040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4008497980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g4008497980_0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400849798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g4008497980_0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4008497980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g4008497980_0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4008497980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g4008497980_0_2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4008497980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g4008497980_0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ff7363a0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ff7363a0a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3200"/>
            </a:lvl1pPr>
            <a:lvl2pPr indent="-317500" lvl="1" marL="9144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800"/>
            </a:lvl2pPr>
            <a:lvl3pPr indent="-317500" lvl="2" marL="13716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400"/>
            </a:lvl3pPr>
            <a:lvl4pPr indent="-317500" lvl="3" marL="18288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4pPr>
            <a:lvl5pPr indent="-317500" lvl="4" marL="22860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5pPr>
            <a:lvl6pPr indent="-317500" lvl="5" marL="27432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6pPr>
            <a:lvl7pPr indent="-317500" lvl="6" marL="32004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7pPr>
            <a:lvl8pPr indent="-317500" lvl="7" marL="36576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8pPr>
            <a:lvl9pPr indent="-317500" lvl="8" marL="41148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 sz="1600"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 sz="1600"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watch?v=c9O5_a50aOQ" TargetMode="External"/><Relationship Id="rId10" Type="http://schemas.openxmlformats.org/officeDocument/2006/relationships/hyperlink" Target="https://www.youtube.com/watch?v=T5RmMNDR5XI" TargetMode="External"/><Relationship Id="rId13" Type="http://schemas.openxmlformats.org/officeDocument/2006/relationships/hyperlink" Target="http://blog.mikemccandless.com/2010/12/using-finite-state-transducers-in.html" TargetMode="External"/><Relationship Id="rId12" Type="http://schemas.openxmlformats.org/officeDocument/2006/relationships/hyperlink" Target="https://www.elastic.co/guide/en/elasticsearch/guide/current/distributed-cluster.html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s://www.elastic.co/blog/found-elasticsearch-from-the-bottom-up" TargetMode="External"/><Relationship Id="rId5" Type="http://schemas.openxmlformats.org/officeDocument/2006/relationships/image" Target="../media/image6.png"/><Relationship Id="rId6" Type="http://schemas.openxmlformats.org/officeDocument/2006/relationships/hyperlink" Target="https://www.elastic.co/guide/en/elasticsearch/reference/6.3/index.html" TargetMode="External"/><Relationship Id="rId7" Type="http://schemas.openxmlformats.org/officeDocument/2006/relationships/hyperlink" Target="https://lucene.apache.org/core/7_3_1/index.html" TargetMode="External"/><Relationship Id="rId8" Type="http://schemas.openxmlformats.org/officeDocument/2006/relationships/hyperlink" Target="https://www.elastic.co/blog/tracking-in-sync-shard-copies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1237" y="2650836"/>
            <a:ext cx="5420002" cy="1089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6401" y="5996108"/>
            <a:ext cx="2931907" cy="136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2036700" y="2143200"/>
            <a:ext cx="8118600" cy="25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1E2A33"/>
                </a:solidFill>
              </a:rPr>
              <a:t>Elasticsearch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1E2A33"/>
                </a:solidFill>
              </a:rPr>
              <a:t>Under the hood</a:t>
            </a:r>
            <a:endParaRPr b="0" i="0" sz="5400" u="none" cap="none" strike="noStrike">
              <a:solidFill>
                <a:srgbClr val="1E2A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5563125" y="4921968"/>
            <a:ext cx="1173600" cy="237300"/>
          </a:xfrm>
          <a:prstGeom prst="rect">
            <a:avLst/>
          </a:prstGeom>
          <a:solidFill>
            <a:srgbClr val="1E2A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3512641" y="4902185"/>
            <a:ext cx="525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August</a:t>
            </a: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201</a:t>
            </a:r>
            <a:r>
              <a:rPr lang="en-US" sz="1200">
                <a:solidFill>
                  <a:schemeClr val="lt1"/>
                </a:solidFill>
              </a:rPr>
              <a:t>8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406450" y="1080650"/>
            <a:ext cx="105861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Disclaimer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424917" y="2318327"/>
            <a:ext cx="113421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Elasticsearch 6.3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Lucene 7.3</a:t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102" name="Google Shape;102;p15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449" cy="244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504" cy="105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631" cy="121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What is it? What is it good for?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424917" y="2318327"/>
            <a:ext cx="113421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7F7F7F"/>
                </a:solidFill>
              </a:rPr>
              <a:t>Full text search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Scalable and robust full text search</a:t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112" name="Google Shape;112;p16"/>
          <p:cNvCxnSpPr/>
          <p:nvPr/>
        </p:nvCxnSpPr>
        <p:spPr>
          <a:xfrm>
            <a:off x="489569" y="6206833"/>
            <a:ext cx="52643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406450" y="1080650"/>
            <a:ext cx="105861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What is Lucene? What it has to do with Elasticsearch?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24917" y="2318327"/>
            <a:ext cx="113421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7F7F7F"/>
                </a:solidFill>
              </a:rPr>
              <a:t>Full text search library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Elasticsearch is just a wrapper around it which provides scalability, durability and REST API</a:t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122" name="Google Shape;122;p17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API level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18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2" name="Google Shape;132;p18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Index document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844900" y="2578650"/>
            <a:ext cx="71367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POST doc/default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{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</a:t>
            </a:r>
            <a:r>
              <a:rPr lang="en-US" sz="1800">
                <a:solidFill>
                  <a:schemeClr val="dk1"/>
                </a:solidFill>
              </a:rPr>
              <a:t>"</a:t>
            </a:r>
            <a:r>
              <a:rPr lang="en-US" sz="1800"/>
              <a:t>class</a:t>
            </a:r>
            <a:r>
              <a:rPr lang="en-US" sz="1800">
                <a:solidFill>
                  <a:schemeClr val="dk1"/>
                </a:solidFill>
              </a:rPr>
              <a:t>"</a:t>
            </a:r>
            <a:r>
              <a:rPr lang="en-US" sz="1800"/>
              <a:t>: </a:t>
            </a:r>
            <a:r>
              <a:rPr lang="en-US" sz="1800">
                <a:solidFill>
                  <a:schemeClr val="dk1"/>
                </a:solidFill>
              </a:rPr>
              <a:t>"</a:t>
            </a:r>
            <a:r>
              <a:rPr lang="en-US" sz="1800"/>
              <a:t>ConfigurationParser</a:t>
            </a:r>
            <a:r>
              <a:rPr lang="en-US" sz="1800">
                <a:solidFill>
                  <a:schemeClr val="dk1"/>
                </a:solidFill>
              </a:rPr>
              <a:t>"</a:t>
            </a:r>
            <a:r>
              <a:rPr lang="en-US" sz="1800"/>
              <a:t>,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</a:t>
            </a:r>
            <a:r>
              <a:rPr lang="en-US" sz="1800">
                <a:solidFill>
                  <a:schemeClr val="dk1"/>
                </a:solidFill>
              </a:rPr>
              <a:t>"</a:t>
            </a:r>
            <a:r>
              <a:rPr lang="en-US" sz="1800"/>
              <a:t>method</a:t>
            </a:r>
            <a:r>
              <a:rPr lang="en-US" sz="1800">
                <a:solidFill>
                  <a:schemeClr val="dk1"/>
                </a:solidFill>
              </a:rPr>
              <a:t>"</a:t>
            </a:r>
            <a:r>
              <a:rPr lang="en-US" sz="1800"/>
              <a:t>: </a:t>
            </a:r>
            <a:r>
              <a:rPr lang="en-US" sz="1800">
                <a:solidFill>
                  <a:schemeClr val="dk1"/>
                </a:solidFill>
              </a:rPr>
              <a:t>"</a:t>
            </a:r>
            <a:r>
              <a:rPr lang="en-US" sz="1800"/>
              <a:t>build</a:t>
            </a:r>
            <a:r>
              <a:rPr lang="en-US" sz="1800">
                <a:solidFill>
                  <a:schemeClr val="dk1"/>
                </a:solidFill>
              </a:rPr>
              <a:t>"</a:t>
            </a:r>
            <a:r>
              <a:rPr lang="en-US" sz="1800"/>
              <a:t>,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</a:t>
            </a:r>
            <a:r>
              <a:rPr lang="en-US" sz="1800">
                <a:solidFill>
                  <a:schemeClr val="dk1"/>
                </a:solidFill>
              </a:rPr>
              <a:t>"</a:t>
            </a:r>
            <a:r>
              <a:rPr lang="en-US" sz="1800"/>
              <a:t>description</a:t>
            </a:r>
            <a:r>
              <a:rPr lang="en-US" sz="1800">
                <a:solidFill>
                  <a:schemeClr val="dk1"/>
                </a:solidFill>
              </a:rPr>
              <a:t>"</a:t>
            </a:r>
            <a:r>
              <a:rPr lang="en-US" sz="1800"/>
              <a:t>: </a:t>
            </a:r>
            <a:r>
              <a:rPr lang="en-US" sz="1800">
                <a:solidFill>
                  <a:schemeClr val="dk1"/>
                </a:solidFill>
              </a:rPr>
              <a:t>"</a:t>
            </a:r>
            <a:r>
              <a:rPr lang="en-US" sz="1800"/>
              <a:t>&lt;p class=’paragraph’&gt;Creates an instance of &lt;link&gt;ObjectGenerator&lt;/link&gt; based on provided configuration. Resulting &lt;link&gt;ObjectGenerator&lt;/link&gt; will try to convert configured output to specified &lt;code&gt;objectType&lt;/code&gt;.&lt;/p&gt;</a:t>
            </a:r>
            <a:r>
              <a:rPr lang="en-US" sz="1800">
                <a:solidFill>
                  <a:schemeClr val="dk1"/>
                </a:solidFill>
              </a:rPr>
              <a:t>"</a:t>
            </a:r>
            <a:endParaRPr sz="18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}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API level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19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3" name="Google Shape;143;p19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Update</a:t>
            </a:r>
            <a:r>
              <a:rPr lang="en-US" sz="1800">
                <a:solidFill>
                  <a:schemeClr val="dk1"/>
                </a:solidFill>
              </a:rPr>
              <a:t> document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844900" y="2578650"/>
            <a:ext cx="71367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POST doc/default/1/_update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{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"doc": { "description": "New description value" }</a:t>
            </a:r>
            <a:endParaRPr sz="18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}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API level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20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4" name="Google Shape;154;p20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Delete document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844900" y="2578650"/>
            <a:ext cx="71367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DELETE doc/default/1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API level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21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5" name="Google Shape;165;p21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Search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844900" y="2578650"/>
            <a:ext cx="71367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GET doc/default/_search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{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"query": {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"match": {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"title": {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  "query": "</a:t>
            </a:r>
            <a:r>
              <a:rPr lang="en-US" sz="1800">
                <a:solidFill>
                  <a:schemeClr val="dk1"/>
                </a:solidFill>
              </a:rPr>
              <a:t>ObjectGenerator</a:t>
            </a:r>
            <a:r>
              <a:rPr lang="en-US" sz="1800"/>
              <a:t>"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  }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}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}</a:t>
            </a:r>
            <a:endParaRPr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}</a:t>
            </a:r>
            <a:endParaRPr sz="1800"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Cluster level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22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How does that look like?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23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5" name="Google Shape;185;p23"/>
          <p:cNvSpPr/>
          <p:nvPr/>
        </p:nvSpPr>
        <p:spPr>
          <a:xfrm>
            <a:off x="2669500" y="1896500"/>
            <a:ext cx="5855700" cy="419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/>
          <p:nvPr/>
        </p:nvSpPr>
        <p:spPr>
          <a:xfrm>
            <a:off x="2876625" y="2444400"/>
            <a:ext cx="2377500" cy="17373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3352575" y="2956913"/>
            <a:ext cx="1492200" cy="10512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3"/>
          <p:cNvSpPr/>
          <p:nvPr/>
        </p:nvSpPr>
        <p:spPr>
          <a:xfrm>
            <a:off x="3739100" y="3042175"/>
            <a:ext cx="1051800" cy="37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Transaction Log</a:t>
            </a:r>
            <a:endParaRPr sz="1200"/>
          </a:p>
        </p:txBody>
      </p:sp>
      <p:sp>
        <p:nvSpPr>
          <p:cNvPr id="189" name="Google Shape;189;p23"/>
          <p:cNvSpPr/>
          <p:nvPr/>
        </p:nvSpPr>
        <p:spPr>
          <a:xfrm>
            <a:off x="4017650" y="3481950"/>
            <a:ext cx="773100" cy="40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Lucene</a:t>
            </a:r>
            <a:endParaRPr sz="1200"/>
          </a:p>
        </p:txBody>
      </p:sp>
      <p:sp>
        <p:nvSpPr>
          <p:cNvPr id="190" name="Google Shape;190;p23"/>
          <p:cNvSpPr/>
          <p:nvPr/>
        </p:nvSpPr>
        <p:spPr>
          <a:xfrm>
            <a:off x="3388550" y="3481950"/>
            <a:ext cx="629100" cy="40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REST</a:t>
            </a:r>
            <a:endParaRPr sz="1200"/>
          </a:p>
        </p:txBody>
      </p:sp>
      <p:sp>
        <p:nvSpPr>
          <p:cNvPr id="191" name="Google Shape;191;p23"/>
          <p:cNvSpPr txBox="1"/>
          <p:nvPr/>
        </p:nvSpPr>
        <p:spPr>
          <a:xfrm>
            <a:off x="3514800" y="2418750"/>
            <a:ext cx="1191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node</a:t>
            </a:r>
            <a:br>
              <a:rPr lang="en-US"/>
            </a:br>
            <a:r>
              <a:rPr lang="en-US"/>
              <a:t>UUID name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3325725" y="2899125"/>
            <a:ext cx="5265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</a:t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4865100" y="1991600"/>
            <a:ext cx="17457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Cluster</a:t>
            </a:r>
            <a:br>
              <a:rPr lang="en-US"/>
            </a:br>
            <a:r>
              <a:rPr lang="en-US"/>
              <a:t>“Elasticsearch”</a:t>
            </a:r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2876625" y="4273200"/>
            <a:ext cx="2377500" cy="17373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3352575" y="4785713"/>
            <a:ext cx="1492200" cy="10512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3739100" y="4870975"/>
            <a:ext cx="1051800" cy="37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Transaction Log</a:t>
            </a:r>
            <a:endParaRPr sz="1200"/>
          </a:p>
        </p:txBody>
      </p:sp>
      <p:sp>
        <p:nvSpPr>
          <p:cNvPr id="197" name="Google Shape;197;p23"/>
          <p:cNvSpPr/>
          <p:nvPr/>
        </p:nvSpPr>
        <p:spPr>
          <a:xfrm>
            <a:off x="4017650" y="5310750"/>
            <a:ext cx="773100" cy="40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Lucene</a:t>
            </a:r>
            <a:endParaRPr sz="1200"/>
          </a:p>
        </p:txBody>
      </p:sp>
      <p:sp>
        <p:nvSpPr>
          <p:cNvPr id="198" name="Google Shape;198;p23"/>
          <p:cNvSpPr/>
          <p:nvPr/>
        </p:nvSpPr>
        <p:spPr>
          <a:xfrm>
            <a:off x="3388550" y="5310750"/>
            <a:ext cx="629100" cy="40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REST</a:t>
            </a:r>
            <a:endParaRPr sz="1200"/>
          </a:p>
        </p:txBody>
      </p:sp>
      <p:sp>
        <p:nvSpPr>
          <p:cNvPr id="199" name="Google Shape;199;p23"/>
          <p:cNvSpPr txBox="1"/>
          <p:nvPr/>
        </p:nvSpPr>
        <p:spPr>
          <a:xfrm>
            <a:off x="3514800" y="4247550"/>
            <a:ext cx="1191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node</a:t>
            </a:r>
            <a:br>
              <a:rPr lang="en-US"/>
            </a:br>
            <a:r>
              <a:rPr lang="en-US"/>
              <a:t>UUID name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3325725" y="4727925"/>
            <a:ext cx="5265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</a:t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5772225" y="4273200"/>
            <a:ext cx="2377500" cy="17373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6248175" y="4785713"/>
            <a:ext cx="1492200" cy="10512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6634700" y="4870975"/>
            <a:ext cx="1051800" cy="37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Transaction Log</a:t>
            </a:r>
            <a:endParaRPr sz="1200"/>
          </a:p>
        </p:txBody>
      </p:sp>
      <p:sp>
        <p:nvSpPr>
          <p:cNvPr id="204" name="Google Shape;204;p23"/>
          <p:cNvSpPr/>
          <p:nvPr/>
        </p:nvSpPr>
        <p:spPr>
          <a:xfrm>
            <a:off x="6913250" y="5310750"/>
            <a:ext cx="773100" cy="40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Lucene</a:t>
            </a:r>
            <a:endParaRPr sz="1200"/>
          </a:p>
        </p:txBody>
      </p:sp>
      <p:sp>
        <p:nvSpPr>
          <p:cNvPr id="205" name="Google Shape;205;p23"/>
          <p:cNvSpPr/>
          <p:nvPr/>
        </p:nvSpPr>
        <p:spPr>
          <a:xfrm>
            <a:off x="6284150" y="5310750"/>
            <a:ext cx="629100" cy="40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REST</a:t>
            </a:r>
            <a:endParaRPr sz="1200"/>
          </a:p>
        </p:txBody>
      </p:sp>
      <p:sp>
        <p:nvSpPr>
          <p:cNvPr id="206" name="Google Shape;206;p23"/>
          <p:cNvSpPr txBox="1"/>
          <p:nvPr/>
        </p:nvSpPr>
        <p:spPr>
          <a:xfrm>
            <a:off x="6410400" y="4247550"/>
            <a:ext cx="1191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node</a:t>
            </a:r>
            <a:br>
              <a:rPr lang="en-US"/>
            </a:br>
            <a:r>
              <a:rPr lang="en-US"/>
              <a:t>UUID name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6221325" y="4727925"/>
            <a:ext cx="5265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</a:t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5772225" y="2444400"/>
            <a:ext cx="2377500" cy="17373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6248175" y="2956913"/>
            <a:ext cx="1492200" cy="10512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6634700" y="3042175"/>
            <a:ext cx="1051800" cy="37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Transaction Log</a:t>
            </a:r>
            <a:endParaRPr sz="1200"/>
          </a:p>
        </p:txBody>
      </p:sp>
      <p:sp>
        <p:nvSpPr>
          <p:cNvPr id="211" name="Google Shape;211;p23"/>
          <p:cNvSpPr/>
          <p:nvPr/>
        </p:nvSpPr>
        <p:spPr>
          <a:xfrm>
            <a:off x="6913250" y="3481950"/>
            <a:ext cx="773100" cy="40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Lucene</a:t>
            </a:r>
            <a:endParaRPr sz="1200"/>
          </a:p>
        </p:txBody>
      </p:sp>
      <p:sp>
        <p:nvSpPr>
          <p:cNvPr id="212" name="Google Shape;212;p23"/>
          <p:cNvSpPr/>
          <p:nvPr/>
        </p:nvSpPr>
        <p:spPr>
          <a:xfrm>
            <a:off x="6284150" y="3481950"/>
            <a:ext cx="629100" cy="40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REST</a:t>
            </a:r>
            <a:endParaRPr sz="1200"/>
          </a:p>
        </p:txBody>
      </p:sp>
      <p:sp>
        <p:nvSpPr>
          <p:cNvPr id="213" name="Google Shape;213;p23"/>
          <p:cNvSpPr txBox="1"/>
          <p:nvPr/>
        </p:nvSpPr>
        <p:spPr>
          <a:xfrm>
            <a:off x="6410400" y="2418750"/>
            <a:ext cx="1191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node</a:t>
            </a:r>
            <a:br>
              <a:rPr lang="en-US"/>
            </a:br>
            <a:r>
              <a:rPr lang="en-US"/>
              <a:t>UUID name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6221325" y="2899125"/>
            <a:ext cx="5265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All nodes are of the same type?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424917" y="2318327"/>
            <a:ext cx="113421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Master node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Data node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Ingest node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Tribe node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Coordinator node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Default case</a:t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224" name="Google Shape;224;p24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Shards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25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4" name="Google Shape;234;p25"/>
          <p:cNvSpPr/>
          <p:nvPr/>
        </p:nvSpPr>
        <p:spPr>
          <a:xfrm>
            <a:off x="725550" y="2408850"/>
            <a:ext cx="1465200" cy="144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5" name="Google Shape;235;p25"/>
          <p:cNvGraphicFramePr/>
          <p:nvPr/>
        </p:nvGraphicFramePr>
        <p:xfrm>
          <a:off x="844650" y="282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191300"/>
              </a:tblGrid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Doc2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Doc3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Doc4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Doc5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Doc6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Doc7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Doc8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Doc9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Doc10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Doc11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Doc12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25"/>
          <p:cNvSpPr txBox="1"/>
          <p:nvPr/>
        </p:nvSpPr>
        <p:spPr>
          <a:xfrm>
            <a:off x="854675" y="2471800"/>
            <a:ext cx="115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3817100" y="1734350"/>
            <a:ext cx="1465200" cy="144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5758150" y="2218550"/>
            <a:ext cx="1465200" cy="144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6575700" y="3777775"/>
            <a:ext cx="1465200" cy="144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4813575" y="4438575"/>
            <a:ext cx="1465200" cy="144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2970600" y="4582000"/>
            <a:ext cx="1465200" cy="144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25"/>
          <p:cNvCxnSpPr>
            <a:stCxn id="234" idx="3"/>
            <a:endCxn id="237" idx="1"/>
          </p:cNvCxnSpPr>
          <p:nvPr/>
        </p:nvCxnSpPr>
        <p:spPr>
          <a:xfrm flipH="1" rot="10800000">
            <a:off x="2190750" y="2455200"/>
            <a:ext cx="1626300" cy="674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25"/>
          <p:cNvCxnSpPr>
            <a:stCxn id="234" idx="3"/>
          </p:cNvCxnSpPr>
          <p:nvPr/>
        </p:nvCxnSpPr>
        <p:spPr>
          <a:xfrm>
            <a:off x="2190750" y="3129600"/>
            <a:ext cx="3561600" cy="16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25"/>
          <p:cNvCxnSpPr>
            <a:stCxn id="234" idx="3"/>
          </p:cNvCxnSpPr>
          <p:nvPr/>
        </p:nvCxnSpPr>
        <p:spPr>
          <a:xfrm>
            <a:off x="2190750" y="3129600"/>
            <a:ext cx="4397700" cy="1103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5"/>
          <p:cNvCxnSpPr>
            <a:stCxn id="234" idx="3"/>
          </p:cNvCxnSpPr>
          <p:nvPr/>
        </p:nvCxnSpPr>
        <p:spPr>
          <a:xfrm>
            <a:off x="2190750" y="3129600"/>
            <a:ext cx="2878500" cy="1310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5"/>
          <p:cNvCxnSpPr>
            <a:stCxn id="234" idx="3"/>
            <a:endCxn id="241" idx="0"/>
          </p:cNvCxnSpPr>
          <p:nvPr/>
        </p:nvCxnSpPr>
        <p:spPr>
          <a:xfrm>
            <a:off x="2190750" y="3129600"/>
            <a:ext cx="1512600" cy="1452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5"/>
          <p:cNvSpPr txBox="1"/>
          <p:nvPr/>
        </p:nvSpPr>
        <p:spPr>
          <a:xfrm>
            <a:off x="3974450" y="1860200"/>
            <a:ext cx="115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5915500" y="2356250"/>
            <a:ext cx="115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6733050" y="3869600"/>
            <a:ext cx="115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3127950" y="4707800"/>
            <a:ext cx="115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4970925" y="4581900"/>
            <a:ext cx="115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graphicFrame>
        <p:nvGraphicFramePr>
          <p:cNvPr id="252" name="Google Shape;252;p25"/>
          <p:cNvGraphicFramePr/>
          <p:nvPr/>
        </p:nvGraphicFramePr>
        <p:xfrm>
          <a:off x="3944401" y="221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191300"/>
              </a:tblGrid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 - S1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Doc4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Doc8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3" name="Google Shape;253;p25"/>
          <p:cNvGraphicFramePr/>
          <p:nvPr/>
        </p:nvGraphicFramePr>
        <p:xfrm>
          <a:off x="3107551" y="504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191300"/>
              </a:tblGrid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 - S5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Doc9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Doc12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4" name="Google Shape;254;p25"/>
          <p:cNvGraphicFramePr/>
          <p:nvPr/>
        </p:nvGraphicFramePr>
        <p:xfrm>
          <a:off x="4950526" y="492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191300"/>
              </a:tblGrid>
              <a:tr h="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 - S4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Doc7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Doc10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5" name="Google Shape;255;p25"/>
          <p:cNvGraphicFramePr/>
          <p:nvPr/>
        </p:nvGraphicFramePr>
        <p:xfrm>
          <a:off x="5895101" y="263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191300"/>
              </a:tblGrid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 - S2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Doc3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Doc5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Doc6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6" name="Google Shape;256;p25"/>
          <p:cNvGraphicFramePr/>
          <p:nvPr/>
        </p:nvGraphicFramePr>
        <p:xfrm>
          <a:off x="6712651" y="427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191300"/>
              </a:tblGrid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 - S3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Doc2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Doc11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R</a:t>
            </a:r>
            <a:r>
              <a:rPr lang="en-US" sz="3200">
                <a:solidFill>
                  <a:schemeClr val="dk1"/>
                </a:solidFill>
              </a:rPr>
              <a:t>eplicas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6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6" name="Google Shape;266;p26"/>
          <p:cNvSpPr/>
          <p:nvPr/>
        </p:nvSpPr>
        <p:spPr>
          <a:xfrm>
            <a:off x="540500" y="2572550"/>
            <a:ext cx="1465200" cy="144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697850" y="2698400"/>
            <a:ext cx="115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4378075" y="1709275"/>
            <a:ext cx="1465200" cy="144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4535425" y="1835125"/>
            <a:ext cx="115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graphicFrame>
        <p:nvGraphicFramePr>
          <p:cNvPr id="270" name="Google Shape;270;p26"/>
          <p:cNvGraphicFramePr/>
          <p:nvPr/>
        </p:nvGraphicFramePr>
        <p:xfrm>
          <a:off x="4428976" y="219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362075"/>
              </a:tblGrid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 - S1 R1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Doc4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Doc8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26"/>
          <p:cNvSpPr/>
          <p:nvPr/>
        </p:nvSpPr>
        <p:spPr>
          <a:xfrm>
            <a:off x="6409000" y="2976200"/>
            <a:ext cx="1465200" cy="144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6566350" y="3102050"/>
            <a:ext cx="115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4628950" y="4189225"/>
            <a:ext cx="1465200" cy="144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4786300" y="4315075"/>
            <a:ext cx="115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sp>
        <p:nvSpPr>
          <p:cNvPr id="275" name="Google Shape;275;p26"/>
          <p:cNvSpPr/>
          <p:nvPr/>
        </p:nvSpPr>
        <p:spPr>
          <a:xfrm>
            <a:off x="2758975" y="4512775"/>
            <a:ext cx="1465200" cy="144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2916325" y="4638625"/>
            <a:ext cx="1150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cxnSp>
        <p:nvCxnSpPr>
          <p:cNvPr id="277" name="Google Shape;277;p26"/>
          <p:cNvCxnSpPr>
            <a:stCxn id="266" idx="3"/>
            <a:endCxn id="268" idx="1"/>
          </p:cNvCxnSpPr>
          <p:nvPr/>
        </p:nvCxnSpPr>
        <p:spPr>
          <a:xfrm flipH="1" rot="10800000">
            <a:off x="2005700" y="2429900"/>
            <a:ext cx="2372400" cy="863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26"/>
          <p:cNvCxnSpPr>
            <a:stCxn id="266" idx="3"/>
            <a:endCxn id="271" idx="1"/>
          </p:cNvCxnSpPr>
          <p:nvPr/>
        </p:nvCxnSpPr>
        <p:spPr>
          <a:xfrm>
            <a:off x="2005700" y="3293300"/>
            <a:ext cx="4403400" cy="403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26"/>
          <p:cNvCxnSpPr>
            <a:stCxn id="266" idx="3"/>
          </p:cNvCxnSpPr>
          <p:nvPr/>
        </p:nvCxnSpPr>
        <p:spPr>
          <a:xfrm>
            <a:off x="2005700" y="3293300"/>
            <a:ext cx="2766900" cy="904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p26"/>
          <p:cNvCxnSpPr>
            <a:stCxn id="266" idx="3"/>
            <a:endCxn id="275" idx="0"/>
          </p:cNvCxnSpPr>
          <p:nvPr/>
        </p:nvCxnSpPr>
        <p:spPr>
          <a:xfrm>
            <a:off x="2005700" y="3293300"/>
            <a:ext cx="1485900" cy="1219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81" name="Google Shape;281;p26"/>
          <p:cNvGraphicFramePr/>
          <p:nvPr/>
        </p:nvGraphicFramePr>
        <p:xfrm>
          <a:off x="6460564" y="3434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362075"/>
              </a:tblGrid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 - S1 R2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Doc4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Doc8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2" name="Google Shape;282;p26"/>
          <p:cNvGraphicFramePr/>
          <p:nvPr/>
        </p:nvGraphicFramePr>
        <p:xfrm>
          <a:off x="4680514" y="463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362075"/>
              </a:tblGrid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 - S1 R3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Doc4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Doc8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3" name="Google Shape;283;p26"/>
          <p:cNvGraphicFramePr/>
          <p:nvPr/>
        </p:nvGraphicFramePr>
        <p:xfrm>
          <a:off x="2810526" y="496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362075"/>
              </a:tblGrid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 - S1 R4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Doc4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Doc8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4" name="Google Shape;284;p26"/>
          <p:cNvGraphicFramePr/>
          <p:nvPr/>
        </p:nvGraphicFramePr>
        <p:xfrm>
          <a:off x="592751" y="300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362075"/>
              </a:tblGrid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 - S1 P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Doc4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  <a:tr h="2033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Doc8</a:t>
                      </a:r>
                      <a:endParaRPr/>
                    </a:p>
                  </a:txBody>
                  <a:tcPr marT="0" marB="0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Scaling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27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4" name="Google Shape;294;p27"/>
          <p:cNvSpPr txBox="1"/>
          <p:nvPr/>
        </p:nvSpPr>
        <p:spPr>
          <a:xfrm>
            <a:off x="424925" y="2318326"/>
            <a:ext cx="113421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Single node cluster with 3 shards and 1 replica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Unassigned shards problem</a:t>
            </a:r>
            <a:endParaRPr sz="1500">
              <a:solidFill>
                <a:srgbClr val="7F7F7F"/>
              </a:solidFill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683100" y="3415525"/>
            <a:ext cx="3280800" cy="253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7"/>
          <p:cNvSpPr/>
          <p:nvPr/>
        </p:nvSpPr>
        <p:spPr>
          <a:xfrm>
            <a:off x="952750" y="4044700"/>
            <a:ext cx="2777400" cy="1644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1</a:t>
            </a:r>
            <a:endParaRPr/>
          </a:p>
        </p:txBody>
      </p:sp>
      <p:sp>
        <p:nvSpPr>
          <p:cNvPr id="297" name="Google Shape;297;p27"/>
          <p:cNvSpPr/>
          <p:nvPr/>
        </p:nvSpPr>
        <p:spPr>
          <a:xfrm>
            <a:off x="11145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 P</a:t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20289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S2 P</a:t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29433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S3 P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858575" y="3577300"/>
            <a:ext cx="170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Single node cluster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2732400" y="3603550"/>
            <a:ext cx="665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State:</a:t>
            </a:r>
            <a:endParaRPr/>
          </a:p>
        </p:txBody>
      </p:sp>
      <p:sp>
        <p:nvSpPr>
          <p:cNvPr id="302" name="Google Shape;302;p27"/>
          <p:cNvSpPr/>
          <p:nvPr/>
        </p:nvSpPr>
        <p:spPr>
          <a:xfrm>
            <a:off x="3319213" y="3612538"/>
            <a:ext cx="244200" cy="2442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8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Scaling out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28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2" name="Google Shape;312;p28"/>
          <p:cNvSpPr txBox="1"/>
          <p:nvPr/>
        </p:nvSpPr>
        <p:spPr>
          <a:xfrm>
            <a:off x="424925" y="2318326"/>
            <a:ext cx="113421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Two</a:t>
            </a:r>
            <a:r>
              <a:rPr lang="en-US" sz="1500">
                <a:solidFill>
                  <a:srgbClr val="7F7F7F"/>
                </a:solidFill>
              </a:rPr>
              <a:t> node cluster with 3 shards and 1 replica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To prevent unassigned shards: number of nodes &gt; number of replicas + 1</a:t>
            </a:r>
            <a:endParaRPr sz="1500">
              <a:solidFill>
                <a:srgbClr val="7F7F7F"/>
              </a:solidFill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683100" y="3415525"/>
            <a:ext cx="6372600" cy="253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8"/>
          <p:cNvSpPr/>
          <p:nvPr/>
        </p:nvSpPr>
        <p:spPr>
          <a:xfrm>
            <a:off x="952750" y="4044700"/>
            <a:ext cx="2777400" cy="1644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1</a:t>
            </a:r>
            <a:endParaRPr/>
          </a:p>
        </p:txBody>
      </p:sp>
      <p:sp>
        <p:nvSpPr>
          <p:cNvPr id="315" name="Google Shape;315;p28"/>
          <p:cNvSpPr/>
          <p:nvPr/>
        </p:nvSpPr>
        <p:spPr>
          <a:xfrm>
            <a:off x="11145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 P</a:t>
            </a:r>
            <a:endParaRPr/>
          </a:p>
        </p:txBody>
      </p:sp>
      <p:sp>
        <p:nvSpPr>
          <p:cNvPr id="316" name="Google Shape;316;p28"/>
          <p:cNvSpPr/>
          <p:nvPr/>
        </p:nvSpPr>
        <p:spPr>
          <a:xfrm>
            <a:off x="20289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S2 P</a:t>
            </a:r>
            <a:endParaRPr/>
          </a:p>
        </p:txBody>
      </p:sp>
      <p:sp>
        <p:nvSpPr>
          <p:cNvPr id="317" name="Google Shape;317;p28"/>
          <p:cNvSpPr/>
          <p:nvPr/>
        </p:nvSpPr>
        <p:spPr>
          <a:xfrm>
            <a:off x="29433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S3 P</a:t>
            </a:r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858575" y="3577300"/>
            <a:ext cx="170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</a:t>
            </a:r>
            <a:r>
              <a:rPr lang="en-US"/>
              <a:t> node cluster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5780400" y="3603550"/>
            <a:ext cx="665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State:</a:t>
            </a:r>
            <a:endParaRPr/>
          </a:p>
        </p:txBody>
      </p:sp>
      <p:sp>
        <p:nvSpPr>
          <p:cNvPr id="320" name="Google Shape;320;p28"/>
          <p:cNvSpPr/>
          <p:nvPr/>
        </p:nvSpPr>
        <p:spPr>
          <a:xfrm>
            <a:off x="6367213" y="3612538"/>
            <a:ext cx="244200" cy="2442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8"/>
          <p:cNvSpPr/>
          <p:nvPr/>
        </p:nvSpPr>
        <p:spPr>
          <a:xfrm>
            <a:off x="4000750" y="4044700"/>
            <a:ext cx="2777400" cy="1644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2</a:t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41625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 R</a:t>
            </a:r>
            <a:endParaRPr/>
          </a:p>
        </p:txBody>
      </p:sp>
      <p:sp>
        <p:nvSpPr>
          <p:cNvPr id="323" name="Google Shape;323;p28"/>
          <p:cNvSpPr/>
          <p:nvPr/>
        </p:nvSpPr>
        <p:spPr>
          <a:xfrm>
            <a:off x="50769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S2 R</a:t>
            </a:r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59913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S3</a:t>
            </a:r>
            <a:br>
              <a:rPr lang="en-US"/>
            </a:br>
            <a:r>
              <a:rPr lang="en-US"/>
              <a:t>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9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Scaling out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29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4" name="Google Shape;334;p29"/>
          <p:cNvSpPr txBox="1"/>
          <p:nvPr/>
        </p:nvSpPr>
        <p:spPr>
          <a:xfrm>
            <a:off x="424925" y="2318326"/>
            <a:ext cx="113421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Three</a:t>
            </a:r>
            <a:r>
              <a:rPr lang="en-US" sz="1500">
                <a:solidFill>
                  <a:srgbClr val="7F7F7F"/>
                </a:solidFill>
              </a:rPr>
              <a:t> node cluster with 3 shards and 1 replica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Load spread across all nodes</a:t>
            </a:r>
            <a:endParaRPr sz="1500">
              <a:solidFill>
                <a:srgbClr val="7F7F7F"/>
              </a:solidFill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683100" y="3415525"/>
            <a:ext cx="9446700" cy="253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9"/>
          <p:cNvSpPr/>
          <p:nvPr/>
        </p:nvSpPr>
        <p:spPr>
          <a:xfrm>
            <a:off x="952750" y="4044700"/>
            <a:ext cx="2777400" cy="1644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1</a:t>
            </a:r>
            <a:endParaRPr/>
          </a:p>
        </p:txBody>
      </p:sp>
      <p:sp>
        <p:nvSpPr>
          <p:cNvPr id="337" name="Google Shape;337;p29"/>
          <p:cNvSpPr/>
          <p:nvPr/>
        </p:nvSpPr>
        <p:spPr>
          <a:xfrm>
            <a:off x="11145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 P</a:t>
            </a:r>
            <a:endParaRPr/>
          </a:p>
        </p:txBody>
      </p:sp>
      <p:sp>
        <p:nvSpPr>
          <p:cNvPr id="338" name="Google Shape;338;p29"/>
          <p:cNvSpPr/>
          <p:nvPr/>
        </p:nvSpPr>
        <p:spPr>
          <a:xfrm>
            <a:off x="20289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S2 P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858575" y="3577300"/>
            <a:ext cx="170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</a:t>
            </a:r>
            <a:r>
              <a:rPr lang="en-US"/>
              <a:t> node cluster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8752200" y="3603550"/>
            <a:ext cx="665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State:</a:t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9339013" y="3612538"/>
            <a:ext cx="244200" cy="2442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9"/>
          <p:cNvSpPr/>
          <p:nvPr/>
        </p:nvSpPr>
        <p:spPr>
          <a:xfrm>
            <a:off x="4000750" y="4044700"/>
            <a:ext cx="2777400" cy="1644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2</a:t>
            </a:r>
            <a:endParaRPr/>
          </a:p>
        </p:txBody>
      </p:sp>
      <p:sp>
        <p:nvSpPr>
          <p:cNvPr id="343" name="Google Shape;343;p29"/>
          <p:cNvSpPr/>
          <p:nvPr/>
        </p:nvSpPr>
        <p:spPr>
          <a:xfrm>
            <a:off x="50769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S2 R</a:t>
            </a:r>
            <a:endParaRPr/>
          </a:p>
        </p:txBody>
      </p:sp>
      <p:sp>
        <p:nvSpPr>
          <p:cNvPr id="344" name="Google Shape;344;p29"/>
          <p:cNvSpPr/>
          <p:nvPr/>
        </p:nvSpPr>
        <p:spPr>
          <a:xfrm>
            <a:off x="7048750" y="4044700"/>
            <a:ext cx="2777400" cy="1644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3</a:t>
            </a: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72105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 R</a:t>
            </a:r>
            <a:endParaRPr/>
          </a:p>
        </p:txBody>
      </p:sp>
      <p:sp>
        <p:nvSpPr>
          <p:cNvPr id="346" name="Google Shape;346;p29"/>
          <p:cNvSpPr/>
          <p:nvPr/>
        </p:nvSpPr>
        <p:spPr>
          <a:xfrm>
            <a:off x="41625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S3 P</a:t>
            </a:r>
            <a:endParaRPr/>
          </a:p>
        </p:txBody>
      </p:sp>
      <p:sp>
        <p:nvSpPr>
          <p:cNvPr id="347" name="Google Shape;347;p29"/>
          <p:cNvSpPr/>
          <p:nvPr/>
        </p:nvSpPr>
        <p:spPr>
          <a:xfrm>
            <a:off x="8048725" y="4682850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S3</a:t>
            </a:r>
            <a:br>
              <a:rPr lang="en-US"/>
            </a:br>
            <a:r>
              <a:rPr lang="en-US"/>
              <a:t>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Scaling out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30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7" name="Google Shape;357;p30"/>
          <p:cNvSpPr txBox="1"/>
          <p:nvPr/>
        </p:nvSpPr>
        <p:spPr>
          <a:xfrm>
            <a:off x="424925" y="2318326"/>
            <a:ext cx="113421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Seven</a:t>
            </a:r>
            <a:r>
              <a:rPr lang="en-US" sz="1500">
                <a:solidFill>
                  <a:srgbClr val="7F7F7F"/>
                </a:solidFill>
              </a:rPr>
              <a:t> node cluster with 3 shards and 1 replica, one node unused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Increase number of shards (not possible)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Increase replication factor (possible on running cluster)</a:t>
            </a:r>
            <a:endParaRPr sz="1500">
              <a:solidFill>
                <a:srgbClr val="7F7F7F"/>
              </a:solidFill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683100" y="3415525"/>
            <a:ext cx="11019600" cy="253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0"/>
          <p:cNvSpPr/>
          <p:nvPr/>
        </p:nvSpPr>
        <p:spPr>
          <a:xfrm>
            <a:off x="952750" y="4384238"/>
            <a:ext cx="1353300" cy="130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1</a:t>
            </a:r>
            <a:endParaRPr/>
          </a:p>
        </p:txBody>
      </p:sp>
      <p:sp>
        <p:nvSpPr>
          <p:cNvPr id="360" name="Google Shape;360;p30"/>
          <p:cNvSpPr/>
          <p:nvPr/>
        </p:nvSpPr>
        <p:spPr>
          <a:xfrm>
            <a:off x="1276300" y="4916525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 P</a:t>
            </a:r>
            <a:endParaRPr/>
          </a:p>
        </p:txBody>
      </p:sp>
      <p:sp>
        <p:nvSpPr>
          <p:cNvPr id="361" name="Google Shape;361;p30"/>
          <p:cNvSpPr txBox="1"/>
          <p:nvPr/>
        </p:nvSpPr>
        <p:spPr>
          <a:xfrm>
            <a:off x="858575" y="3577300"/>
            <a:ext cx="170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Seven</a:t>
            </a:r>
            <a:r>
              <a:rPr lang="en-US"/>
              <a:t> node cluster</a:t>
            </a:r>
            <a:endParaRPr/>
          </a:p>
        </p:txBody>
      </p:sp>
      <p:sp>
        <p:nvSpPr>
          <p:cNvPr id="362" name="Google Shape;362;p30"/>
          <p:cNvSpPr txBox="1"/>
          <p:nvPr/>
        </p:nvSpPr>
        <p:spPr>
          <a:xfrm>
            <a:off x="10428600" y="3603550"/>
            <a:ext cx="665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State:</a:t>
            </a:r>
            <a:endParaRPr/>
          </a:p>
        </p:txBody>
      </p:sp>
      <p:sp>
        <p:nvSpPr>
          <p:cNvPr id="363" name="Google Shape;363;p30"/>
          <p:cNvSpPr/>
          <p:nvPr/>
        </p:nvSpPr>
        <p:spPr>
          <a:xfrm>
            <a:off x="11015413" y="3612538"/>
            <a:ext cx="244200" cy="2442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0"/>
          <p:cNvSpPr/>
          <p:nvPr/>
        </p:nvSpPr>
        <p:spPr>
          <a:xfrm>
            <a:off x="2476750" y="4384238"/>
            <a:ext cx="1353300" cy="130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2</a:t>
            </a:r>
            <a:endParaRPr/>
          </a:p>
        </p:txBody>
      </p:sp>
      <p:sp>
        <p:nvSpPr>
          <p:cNvPr id="365" name="Google Shape;365;p30"/>
          <p:cNvSpPr/>
          <p:nvPr/>
        </p:nvSpPr>
        <p:spPr>
          <a:xfrm>
            <a:off x="2800300" y="4916525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S2 P</a:t>
            </a:r>
            <a:endParaRPr/>
          </a:p>
        </p:txBody>
      </p:sp>
      <p:sp>
        <p:nvSpPr>
          <p:cNvPr id="366" name="Google Shape;366;p30"/>
          <p:cNvSpPr/>
          <p:nvPr/>
        </p:nvSpPr>
        <p:spPr>
          <a:xfrm>
            <a:off x="4000750" y="4384238"/>
            <a:ext cx="1353300" cy="130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3</a:t>
            </a:r>
            <a:endParaRPr/>
          </a:p>
        </p:txBody>
      </p:sp>
      <p:sp>
        <p:nvSpPr>
          <p:cNvPr id="367" name="Google Shape;367;p30"/>
          <p:cNvSpPr/>
          <p:nvPr/>
        </p:nvSpPr>
        <p:spPr>
          <a:xfrm>
            <a:off x="4324300" y="4916525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S3 P</a:t>
            </a:r>
            <a:endParaRPr/>
          </a:p>
        </p:txBody>
      </p:sp>
      <p:sp>
        <p:nvSpPr>
          <p:cNvPr id="368" name="Google Shape;368;p30"/>
          <p:cNvSpPr/>
          <p:nvPr/>
        </p:nvSpPr>
        <p:spPr>
          <a:xfrm>
            <a:off x="5524750" y="4384238"/>
            <a:ext cx="1353300" cy="130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4</a:t>
            </a:r>
            <a:endParaRPr/>
          </a:p>
        </p:txBody>
      </p:sp>
      <p:sp>
        <p:nvSpPr>
          <p:cNvPr id="369" name="Google Shape;369;p30"/>
          <p:cNvSpPr/>
          <p:nvPr/>
        </p:nvSpPr>
        <p:spPr>
          <a:xfrm>
            <a:off x="5848300" y="4916525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 R</a:t>
            </a:r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7048750" y="4384238"/>
            <a:ext cx="1353300" cy="130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5</a:t>
            </a:r>
            <a:endParaRPr/>
          </a:p>
        </p:txBody>
      </p:sp>
      <p:sp>
        <p:nvSpPr>
          <p:cNvPr id="371" name="Google Shape;371;p30"/>
          <p:cNvSpPr/>
          <p:nvPr/>
        </p:nvSpPr>
        <p:spPr>
          <a:xfrm>
            <a:off x="7372300" y="4916525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S2 R</a:t>
            </a:r>
            <a:endParaRPr/>
          </a:p>
        </p:txBody>
      </p:sp>
      <p:sp>
        <p:nvSpPr>
          <p:cNvPr id="372" name="Google Shape;372;p30"/>
          <p:cNvSpPr/>
          <p:nvPr/>
        </p:nvSpPr>
        <p:spPr>
          <a:xfrm>
            <a:off x="8572750" y="4384238"/>
            <a:ext cx="1353300" cy="130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6</a:t>
            </a:r>
            <a:endParaRPr/>
          </a:p>
        </p:txBody>
      </p:sp>
      <p:sp>
        <p:nvSpPr>
          <p:cNvPr id="373" name="Google Shape;373;p30"/>
          <p:cNvSpPr/>
          <p:nvPr/>
        </p:nvSpPr>
        <p:spPr>
          <a:xfrm>
            <a:off x="8896300" y="4916525"/>
            <a:ext cx="611100" cy="584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S3 R</a:t>
            </a:r>
            <a:endParaRPr/>
          </a:p>
        </p:txBody>
      </p:sp>
      <p:sp>
        <p:nvSpPr>
          <p:cNvPr id="374" name="Google Shape;374;p30"/>
          <p:cNvSpPr/>
          <p:nvPr/>
        </p:nvSpPr>
        <p:spPr>
          <a:xfrm>
            <a:off x="10096750" y="4384238"/>
            <a:ext cx="1353300" cy="130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7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1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Scaling in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" name="Google Shape;383;p31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4" name="Google Shape;384;p31"/>
          <p:cNvSpPr txBox="1"/>
          <p:nvPr/>
        </p:nvSpPr>
        <p:spPr>
          <a:xfrm>
            <a:off x="424925" y="2318326"/>
            <a:ext cx="113421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Make sure you have enough nodes to support replication factor when node is killed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Wait for green status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If necessary, lower the replication factor</a:t>
            </a:r>
            <a:endParaRPr sz="1500">
              <a:solidFill>
                <a:srgbClr val="7F7F7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2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Replacing the node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32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4" name="Google Shape;394;p32"/>
          <p:cNvSpPr txBox="1"/>
          <p:nvPr/>
        </p:nvSpPr>
        <p:spPr>
          <a:xfrm>
            <a:off x="424925" y="2318326"/>
            <a:ext cx="113421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Same as scale out / scale in</a:t>
            </a:r>
            <a:endParaRPr sz="1500">
              <a:solidFill>
                <a:srgbClr val="7F7F7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3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How does the write look like?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2714475" y="2264938"/>
            <a:ext cx="5932200" cy="362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3"/>
          <p:cNvSpPr/>
          <p:nvPr/>
        </p:nvSpPr>
        <p:spPr>
          <a:xfrm>
            <a:off x="3909900" y="2372875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3"/>
          <p:cNvSpPr/>
          <p:nvPr/>
        </p:nvSpPr>
        <p:spPr>
          <a:xfrm>
            <a:off x="5830025" y="2372875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6" name="Google Shape;406;p33"/>
          <p:cNvSpPr/>
          <p:nvPr/>
        </p:nvSpPr>
        <p:spPr>
          <a:xfrm>
            <a:off x="6938125" y="3636300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3"/>
          <p:cNvSpPr/>
          <p:nvPr/>
        </p:nvSpPr>
        <p:spPr>
          <a:xfrm>
            <a:off x="5730750" y="4764900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3"/>
          <p:cNvSpPr/>
          <p:nvPr/>
        </p:nvSpPr>
        <p:spPr>
          <a:xfrm>
            <a:off x="3909900" y="4764900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3"/>
          <p:cNvSpPr/>
          <p:nvPr/>
        </p:nvSpPr>
        <p:spPr>
          <a:xfrm>
            <a:off x="2856275" y="3553900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3"/>
          <p:cNvSpPr txBox="1"/>
          <p:nvPr/>
        </p:nvSpPr>
        <p:spPr>
          <a:xfrm>
            <a:off x="4134600" y="2346475"/>
            <a:ext cx="1141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2</a:t>
            </a:r>
            <a:br>
              <a:rPr lang="en-US"/>
            </a:br>
            <a:r>
              <a:rPr lang="en-US"/>
              <a:t>S2 P</a:t>
            </a:r>
            <a:br>
              <a:rPr lang="en-US"/>
            </a:br>
            <a:r>
              <a:rPr lang="en-US"/>
              <a:t>S3 R</a:t>
            </a:r>
            <a:endParaRPr/>
          </a:p>
        </p:txBody>
      </p:sp>
      <p:sp>
        <p:nvSpPr>
          <p:cNvPr id="411" name="Google Shape;411;p33"/>
          <p:cNvSpPr txBox="1"/>
          <p:nvPr/>
        </p:nvSpPr>
        <p:spPr>
          <a:xfrm>
            <a:off x="7162825" y="3609900"/>
            <a:ext cx="1141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4</a:t>
            </a:r>
            <a:br>
              <a:rPr lang="en-US"/>
            </a:br>
            <a:r>
              <a:rPr lang="en-US"/>
              <a:t>S1 R</a:t>
            </a:r>
            <a:br>
              <a:rPr lang="en-US"/>
            </a:br>
            <a:r>
              <a:rPr lang="en-US"/>
              <a:t>S4 P</a:t>
            </a:r>
            <a:endParaRPr/>
          </a:p>
        </p:txBody>
      </p:sp>
      <p:sp>
        <p:nvSpPr>
          <p:cNvPr id="412" name="Google Shape;412;p33"/>
          <p:cNvSpPr txBox="1"/>
          <p:nvPr/>
        </p:nvSpPr>
        <p:spPr>
          <a:xfrm>
            <a:off x="5929300" y="2346475"/>
            <a:ext cx="13752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3</a:t>
            </a:r>
            <a:br>
              <a:rPr lang="en-US"/>
            </a:br>
            <a:r>
              <a:rPr lang="en-US"/>
              <a:t>S1 ISR</a:t>
            </a:r>
            <a:br>
              <a:rPr lang="en-US"/>
            </a:br>
            <a:r>
              <a:rPr lang="en-US"/>
              <a:t>S2 ISR</a:t>
            </a:r>
            <a:endParaRPr/>
          </a:p>
        </p:txBody>
      </p:sp>
      <p:sp>
        <p:nvSpPr>
          <p:cNvPr id="413" name="Google Shape;413;p33"/>
          <p:cNvSpPr txBox="1"/>
          <p:nvPr/>
        </p:nvSpPr>
        <p:spPr>
          <a:xfrm>
            <a:off x="5830025" y="4890900"/>
            <a:ext cx="1375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5</a:t>
            </a:r>
            <a:br>
              <a:rPr lang="en-US"/>
            </a:br>
            <a:r>
              <a:rPr lang="en-US"/>
              <a:t>S1 ISR</a:t>
            </a:r>
            <a:br>
              <a:rPr lang="en-US"/>
            </a:br>
            <a:r>
              <a:rPr lang="en-US"/>
              <a:t>S4 ISR</a:t>
            </a:r>
            <a:endParaRPr/>
          </a:p>
        </p:txBody>
      </p:sp>
      <p:sp>
        <p:nvSpPr>
          <p:cNvPr id="414" name="Google Shape;414;p33"/>
          <p:cNvSpPr txBox="1"/>
          <p:nvPr/>
        </p:nvSpPr>
        <p:spPr>
          <a:xfrm>
            <a:off x="4017750" y="4814450"/>
            <a:ext cx="1375200" cy="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6</a:t>
            </a:r>
            <a:br>
              <a:rPr lang="en-US"/>
            </a:br>
            <a:r>
              <a:rPr lang="en-US"/>
              <a:t>S1 P</a:t>
            </a:r>
            <a:br>
              <a:rPr lang="en-US"/>
            </a:br>
            <a:r>
              <a:rPr lang="en-US"/>
              <a:t>S3 ISR</a:t>
            </a:r>
            <a:br>
              <a:rPr lang="en-US"/>
            </a:br>
            <a:r>
              <a:rPr lang="en-US"/>
              <a:t>S4 ISR</a:t>
            </a:r>
            <a:endParaRPr/>
          </a:p>
        </p:txBody>
      </p:sp>
      <p:sp>
        <p:nvSpPr>
          <p:cNvPr id="415" name="Google Shape;415;p33"/>
          <p:cNvSpPr txBox="1"/>
          <p:nvPr/>
        </p:nvSpPr>
        <p:spPr>
          <a:xfrm>
            <a:off x="2964125" y="3751525"/>
            <a:ext cx="1375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1</a:t>
            </a:r>
            <a:br>
              <a:rPr lang="en-US"/>
            </a:br>
            <a:r>
              <a:rPr lang="en-US"/>
              <a:t>S2 ISR</a:t>
            </a:r>
            <a:br>
              <a:rPr lang="en-US"/>
            </a:br>
            <a:r>
              <a:rPr lang="en-US"/>
              <a:t>S3 P</a:t>
            </a:r>
            <a:endParaRPr/>
          </a:p>
        </p:txBody>
      </p:sp>
      <p:cxnSp>
        <p:nvCxnSpPr>
          <p:cNvPr id="416" name="Google Shape;416;p33"/>
          <p:cNvCxnSpPr/>
          <p:nvPr/>
        </p:nvCxnSpPr>
        <p:spPr>
          <a:xfrm>
            <a:off x="2139225" y="2426825"/>
            <a:ext cx="1213500" cy="1168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33"/>
          <p:cNvCxnSpPr/>
          <p:nvPr/>
        </p:nvCxnSpPr>
        <p:spPr>
          <a:xfrm>
            <a:off x="4134600" y="4463025"/>
            <a:ext cx="314700" cy="350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33"/>
          <p:cNvCxnSpPr>
            <a:stCxn id="408" idx="7"/>
          </p:cNvCxnSpPr>
          <p:nvPr/>
        </p:nvCxnSpPr>
        <p:spPr>
          <a:xfrm>
            <a:off x="5267818" y="4918845"/>
            <a:ext cx="673500" cy="24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33"/>
          <p:cNvCxnSpPr/>
          <p:nvPr/>
        </p:nvCxnSpPr>
        <p:spPr>
          <a:xfrm flipH="1" rot="10800000">
            <a:off x="4876125" y="3379613"/>
            <a:ext cx="1361700" cy="1412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33"/>
          <p:cNvCxnSpPr/>
          <p:nvPr/>
        </p:nvCxnSpPr>
        <p:spPr>
          <a:xfrm rot="10800000">
            <a:off x="5303525" y="5590625"/>
            <a:ext cx="602100" cy="18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33"/>
          <p:cNvCxnSpPr>
            <a:stCxn id="405" idx="4"/>
          </p:cNvCxnSpPr>
          <p:nvPr/>
        </p:nvCxnSpPr>
        <p:spPr>
          <a:xfrm flipH="1">
            <a:off x="5033375" y="3424075"/>
            <a:ext cx="1592100" cy="140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33"/>
          <p:cNvCxnSpPr>
            <a:stCxn id="408" idx="0"/>
          </p:cNvCxnSpPr>
          <p:nvPr/>
        </p:nvCxnSpPr>
        <p:spPr>
          <a:xfrm rot="10800000">
            <a:off x="4395150" y="4314300"/>
            <a:ext cx="310200" cy="450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" name="Google Shape;423;p33"/>
          <p:cNvCxnSpPr>
            <a:stCxn id="409" idx="0"/>
          </p:cNvCxnSpPr>
          <p:nvPr/>
        </p:nvCxnSpPr>
        <p:spPr>
          <a:xfrm rot="10800000">
            <a:off x="2399825" y="2319100"/>
            <a:ext cx="1251900" cy="123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33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5" name="Google Shape;425;p33"/>
          <p:cNvSpPr txBox="1"/>
          <p:nvPr/>
        </p:nvSpPr>
        <p:spPr>
          <a:xfrm>
            <a:off x="2921200" y="2372875"/>
            <a:ext cx="13662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Cluster</a:t>
            </a:r>
            <a:endParaRPr/>
          </a:p>
        </p:txBody>
      </p:sp>
      <p:sp>
        <p:nvSpPr>
          <p:cNvPr id="426" name="Google Shape;426;p33"/>
          <p:cNvSpPr txBox="1"/>
          <p:nvPr/>
        </p:nvSpPr>
        <p:spPr>
          <a:xfrm>
            <a:off x="665100" y="3762150"/>
            <a:ext cx="18999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Generate doc ID if not present</a:t>
            </a:r>
            <a:endParaRPr/>
          </a:p>
        </p:txBody>
      </p:sp>
      <p:sp>
        <p:nvSpPr>
          <p:cNvPr id="427" name="Google Shape;427;p33"/>
          <p:cNvSpPr txBox="1"/>
          <p:nvPr/>
        </p:nvSpPr>
        <p:spPr>
          <a:xfrm>
            <a:off x="754575" y="4280600"/>
            <a:ext cx="18999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Hash ID to determine replication group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(routing param)</a:t>
            </a:r>
            <a:endParaRPr/>
          </a:p>
        </p:txBody>
      </p:sp>
      <p:sp>
        <p:nvSpPr>
          <p:cNvPr id="428" name="Google Shape;428;p33"/>
          <p:cNvSpPr txBox="1"/>
          <p:nvPr/>
        </p:nvSpPr>
        <p:spPr>
          <a:xfrm>
            <a:off x="754575" y="3424075"/>
            <a:ext cx="18999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Coordinator node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4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How does the read look like?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34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38" name="Google Shape;438;p34"/>
          <p:cNvSpPr/>
          <p:nvPr/>
        </p:nvSpPr>
        <p:spPr>
          <a:xfrm>
            <a:off x="2714475" y="2264938"/>
            <a:ext cx="5932200" cy="362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4"/>
          <p:cNvSpPr/>
          <p:nvPr/>
        </p:nvSpPr>
        <p:spPr>
          <a:xfrm>
            <a:off x="3909900" y="2372875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4"/>
          <p:cNvSpPr/>
          <p:nvPr/>
        </p:nvSpPr>
        <p:spPr>
          <a:xfrm>
            <a:off x="5830025" y="2372875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1" name="Google Shape;441;p34"/>
          <p:cNvSpPr/>
          <p:nvPr/>
        </p:nvSpPr>
        <p:spPr>
          <a:xfrm>
            <a:off x="6938125" y="3636300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4"/>
          <p:cNvSpPr/>
          <p:nvPr/>
        </p:nvSpPr>
        <p:spPr>
          <a:xfrm>
            <a:off x="5730750" y="4764900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4"/>
          <p:cNvSpPr/>
          <p:nvPr/>
        </p:nvSpPr>
        <p:spPr>
          <a:xfrm>
            <a:off x="3909900" y="4764900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4"/>
          <p:cNvSpPr/>
          <p:nvPr/>
        </p:nvSpPr>
        <p:spPr>
          <a:xfrm>
            <a:off x="2856275" y="3553900"/>
            <a:ext cx="1590900" cy="10512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4"/>
          <p:cNvSpPr txBox="1"/>
          <p:nvPr/>
        </p:nvSpPr>
        <p:spPr>
          <a:xfrm>
            <a:off x="4134600" y="2346475"/>
            <a:ext cx="1141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2</a:t>
            </a:r>
            <a:br>
              <a:rPr lang="en-US"/>
            </a:br>
            <a:r>
              <a:rPr lang="en-US"/>
              <a:t>S2 P</a:t>
            </a:r>
            <a:br>
              <a:rPr lang="en-US"/>
            </a:br>
            <a:r>
              <a:rPr lang="en-US"/>
              <a:t>S3 R</a:t>
            </a:r>
            <a:endParaRPr/>
          </a:p>
        </p:txBody>
      </p:sp>
      <p:sp>
        <p:nvSpPr>
          <p:cNvPr id="446" name="Google Shape;446;p34"/>
          <p:cNvSpPr txBox="1"/>
          <p:nvPr/>
        </p:nvSpPr>
        <p:spPr>
          <a:xfrm>
            <a:off x="7162825" y="3609900"/>
            <a:ext cx="1141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4</a:t>
            </a:r>
            <a:br>
              <a:rPr lang="en-US"/>
            </a:br>
            <a:r>
              <a:rPr lang="en-US"/>
              <a:t>S1 R</a:t>
            </a:r>
            <a:br>
              <a:rPr lang="en-US"/>
            </a:br>
            <a:r>
              <a:rPr lang="en-US"/>
              <a:t>S4 P</a:t>
            </a:r>
            <a:endParaRPr/>
          </a:p>
        </p:txBody>
      </p:sp>
      <p:sp>
        <p:nvSpPr>
          <p:cNvPr id="447" name="Google Shape;447;p34"/>
          <p:cNvSpPr txBox="1"/>
          <p:nvPr/>
        </p:nvSpPr>
        <p:spPr>
          <a:xfrm>
            <a:off x="5929300" y="2346475"/>
            <a:ext cx="13752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3</a:t>
            </a:r>
            <a:br>
              <a:rPr lang="en-US"/>
            </a:br>
            <a:r>
              <a:rPr lang="en-US"/>
              <a:t>S1 ISR</a:t>
            </a:r>
            <a:br>
              <a:rPr lang="en-US"/>
            </a:br>
            <a:r>
              <a:rPr lang="en-US"/>
              <a:t>S2 ISR</a:t>
            </a:r>
            <a:endParaRPr/>
          </a:p>
        </p:txBody>
      </p:sp>
      <p:sp>
        <p:nvSpPr>
          <p:cNvPr id="448" name="Google Shape;448;p34"/>
          <p:cNvSpPr txBox="1"/>
          <p:nvPr/>
        </p:nvSpPr>
        <p:spPr>
          <a:xfrm>
            <a:off x="5830025" y="4890900"/>
            <a:ext cx="1375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5</a:t>
            </a:r>
            <a:br>
              <a:rPr lang="en-US"/>
            </a:br>
            <a:r>
              <a:rPr lang="en-US"/>
              <a:t>S1 ISR</a:t>
            </a:r>
            <a:br>
              <a:rPr lang="en-US"/>
            </a:br>
            <a:r>
              <a:rPr lang="en-US"/>
              <a:t>S4 ISR</a:t>
            </a:r>
            <a:endParaRPr/>
          </a:p>
        </p:txBody>
      </p:sp>
      <p:sp>
        <p:nvSpPr>
          <p:cNvPr id="449" name="Google Shape;449;p34"/>
          <p:cNvSpPr txBox="1"/>
          <p:nvPr/>
        </p:nvSpPr>
        <p:spPr>
          <a:xfrm>
            <a:off x="4017750" y="4814450"/>
            <a:ext cx="1375200" cy="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6</a:t>
            </a:r>
            <a:br>
              <a:rPr lang="en-US"/>
            </a:br>
            <a:r>
              <a:rPr lang="en-US"/>
              <a:t>S1 P</a:t>
            </a:r>
            <a:br>
              <a:rPr lang="en-US"/>
            </a:br>
            <a:r>
              <a:rPr lang="en-US"/>
              <a:t>S3 ISR</a:t>
            </a:r>
            <a:br>
              <a:rPr lang="en-US"/>
            </a:br>
            <a:r>
              <a:rPr lang="en-US"/>
              <a:t>S4 ISR</a:t>
            </a:r>
            <a:endParaRPr/>
          </a:p>
        </p:txBody>
      </p:sp>
      <p:sp>
        <p:nvSpPr>
          <p:cNvPr id="450" name="Google Shape;450;p34"/>
          <p:cNvSpPr txBox="1"/>
          <p:nvPr/>
        </p:nvSpPr>
        <p:spPr>
          <a:xfrm>
            <a:off x="2964125" y="3751525"/>
            <a:ext cx="1375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1</a:t>
            </a:r>
            <a:br>
              <a:rPr lang="en-US"/>
            </a:br>
            <a:r>
              <a:rPr lang="en-US"/>
              <a:t>S2 ISR</a:t>
            </a:r>
            <a:br>
              <a:rPr lang="en-US"/>
            </a:br>
            <a:r>
              <a:rPr lang="en-US"/>
              <a:t>S3 P</a:t>
            </a:r>
            <a:endParaRPr/>
          </a:p>
        </p:txBody>
      </p:sp>
      <p:sp>
        <p:nvSpPr>
          <p:cNvPr id="451" name="Google Shape;451;p34"/>
          <p:cNvSpPr txBox="1"/>
          <p:nvPr/>
        </p:nvSpPr>
        <p:spPr>
          <a:xfrm>
            <a:off x="2921200" y="2372875"/>
            <a:ext cx="13662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Cluster</a:t>
            </a:r>
            <a:endParaRPr/>
          </a:p>
        </p:txBody>
      </p:sp>
      <p:cxnSp>
        <p:nvCxnSpPr>
          <p:cNvPr id="452" name="Google Shape;452;p34"/>
          <p:cNvCxnSpPr/>
          <p:nvPr/>
        </p:nvCxnSpPr>
        <p:spPr>
          <a:xfrm>
            <a:off x="2139225" y="2426825"/>
            <a:ext cx="1213500" cy="1168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34"/>
          <p:cNvCxnSpPr/>
          <p:nvPr/>
        </p:nvCxnSpPr>
        <p:spPr>
          <a:xfrm rot="10800000">
            <a:off x="2399825" y="2319100"/>
            <a:ext cx="1251900" cy="123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4" name="Google Shape;454;p34"/>
          <p:cNvSpPr txBox="1"/>
          <p:nvPr/>
        </p:nvSpPr>
        <p:spPr>
          <a:xfrm>
            <a:off x="754575" y="3424075"/>
            <a:ext cx="18999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Coordinator node</a:t>
            </a:r>
            <a:endParaRPr/>
          </a:p>
        </p:txBody>
      </p:sp>
      <p:sp>
        <p:nvSpPr>
          <p:cNvPr id="455" name="Google Shape;455;p34"/>
          <p:cNvSpPr txBox="1"/>
          <p:nvPr/>
        </p:nvSpPr>
        <p:spPr>
          <a:xfrm>
            <a:off x="665100" y="3762150"/>
            <a:ext cx="18999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Resolve search request to relevant shards</a:t>
            </a:r>
            <a:endParaRPr/>
          </a:p>
        </p:txBody>
      </p:sp>
      <p:cxnSp>
        <p:nvCxnSpPr>
          <p:cNvPr id="456" name="Google Shape;456;p34"/>
          <p:cNvCxnSpPr/>
          <p:nvPr/>
        </p:nvCxnSpPr>
        <p:spPr>
          <a:xfrm flipH="1" rot="10800000">
            <a:off x="4350300" y="3199925"/>
            <a:ext cx="1608900" cy="593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7" name="Google Shape;457;p34"/>
          <p:cNvCxnSpPr>
            <a:stCxn id="444" idx="6"/>
            <a:endCxn id="441" idx="2"/>
          </p:cNvCxnSpPr>
          <p:nvPr/>
        </p:nvCxnSpPr>
        <p:spPr>
          <a:xfrm>
            <a:off x="4447175" y="4079500"/>
            <a:ext cx="2490900" cy="8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34"/>
          <p:cNvCxnSpPr/>
          <p:nvPr/>
        </p:nvCxnSpPr>
        <p:spPr>
          <a:xfrm>
            <a:off x="4017750" y="4533925"/>
            <a:ext cx="233700" cy="337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34"/>
          <p:cNvCxnSpPr/>
          <p:nvPr/>
        </p:nvCxnSpPr>
        <p:spPr>
          <a:xfrm flipH="1">
            <a:off x="4431050" y="3316650"/>
            <a:ext cx="1707900" cy="593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34"/>
          <p:cNvCxnSpPr/>
          <p:nvPr/>
        </p:nvCxnSpPr>
        <p:spPr>
          <a:xfrm rot="10800000">
            <a:off x="4399887" y="4260287"/>
            <a:ext cx="2628900" cy="99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1" name="Google Shape;461;p34"/>
          <p:cNvCxnSpPr/>
          <p:nvPr/>
        </p:nvCxnSpPr>
        <p:spPr>
          <a:xfrm rot="10800000">
            <a:off x="4215450" y="4431000"/>
            <a:ext cx="233700" cy="368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2" name="Google Shape;462;p34"/>
          <p:cNvSpPr txBox="1"/>
          <p:nvPr/>
        </p:nvSpPr>
        <p:spPr>
          <a:xfrm>
            <a:off x="665100" y="4371750"/>
            <a:ext cx="18999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Combine the results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5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What if something goes wrong?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5"/>
          <p:cNvSpPr txBox="1"/>
          <p:nvPr/>
        </p:nvSpPr>
        <p:spPr>
          <a:xfrm>
            <a:off x="424925" y="2318325"/>
            <a:ext cx="11342100" cy="1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Network partition (one master)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Network partition (two masters)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Network partition (three masters)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Primary shard node failure (in sync replicas available)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Primary shard node failure (no in sync replicas available)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Write replication (replica write failure)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Node failure (read)</a:t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472" name="Google Shape;472;p35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6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What if something goes wrong?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481" name="Google Shape;481;p36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Network partition (one master)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6"/>
          <p:cNvSpPr txBox="1"/>
          <p:nvPr/>
        </p:nvSpPr>
        <p:spPr>
          <a:xfrm>
            <a:off x="424925" y="2318326"/>
            <a:ext cx="113421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7F7F7F"/>
                </a:solidFill>
              </a:rPr>
              <a:t>discovery.zen.no_master_block</a:t>
            </a:r>
            <a:endParaRPr/>
          </a:p>
        </p:txBody>
      </p:sp>
      <p:cxnSp>
        <p:nvCxnSpPr>
          <p:cNvPr id="483" name="Google Shape;483;p36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84" name="Google Shape;484;p36"/>
          <p:cNvSpPr/>
          <p:nvPr/>
        </p:nvSpPr>
        <p:spPr>
          <a:xfrm>
            <a:off x="4489316" y="2777349"/>
            <a:ext cx="5604300" cy="34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6"/>
          <p:cNvSpPr/>
          <p:nvPr/>
        </p:nvSpPr>
        <p:spPr>
          <a:xfrm>
            <a:off x="5618692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6"/>
          <p:cNvSpPr/>
          <p:nvPr/>
        </p:nvSpPr>
        <p:spPr>
          <a:xfrm>
            <a:off x="7432726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87" name="Google Shape;487;p36"/>
          <p:cNvSpPr/>
          <p:nvPr/>
        </p:nvSpPr>
        <p:spPr>
          <a:xfrm>
            <a:off x="8479601" y="4090263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6"/>
          <p:cNvSpPr/>
          <p:nvPr/>
        </p:nvSpPr>
        <p:spPr>
          <a:xfrm>
            <a:off x="7338936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6"/>
          <p:cNvSpPr/>
          <p:nvPr/>
        </p:nvSpPr>
        <p:spPr>
          <a:xfrm>
            <a:off x="5618692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6"/>
          <p:cNvSpPr/>
          <p:nvPr/>
        </p:nvSpPr>
        <p:spPr>
          <a:xfrm>
            <a:off x="4623282" y="4011375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6"/>
          <p:cNvSpPr txBox="1"/>
          <p:nvPr/>
        </p:nvSpPr>
        <p:spPr>
          <a:xfrm>
            <a:off x="5830976" y="3147221"/>
            <a:ext cx="107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P</a:t>
            </a:r>
            <a:endParaRPr/>
          </a:p>
        </p:txBody>
      </p:sp>
      <p:sp>
        <p:nvSpPr>
          <p:cNvPr id="492" name="Google Shape;492;p36"/>
          <p:cNvSpPr txBox="1"/>
          <p:nvPr/>
        </p:nvSpPr>
        <p:spPr>
          <a:xfrm>
            <a:off x="8691886" y="4356798"/>
            <a:ext cx="107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R</a:t>
            </a:r>
            <a:endParaRPr/>
          </a:p>
        </p:txBody>
      </p:sp>
      <p:sp>
        <p:nvSpPr>
          <p:cNvPr id="493" name="Google Shape;493;p36"/>
          <p:cNvSpPr txBox="1"/>
          <p:nvPr/>
        </p:nvSpPr>
        <p:spPr>
          <a:xfrm>
            <a:off x="7526516" y="3147221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P</a:t>
            </a:r>
            <a:endParaRPr/>
          </a:p>
        </p:txBody>
      </p:sp>
      <p:sp>
        <p:nvSpPr>
          <p:cNvPr id="494" name="Google Shape;494;p36"/>
          <p:cNvSpPr txBox="1"/>
          <p:nvPr/>
        </p:nvSpPr>
        <p:spPr>
          <a:xfrm>
            <a:off x="7432726" y="5437296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R</a:t>
            </a:r>
            <a:endParaRPr/>
          </a:p>
        </p:txBody>
      </p:sp>
      <p:sp>
        <p:nvSpPr>
          <p:cNvPr id="495" name="Google Shape;495;p36"/>
          <p:cNvSpPr txBox="1"/>
          <p:nvPr/>
        </p:nvSpPr>
        <p:spPr>
          <a:xfrm>
            <a:off x="5720583" y="5437057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R</a:t>
            </a:r>
            <a:endParaRPr/>
          </a:p>
        </p:txBody>
      </p:sp>
      <p:sp>
        <p:nvSpPr>
          <p:cNvPr id="496" name="Google Shape;496;p36"/>
          <p:cNvSpPr txBox="1"/>
          <p:nvPr/>
        </p:nvSpPr>
        <p:spPr>
          <a:xfrm>
            <a:off x="4725125" y="4313275"/>
            <a:ext cx="12993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Master</a:t>
            </a:r>
            <a:endParaRPr/>
          </a:p>
        </p:txBody>
      </p:sp>
      <p:sp>
        <p:nvSpPr>
          <p:cNvPr id="497" name="Google Shape;497;p36"/>
          <p:cNvSpPr txBox="1"/>
          <p:nvPr/>
        </p:nvSpPr>
        <p:spPr>
          <a:xfrm>
            <a:off x="4684619" y="2880687"/>
            <a:ext cx="1290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Cluster</a:t>
            </a:r>
            <a:endParaRPr/>
          </a:p>
        </p:txBody>
      </p:sp>
      <p:cxnSp>
        <p:nvCxnSpPr>
          <p:cNvPr id="498" name="Google Shape;498;p36"/>
          <p:cNvCxnSpPr/>
          <p:nvPr/>
        </p:nvCxnSpPr>
        <p:spPr>
          <a:xfrm flipH="1">
            <a:off x="7289425" y="2247050"/>
            <a:ext cx="9000" cy="4566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7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What if something goes wrong?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507" name="Google Shape;507;p37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Network partition (two masters)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7"/>
          <p:cNvSpPr txBox="1"/>
          <p:nvPr/>
        </p:nvSpPr>
        <p:spPr>
          <a:xfrm>
            <a:off x="424925" y="2318326"/>
            <a:ext cx="113421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7F7F7F"/>
                </a:solidFill>
              </a:rPr>
              <a:t>discovery.zen.minimum_master_nodes</a:t>
            </a:r>
            <a:endParaRPr/>
          </a:p>
        </p:txBody>
      </p:sp>
      <p:cxnSp>
        <p:nvCxnSpPr>
          <p:cNvPr id="509" name="Google Shape;509;p37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10" name="Google Shape;510;p37"/>
          <p:cNvSpPr/>
          <p:nvPr/>
        </p:nvSpPr>
        <p:spPr>
          <a:xfrm>
            <a:off x="4489316" y="2777349"/>
            <a:ext cx="5604300" cy="34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7"/>
          <p:cNvSpPr/>
          <p:nvPr/>
        </p:nvSpPr>
        <p:spPr>
          <a:xfrm>
            <a:off x="5618692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7"/>
          <p:cNvSpPr/>
          <p:nvPr/>
        </p:nvSpPr>
        <p:spPr>
          <a:xfrm>
            <a:off x="7432726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3" name="Google Shape;513;p37"/>
          <p:cNvSpPr/>
          <p:nvPr/>
        </p:nvSpPr>
        <p:spPr>
          <a:xfrm>
            <a:off x="8479601" y="4090263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7"/>
          <p:cNvSpPr/>
          <p:nvPr/>
        </p:nvSpPr>
        <p:spPr>
          <a:xfrm>
            <a:off x="7338936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7"/>
          <p:cNvSpPr/>
          <p:nvPr/>
        </p:nvSpPr>
        <p:spPr>
          <a:xfrm>
            <a:off x="5618692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7"/>
          <p:cNvSpPr/>
          <p:nvPr/>
        </p:nvSpPr>
        <p:spPr>
          <a:xfrm>
            <a:off x="4623282" y="4011375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7"/>
          <p:cNvSpPr txBox="1"/>
          <p:nvPr/>
        </p:nvSpPr>
        <p:spPr>
          <a:xfrm>
            <a:off x="5830976" y="3147221"/>
            <a:ext cx="107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P</a:t>
            </a:r>
            <a:endParaRPr/>
          </a:p>
        </p:txBody>
      </p:sp>
      <p:sp>
        <p:nvSpPr>
          <p:cNvPr id="518" name="Google Shape;518;p37"/>
          <p:cNvSpPr txBox="1"/>
          <p:nvPr/>
        </p:nvSpPr>
        <p:spPr>
          <a:xfrm>
            <a:off x="8691886" y="4356798"/>
            <a:ext cx="107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Master</a:t>
            </a:r>
            <a:endParaRPr/>
          </a:p>
        </p:txBody>
      </p:sp>
      <p:sp>
        <p:nvSpPr>
          <p:cNvPr id="519" name="Google Shape;519;p37"/>
          <p:cNvSpPr txBox="1"/>
          <p:nvPr/>
        </p:nvSpPr>
        <p:spPr>
          <a:xfrm>
            <a:off x="7526516" y="3147221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P</a:t>
            </a:r>
            <a:endParaRPr/>
          </a:p>
        </p:txBody>
      </p:sp>
      <p:sp>
        <p:nvSpPr>
          <p:cNvPr id="520" name="Google Shape;520;p37"/>
          <p:cNvSpPr txBox="1"/>
          <p:nvPr/>
        </p:nvSpPr>
        <p:spPr>
          <a:xfrm>
            <a:off x="7432726" y="5437296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R</a:t>
            </a:r>
            <a:endParaRPr/>
          </a:p>
        </p:txBody>
      </p:sp>
      <p:sp>
        <p:nvSpPr>
          <p:cNvPr id="521" name="Google Shape;521;p37"/>
          <p:cNvSpPr txBox="1"/>
          <p:nvPr/>
        </p:nvSpPr>
        <p:spPr>
          <a:xfrm>
            <a:off x="5720583" y="5437057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R</a:t>
            </a:r>
            <a:endParaRPr/>
          </a:p>
        </p:txBody>
      </p:sp>
      <p:sp>
        <p:nvSpPr>
          <p:cNvPr id="522" name="Google Shape;522;p37"/>
          <p:cNvSpPr txBox="1"/>
          <p:nvPr/>
        </p:nvSpPr>
        <p:spPr>
          <a:xfrm>
            <a:off x="4725125" y="4313275"/>
            <a:ext cx="12993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Master</a:t>
            </a:r>
            <a:endParaRPr/>
          </a:p>
        </p:txBody>
      </p:sp>
      <p:sp>
        <p:nvSpPr>
          <p:cNvPr id="523" name="Google Shape;523;p37"/>
          <p:cNvSpPr txBox="1"/>
          <p:nvPr/>
        </p:nvSpPr>
        <p:spPr>
          <a:xfrm>
            <a:off x="4684619" y="2880687"/>
            <a:ext cx="1290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Cluster</a:t>
            </a:r>
            <a:endParaRPr/>
          </a:p>
        </p:txBody>
      </p:sp>
      <p:cxnSp>
        <p:nvCxnSpPr>
          <p:cNvPr id="524" name="Google Shape;524;p37"/>
          <p:cNvCxnSpPr/>
          <p:nvPr/>
        </p:nvCxnSpPr>
        <p:spPr>
          <a:xfrm flipH="1">
            <a:off x="7289425" y="2247050"/>
            <a:ext cx="9000" cy="4566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8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What if something goes wrong?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533" name="Google Shape;533;p38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Network partition (three masters)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8"/>
          <p:cNvSpPr txBox="1"/>
          <p:nvPr/>
        </p:nvSpPr>
        <p:spPr>
          <a:xfrm>
            <a:off x="424925" y="2318326"/>
            <a:ext cx="113421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500">
                <a:solidFill>
                  <a:srgbClr val="7F7F7F"/>
                </a:solidFill>
              </a:rPr>
              <a:t>discovery.zen.minimum_master_nodes</a:t>
            </a:r>
            <a:endParaRPr/>
          </a:p>
        </p:txBody>
      </p:sp>
      <p:cxnSp>
        <p:nvCxnSpPr>
          <p:cNvPr id="535" name="Google Shape;535;p38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36" name="Google Shape;536;p38"/>
          <p:cNvSpPr/>
          <p:nvPr/>
        </p:nvSpPr>
        <p:spPr>
          <a:xfrm>
            <a:off x="4489316" y="2777349"/>
            <a:ext cx="5604300" cy="34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8"/>
          <p:cNvSpPr/>
          <p:nvPr/>
        </p:nvSpPr>
        <p:spPr>
          <a:xfrm>
            <a:off x="5618692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8"/>
          <p:cNvSpPr/>
          <p:nvPr/>
        </p:nvSpPr>
        <p:spPr>
          <a:xfrm>
            <a:off x="7432726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9" name="Google Shape;539;p38"/>
          <p:cNvSpPr/>
          <p:nvPr/>
        </p:nvSpPr>
        <p:spPr>
          <a:xfrm>
            <a:off x="8479601" y="4090263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8"/>
          <p:cNvSpPr/>
          <p:nvPr/>
        </p:nvSpPr>
        <p:spPr>
          <a:xfrm>
            <a:off x="7338936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8"/>
          <p:cNvSpPr/>
          <p:nvPr/>
        </p:nvSpPr>
        <p:spPr>
          <a:xfrm>
            <a:off x="5618692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8"/>
          <p:cNvSpPr/>
          <p:nvPr/>
        </p:nvSpPr>
        <p:spPr>
          <a:xfrm>
            <a:off x="4623282" y="4011375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8"/>
          <p:cNvSpPr txBox="1"/>
          <p:nvPr/>
        </p:nvSpPr>
        <p:spPr>
          <a:xfrm>
            <a:off x="5830976" y="3147221"/>
            <a:ext cx="107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P</a:t>
            </a:r>
            <a:endParaRPr/>
          </a:p>
        </p:txBody>
      </p:sp>
      <p:sp>
        <p:nvSpPr>
          <p:cNvPr id="544" name="Google Shape;544;p38"/>
          <p:cNvSpPr txBox="1"/>
          <p:nvPr/>
        </p:nvSpPr>
        <p:spPr>
          <a:xfrm>
            <a:off x="8691886" y="4356798"/>
            <a:ext cx="107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Master</a:t>
            </a:r>
            <a:endParaRPr/>
          </a:p>
        </p:txBody>
      </p:sp>
      <p:sp>
        <p:nvSpPr>
          <p:cNvPr id="545" name="Google Shape;545;p38"/>
          <p:cNvSpPr txBox="1"/>
          <p:nvPr/>
        </p:nvSpPr>
        <p:spPr>
          <a:xfrm>
            <a:off x="7526516" y="3147221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P</a:t>
            </a:r>
            <a:endParaRPr/>
          </a:p>
        </p:txBody>
      </p:sp>
      <p:sp>
        <p:nvSpPr>
          <p:cNvPr id="546" name="Google Shape;546;p38"/>
          <p:cNvSpPr txBox="1"/>
          <p:nvPr/>
        </p:nvSpPr>
        <p:spPr>
          <a:xfrm>
            <a:off x="7432726" y="5437296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Master</a:t>
            </a:r>
            <a:endParaRPr/>
          </a:p>
        </p:txBody>
      </p:sp>
      <p:sp>
        <p:nvSpPr>
          <p:cNvPr id="547" name="Google Shape;547;p38"/>
          <p:cNvSpPr txBox="1"/>
          <p:nvPr/>
        </p:nvSpPr>
        <p:spPr>
          <a:xfrm>
            <a:off x="5720583" y="5437057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R</a:t>
            </a:r>
            <a:endParaRPr/>
          </a:p>
        </p:txBody>
      </p:sp>
      <p:sp>
        <p:nvSpPr>
          <p:cNvPr id="548" name="Google Shape;548;p38"/>
          <p:cNvSpPr txBox="1"/>
          <p:nvPr/>
        </p:nvSpPr>
        <p:spPr>
          <a:xfrm>
            <a:off x="4725125" y="4313275"/>
            <a:ext cx="12993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Master</a:t>
            </a:r>
            <a:endParaRPr/>
          </a:p>
        </p:txBody>
      </p:sp>
      <p:sp>
        <p:nvSpPr>
          <p:cNvPr id="549" name="Google Shape;549;p38"/>
          <p:cNvSpPr txBox="1"/>
          <p:nvPr/>
        </p:nvSpPr>
        <p:spPr>
          <a:xfrm>
            <a:off x="4684619" y="2880687"/>
            <a:ext cx="1290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Cluster</a:t>
            </a:r>
            <a:endParaRPr/>
          </a:p>
        </p:txBody>
      </p:sp>
      <p:cxnSp>
        <p:nvCxnSpPr>
          <p:cNvPr id="550" name="Google Shape;550;p38"/>
          <p:cNvCxnSpPr/>
          <p:nvPr/>
        </p:nvCxnSpPr>
        <p:spPr>
          <a:xfrm flipH="1">
            <a:off x="7289425" y="2247050"/>
            <a:ext cx="9000" cy="4566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39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What if something goes wrong?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559" name="Google Shape;559;p39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Primary shard node failure (in sync replicas available)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0" name="Google Shape;560;p39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1" name="Google Shape;561;p39"/>
          <p:cNvSpPr/>
          <p:nvPr/>
        </p:nvSpPr>
        <p:spPr>
          <a:xfrm>
            <a:off x="4489316" y="2777349"/>
            <a:ext cx="5604300" cy="34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9"/>
          <p:cNvSpPr/>
          <p:nvPr/>
        </p:nvSpPr>
        <p:spPr>
          <a:xfrm>
            <a:off x="5618692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9"/>
          <p:cNvSpPr/>
          <p:nvPr/>
        </p:nvSpPr>
        <p:spPr>
          <a:xfrm>
            <a:off x="7432726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4" name="Google Shape;564;p39"/>
          <p:cNvSpPr/>
          <p:nvPr/>
        </p:nvSpPr>
        <p:spPr>
          <a:xfrm>
            <a:off x="8479601" y="4090263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9"/>
          <p:cNvSpPr/>
          <p:nvPr/>
        </p:nvSpPr>
        <p:spPr>
          <a:xfrm>
            <a:off x="7338936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9"/>
          <p:cNvSpPr/>
          <p:nvPr/>
        </p:nvSpPr>
        <p:spPr>
          <a:xfrm>
            <a:off x="5618692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9"/>
          <p:cNvSpPr/>
          <p:nvPr/>
        </p:nvSpPr>
        <p:spPr>
          <a:xfrm>
            <a:off x="4623282" y="4011375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9"/>
          <p:cNvSpPr txBox="1"/>
          <p:nvPr/>
        </p:nvSpPr>
        <p:spPr>
          <a:xfrm>
            <a:off x="5830976" y="3147221"/>
            <a:ext cx="107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P</a:t>
            </a:r>
            <a:endParaRPr/>
          </a:p>
        </p:txBody>
      </p:sp>
      <p:sp>
        <p:nvSpPr>
          <p:cNvPr id="569" name="Google Shape;569;p39"/>
          <p:cNvSpPr txBox="1"/>
          <p:nvPr/>
        </p:nvSpPr>
        <p:spPr>
          <a:xfrm>
            <a:off x="8579075" y="4356800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ISR</a:t>
            </a:r>
            <a:endParaRPr/>
          </a:p>
        </p:txBody>
      </p:sp>
      <p:sp>
        <p:nvSpPr>
          <p:cNvPr id="570" name="Google Shape;570;p39"/>
          <p:cNvSpPr txBox="1"/>
          <p:nvPr/>
        </p:nvSpPr>
        <p:spPr>
          <a:xfrm>
            <a:off x="7526516" y="3147221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P</a:t>
            </a:r>
            <a:endParaRPr/>
          </a:p>
        </p:txBody>
      </p:sp>
      <p:sp>
        <p:nvSpPr>
          <p:cNvPr id="571" name="Google Shape;571;p39"/>
          <p:cNvSpPr txBox="1"/>
          <p:nvPr/>
        </p:nvSpPr>
        <p:spPr>
          <a:xfrm>
            <a:off x="7432726" y="5437296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ISR</a:t>
            </a:r>
            <a:endParaRPr/>
          </a:p>
        </p:txBody>
      </p:sp>
      <p:sp>
        <p:nvSpPr>
          <p:cNvPr id="572" name="Google Shape;572;p39"/>
          <p:cNvSpPr txBox="1"/>
          <p:nvPr/>
        </p:nvSpPr>
        <p:spPr>
          <a:xfrm>
            <a:off x="5720583" y="5437057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R</a:t>
            </a:r>
            <a:endParaRPr/>
          </a:p>
        </p:txBody>
      </p:sp>
      <p:sp>
        <p:nvSpPr>
          <p:cNvPr id="573" name="Google Shape;573;p39"/>
          <p:cNvSpPr txBox="1"/>
          <p:nvPr/>
        </p:nvSpPr>
        <p:spPr>
          <a:xfrm>
            <a:off x="4725125" y="4313275"/>
            <a:ext cx="12993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Master</a:t>
            </a:r>
            <a:endParaRPr/>
          </a:p>
        </p:txBody>
      </p:sp>
      <p:sp>
        <p:nvSpPr>
          <p:cNvPr id="574" name="Google Shape;574;p39"/>
          <p:cNvSpPr txBox="1"/>
          <p:nvPr/>
        </p:nvSpPr>
        <p:spPr>
          <a:xfrm>
            <a:off x="4684619" y="2880687"/>
            <a:ext cx="1290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Cluster</a:t>
            </a:r>
            <a:endParaRPr/>
          </a:p>
        </p:txBody>
      </p:sp>
      <p:cxnSp>
        <p:nvCxnSpPr>
          <p:cNvPr id="575" name="Google Shape;575;p39"/>
          <p:cNvCxnSpPr/>
          <p:nvPr/>
        </p:nvCxnSpPr>
        <p:spPr>
          <a:xfrm>
            <a:off x="7550100" y="2822300"/>
            <a:ext cx="1213500" cy="1159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9"/>
          <p:cNvSpPr txBox="1"/>
          <p:nvPr/>
        </p:nvSpPr>
        <p:spPr>
          <a:xfrm>
            <a:off x="8581325" y="4357538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P (new)</a:t>
            </a:r>
            <a:endParaRPr/>
          </a:p>
        </p:txBody>
      </p:sp>
      <p:cxnSp>
        <p:nvCxnSpPr>
          <p:cNvPr id="577" name="Google Shape;577;p39"/>
          <p:cNvCxnSpPr/>
          <p:nvPr/>
        </p:nvCxnSpPr>
        <p:spPr>
          <a:xfrm flipH="1" rot="10800000">
            <a:off x="7577050" y="2858225"/>
            <a:ext cx="1150500" cy="1159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39"/>
          <p:cNvCxnSpPr>
            <a:stCxn id="567" idx="6"/>
            <a:endCxn id="564" idx="2"/>
          </p:cNvCxnSpPr>
          <p:nvPr/>
        </p:nvCxnSpPr>
        <p:spPr>
          <a:xfrm>
            <a:off x="6126282" y="4514625"/>
            <a:ext cx="2353200" cy="7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0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What if something goes wrong?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587" name="Google Shape;587;p40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Primary shard node failure (no in sync replicas available)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40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9" name="Google Shape;589;p40"/>
          <p:cNvSpPr/>
          <p:nvPr/>
        </p:nvSpPr>
        <p:spPr>
          <a:xfrm>
            <a:off x="4489316" y="2777349"/>
            <a:ext cx="5604300" cy="34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0"/>
          <p:cNvSpPr/>
          <p:nvPr/>
        </p:nvSpPr>
        <p:spPr>
          <a:xfrm>
            <a:off x="5618692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0"/>
          <p:cNvSpPr/>
          <p:nvPr/>
        </p:nvSpPr>
        <p:spPr>
          <a:xfrm>
            <a:off x="7432726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2" name="Google Shape;592;p40"/>
          <p:cNvSpPr/>
          <p:nvPr/>
        </p:nvSpPr>
        <p:spPr>
          <a:xfrm>
            <a:off x="8479601" y="4090263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0"/>
          <p:cNvSpPr/>
          <p:nvPr/>
        </p:nvSpPr>
        <p:spPr>
          <a:xfrm>
            <a:off x="7338936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0"/>
          <p:cNvSpPr/>
          <p:nvPr/>
        </p:nvSpPr>
        <p:spPr>
          <a:xfrm>
            <a:off x="5618692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0"/>
          <p:cNvSpPr/>
          <p:nvPr/>
        </p:nvSpPr>
        <p:spPr>
          <a:xfrm>
            <a:off x="4623282" y="4011375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0"/>
          <p:cNvSpPr txBox="1"/>
          <p:nvPr/>
        </p:nvSpPr>
        <p:spPr>
          <a:xfrm>
            <a:off x="5830976" y="3147221"/>
            <a:ext cx="107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P</a:t>
            </a:r>
            <a:endParaRPr/>
          </a:p>
        </p:txBody>
      </p:sp>
      <p:sp>
        <p:nvSpPr>
          <p:cNvPr id="597" name="Google Shape;597;p40"/>
          <p:cNvSpPr txBox="1"/>
          <p:nvPr/>
        </p:nvSpPr>
        <p:spPr>
          <a:xfrm>
            <a:off x="8579075" y="4356800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R</a:t>
            </a:r>
            <a:endParaRPr/>
          </a:p>
        </p:txBody>
      </p:sp>
      <p:sp>
        <p:nvSpPr>
          <p:cNvPr id="598" name="Google Shape;598;p40"/>
          <p:cNvSpPr txBox="1"/>
          <p:nvPr/>
        </p:nvSpPr>
        <p:spPr>
          <a:xfrm>
            <a:off x="7526516" y="3147221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P</a:t>
            </a:r>
            <a:endParaRPr/>
          </a:p>
        </p:txBody>
      </p:sp>
      <p:sp>
        <p:nvSpPr>
          <p:cNvPr id="599" name="Google Shape;599;p40"/>
          <p:cNvSpPr txBox="1"/>
          <p:nvPr/>
        </p:nvSpPr>
        <p:spPr>
          <a:xfrm>
            <a:off x="7432726" y="5437296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ISR</a:t>
            </a:r>
            <a:endParaRPr/>
          </a:p>
        </p:txBody>
      </p:sp>
      <p:sp>
        <p:nvSpPr>
          <p:cNvPr id="600" name="Google Shape;600;p40"/>
          <p:cNvSpPr txBox="1"/>
          <p:nvPr/>
        </p:nvSpPr>
        <p:spPr>
          <a:xfrm>
            <a:off x="5720583" y="5437057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R</a:t>
            </a:r>
            <a:endParaRPr/>
          </a:p>
        </p:txBody>
      </p:sp>
      <p:sp>
        <p:nvSpPr>
          <p:cNvPr id="601" name="Google Shape;601;p40"/>
          <p:cNvSpPr txBox="1"/>
          <p:nvPr/>
        </p:nvSpPr>
        <p:spPr>
          <a:xfrm>
            <a:off x="4725125" y="4313275"/>
            <a:ext cx="12993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Master</a:t>
            </a:r>
            <a:endParaRPr/>
          </a:p>
        </p:txBody>
      </p:sp>
      <p:sp>
        <p:nvSpPr>
          <p:cNvPr id="602" name="Google Shape;602;p40"/>
          <p:cNvSpPr txBox="1"/>
          <p:nvPr/>
        </p:nvSpPr>
        <p:spPr>
          <a:xfrm>
            <a:off x="4684619" y="2880687"/>
            <a:ext cx="1290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Cluster</a:t>
            </a:r>
            <a:endParaRPr/>
          </a:p>
        </p:txBody>
      </p:sp>
      <p:cxnSp>
        <p:nvCxnSpPr>
          <p:cNvPr id="603" name="Google Shape;603;p40"/>
          <p:cNvCxnSpPr/>
          <p:nvPr/>
        </p:nvCxnSpPr>
        <p:spPr>
          <a:xfrm>
            <a:off x="7550100" y="2822300"/>
            <a:ext cx="1213500" cy="1159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0"/>
          <p:cNvCxnSpPr/>
          <p:nvPr/>
        </p:nvCxnSpPr>
        <p:spPr>
          <a:xfrm flipH="1" rot="10800000">
            <a:off x="7577050" y="2858225"/>
            <a:ext cx="1150500" cy="1159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40"/>
          <p:cNvCxnSpPr/>
          <p:nvPr/>
        </p:nvCxnSpPr>
        <p:spPr>
          <a:xfrm>
            <a:off x="1599900" y="4485125"/>
            <a:ext cx="3023400" cy="21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40"/>
          <p:cNvSpPr txBox="1"/>
          <p:nvPr/>
        </p:nvSpPr>
        <p:spPr>
          <a:xfrm>
            <a:off x="1599900" y="4090275"/>
            <a:ext cx="259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allocate_stale_primary cmd</a:t>
            </a:r>
            <a:endParaRPr/>
          </a:p>
        </p:txBody>
      </p:sp>
      <p:cxnSp>
        <p:nvCxnSpPr>
          <p:cNvPr id="607" name="Google Shape;607;p40"/>
          <p:cNvCxnSpPr>
            <a:endCxn id="592" idx="2"/>
          </p:cNvCxnSpPr>
          <p:nvPr/>
        </p:nvCxnSpPr>
        <p:spPr>
          <a:xfrm>
            <a:off x="6087401" y="4576713"/>
            <a:ext cx="2392200" cy="16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8" name="Google Shape;608;p40"/>
          <p:cNvSpPr txBox="1"/>
          <p:nvPr/>
        </p:nvSpPr>
        <p:spPr>
          <a:xfrm>
            <a:off x="8542575" y="4357525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ISR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1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What if something goes wrong?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617" name="Google Shape;617;p41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Write replication (replica write failure)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8" name="Google Shape;618;p41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19" name="Google Shape;619;p41"/>
          <p:cNvSpPr/>
          <p:nvPr/>
        </p:nvSpPr>
        <p:spPr>
          <a:xfrm>
            <a:off x="4475016" y="2732524"/>
            <a:ext cx="5604300" cy="34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41"/>
          <p:cNvSpPr/>
          <p:nvPr/>
        </p:nvSpPr>
        <p:spPr>
          <a:xfrm>
            <a:off x="5618692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1"/>
          <p:cNvSpPr/>
          <p:nvPr/>
        </p:nvSpPr>
        <p:spPr>
          <a:xfrm>
            <a:off x="7432726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2" name="Google Shape;622;p41"/>
          <p:cNvSpPr/>
          <p:nvPr/>
        </p:nvSpPr>
        <p:spPr>
          <a:xfrm>
            <a:off x="8479601" y="4090263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1"/>
          <p:cNvSpPr/>
          <p:nvPr/>
        </p:nvSpPr>
        <p:spPr>
          <a:xfrm>
            <a:off x="7338936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1"/>
          <p:cNvSpPr/>
          <p:nvPr/>
        </p:nvSpPr>
        <p:spPr>
          <a:xfrm>
            <a:off x="5618692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1"/>
          <p:cNvSpPr/>
          <p:nvPr/>
        </p:nvSpPr>
        <p:spPr>
          <a:xfrm>
            <a:off x="4623282" y="4011375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1"/>
          <p:cNvSpPr txBox="1"/>
          <p:nvPr/>
        </p:nvSpPr>
        <p:spPr>
          <a:xfrm>
            <a:off x="5830975" y="3147225"/>
            <a:ext cx="11529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Coordinator node</a:t>
            </a:r>
            <a:endParaRPr/>
          </a:p>
        </p:txBody>
      </p:sp>
      <p:sp>
        <p:nvSpPr>
          <p:cNvPr id="627" name="Google Shape;627;p41"/>
          <p:cNvSpPr txBox="1"/>
          <p:nvPr/>
        </p:nvSpPr>
        <p:spPr>
          <a:xfrm>
            <a:off x="8579075" y="4356800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ISR</a:t>
            </a:r>
            <a:endParaRPr/>
          </a:p>
        </p:txBody>
      </p:sp>
      <p:sp>
        <p:nvSpPr>
          <p:cNvPr id="628" name="Google Shape;628;p41"/>
          <p:cNvSpPr txBox="1"/>
          <p:nvPr/>
        </p:nvSpPr>
        <p:spPr>
          <a:xfrm>
            <a:off x="7526516" y="3147221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P</a:t>
            </a:r>
            <a:endParaRPr/>
          </a:p>
        </p:txBody>
      </p:sp>
      <p:sp>
        <p:nvSpPr>
          <p:cNvPr id="629" name="Google Shape;629;p41"/>
          <p:cNvSpPr txBox="1"/>
          <p:nvPr/>
        </p:nvSpPr>
        <p:spPr>
          <a:xfrm>
            <a:off x="7432726" y="5437296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R</a:t>
            </a:r>
            <a:endParaRPr/>
          </a:p>
        </p:txBody>
      </p:sp>
      <p:sp>
        <p:nvSpPr>
          <p:cNvPr id="630" name="Google Shape;630;p41"/>
          <p:cNvSpPr txBox="1"/>
          <p:nvPr/>
        </p:nvSpPr>
        <p:spPr>
          <a:xfrm>
            <a:off x="5720583" y="5437057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ISR</a:t>
            </a:r>
            <a:endParaRPr/>
          </a:p>
        </p:txBody>
      </p:sp>
      <p:sp>
        <p:nvSpPr>
          <p:cNvPr id="631" name="Google Shape;631;p41"/>
          <p:cNvSpPr txBox="1"/>
          <p:nvPr/>
        </p:nvSpPr>
        <p:spPr>
          <a:xfrm>
            <a:off x="4725125" y="4313275"/>
            <a:ext cx="12993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Master</a:t>
            </a:r>
            <a:endParaRPr/>
          </a:p>
        </p:txBody>
      </p:sp>
      <p:sp>
        <p:nvSpPr>
          <p:cNvPr id="632" name="Google Shape;632;p41"/>
          <p:cNvSpPr txBox="1"/>
          <p:nvPr/>
        </p:nvSpPr>
        <p:spPr>
          <a:xfrm>
            <a:off x="4684619" y="2880687"/>
            <a:ext cx="1290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Cluster</a:t>
            </a:r>
            <a:endParaRPr/>
          </a:p>
        </p:txBody>
      </p:sp>
      <p:cxnSp>
        <p:nvCxnSpPr>
          <p:cNvPr id="633" name="Google Shape;633;p41"/>
          <p:cNvCxnSpPr>
            <a:stCxn id="620" idx="7"/>
            <a:endCxn id="621" idx="1"/>
          </p:cNvCxnSpPr>
          <p:nvPr/>
        </p:nvCxnSpPr>
        <p:spPr>
          <a:xfrm>
            <a:off x="6901582" y="3028085"/>
            <a:ext cx="751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4" name="Google Shape;634;p41"/>
          <p:cNvCxnSpPr>
            <a:stCxn id="621" idx="4"/>
            <a:endCxn id="622" idx="0"/>
          </p:cNvCxnSpPr>
          <p:nvPr/>
        </p:nvCxnSpPr>
        <p:spPr>
          <a:xfrm>
            <a:off x="8184226" y="3887187"/>
            <a:ext cx="1047000" cy="20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5" name="Google Shape;635;p41"/>
          <p:cNvCxnSpPr>
            <a:stCxn id="621" idx="4"/>
            <a:endCxn id="624" idx="0"/>
          </p:cNvCxnSpPr>
          <p:nvPr/>
        </p:nvCxnSpPr>
        <p:spPr>
          <a:xfrm flipH="1">
            <a:off x="6370126" y="3887187"/>
            <a:ext cx="1814100" cy="128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6" name="Google Shape;636;p41"/>
          <p:cNvCxnSpPr>
            <a:endCxn id="620" idx="0"/>
          </p:cNvCxnSpPr>
          <p:nvPr/>
        </p:nvCxnSpPr>
        <p:spPr>
          <a:xfrm>
            <a:off x="5860192" y="2310087"/>
            <a:ext cx="510000" cy="570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7" name="Google Shape;637;p41"/>
          <p:cNvCxnSpPr/>
          <p:nvPr/>
        </p:nvCxnSpPr>
        <p:spPr>
          <a:xfrm flipH="1">
            <a:off x="8367900" y="3828975"/>
            <a:ext cx="539400" cy="332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41"/>
          <p:cNvCxnSpPr/>
          <p:nvPr/>
        </p:nvCxnSpPr>
        <p:spPr>
          <a:xfrm>
            <a:off x="8475875" y="3819975"/>
            <a:ext cx="422400" cy="34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41"/>
          <p:cNvCxnSpPr/>
          <p:nvPr/>
        </p:nvCxnSpPr>
        <p:spPr>
          <a:xfrm flipH="1">
            <a:off x="6075975" y="3568325"/>
            <a:ext cx="1402200" cy="763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0" name="Google Shape;640;p41"/>
          <p:cNvCxnSpPr>
            <a:stCxn id="625" idx="6"/>
            <a:endCxn id="621" idx="3"/>
          </p:cNvCxnSpPr>
          <p:nvPr/>
        </p:nvCxnSpPr>
        <p:spPr>
          <a:xfrm flipH="1" rot="10800000">
            <a:off x="6126282" y="3739725"/>
            <a:ext cx="1526700" cy="77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1" name="Google Shape;641;p41"/>
          <p:cNvCxnSpPr>
            <a:stCxn id="628" idx="1"/>
            <a:endCxn id="620" idx="6"/>
          </p:cNvCxnSpPr>
          <p:nvPr/>
        </p:nvCxnSpPr>
        <p:spPr>
          <a:xfrm rot="10800000">
            <a:off x="7121816" y="3383921"/>
            <a:ext cx="404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2" name="Google Shape;642;p41"/>
          <p:cNvCxnSpPr/>
          <p:nvPr/>
        </p:nvCxnSpPr>
        <p:spPr>
          <a:xfrm rot="10800000">
            <a:off x="6138925" y="2274075"/>
            <a:ext cx="467400" cy="638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3" name="Google Shape;643;p41"/>
          <p:cNvSpPr txBox="1"/>
          <p:nvPr/>
        </p:nvSpPr>
        <p:spPr>
          <a:xfrm>
            <a:off x="8581451" y="4370021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2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What if something goes wrong?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652" name="Google Shape;652;p42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Node failure (read)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42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54" name="Google Shape;654;p42"/>
          <p:cNvSpPr/>
          <p:nvPr/>
        </p:nvSpPr>
        <p:spPr>
          <a:xfrm>
            <a:off x="4475016" y="2732524"/>
            <a:ext cx="5604300" cy="34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2"/>
          <p:cNvSpPr/>
          <p:nvPr/>
        </p:nvSpPr>
        <p:spPr>
          <a:xfrm>
            <a:off x="5618692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2"/>
          <p:cNvSpPr/>
          <p:nvPr/>
        </p:nvSpPr>
        <p:spPr>
          <a:xfrm>
            <a:off x="7432726" y="2880687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57" name="Google Shape;657;p42"/>
          <p:cNvSpPr/>
          <p:nvPr/>
        </p:nvSpPr>
        <p:spPr>
          <a:xfrm>
            <a:off x="8479601" y="4090263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2"/>
          <p:cNvSpPr/>
          <p:nvPr/>
        </p:nvSpPr>
        <p:spPr>
          <a:xfrm>
            <a:off x="7338936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2"/>
          <p:cNvSpPr/>
          <p:nvPr/>
        </p:nvSpPr>
        <p:spPr>
          <a:xfrm>
            <a:off x="5618692" y="5170762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2"/>
          <p:cNvSpPr/>
          <p:nvPr/>
        </p:nvSpPr>
        <p:spPr>
          <a:xfrm>
            <a:off x="4623282" y="4011375"/>
            <a:ext cx="1503000" cy="1006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2"/>
          <p:cNvSpPr txBox="1"/>
          <p:nvPr/>
        </p:nvSpPr>
        <p:spPr>
          <a:xfrm>
            <a:off x="5830975" y="3147225"/>
            <a:ext cx="11529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Coordinator node</a:t>
            </a:r>
            <a:endParaRPr/>
          </a:p>
        </p:txBody>
      </p:sp>
      <p:sp>
        <p:nvSpPr>
          <p:cNvPr id="662" name="Google Shape;662;p42"/>
          <p:cNvSpPr txBox="1"/>
          <p:nvPr/>
        </p:nvSpPr>
        <p:spPr>
          <a:xfrm>
            <a:off x="8579075" y="4356800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P</a:t>
            </a:r>
            <a:endParaRPr/>
          </a:p>
        </p:txBody>
      </p:sp>
      <p:sp>
        <p:nvSpPr>
          <p:cNvPr id="663" name="Google Shape;663;p42"/>
          <p:cNvSpPr txBox="1"/>
          <p:nvPr/>
        </p:nvSpPr>
        <p:spPr>
          <a:xfrm>
            <a:off x="7526516" y="3147221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1 R</a:t>
            </a:r>
            <a:endParaRPr/>
          </a:p>
        </p:txBody>
      </p:sp>
      <p:sp>
        <p:nvSpPr>
          <p:cNvPr id="664" name="Google Shape;664;p42"/>
          <p:cNvSpPr txBox="1"/>
          <p:nvPr/>
        </p:nvSpPr>
        <p:spPr>
          <a:xfrm>
            <a:off x="7432726" y="5437296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P</a:t>
            </a:r>
            <a:endParaRPr/>
          </a:p>
        </p:txBody>
      </p:sp>
      <p:sp>
        <p:nvSpPr>
          <p:cNvPr id="665" name="Google Shape;665;p42"/>
          <p:cNvSpPr txBox="1"/>
          <p:nvPr/>
        </p:nvSpPr>
        <p:spPr>
          <a:xfrm>
            <a:off x="5720583" y="5437057"/>
            <a:ext cx="1299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Shard 2 R</a:t>
            </a:r>
            <a:endParaRPr/>
          </a:p>
        </p:txBody>
      </p:sp>
      <p:sp>
        <p:nvSpPr>
          <p:cNvPr id="666" name="Google Shape;666;p42"/>
          <p:cNvSpPr txBox="1"/>
          <p:nvPr/>
        </p:nvSpPr>
        <p:spPr>
          <a:xfrm>
            <a:off x="4725125" y="4313275"/>
            <a:ext cx="12993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Master</a:t>
            </a:r>
            <a:endParaRPr/>
          </a:p>
        </p:txBody>
      </p:sp>
      <p:sp>
        <p:nvSpPr>
          <p:cNvPr id="667" name="Google Shape;667;p42"/>
          <p:cNvSpPr txBox="1"/>
          <p:nvPr/>
        </p:nvSpPr>
        <p:spPr>
          <a:xfrm>
            <a:off x="4684619" y="2880687"/>
            <a:ext cx="1290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Cluster</a:t>
            </a:r>
            <a:endParaRPr/>
          </a:p>
        </p:txBody>
      </p:sp>
      <p:cxnSp>
        <p:nvCxnSpPr>
          <p:cNvPr id="668" name="Google Shape;668;p42"/>
          <p:cNvCxnSpPr>
            <a:stCxn id="655" idx="7"/>
            <a:endCxn id="656" idx="1"/>
          </p:cNvCxnSpPr>
          <p:nvPr/>
        </p:nvCxnSpPr>
        <p:spPr>
          <a:xfrm>
            <a:off x="6901582" y="3028085"/>
            <a:ext cx="751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9" name="Google Shape;669;p42"/>
          <p:cNvCxnSpPr/>
          <p:nvPr/>
        </p:nvCxnSpPr>
        <p:spPr>
          <a:xfrm flipH="1">
            <a:off x="6323251" y="3886999"/>
            <a:ext cx="93900" cy="128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0" name="Google Shape;670;p42"/>
          <p:cNvCxnSpPr>
            <a:endCxn id="655" idx="0"/>
          </p:cNvCxnSpPr>
          <p:nvPr/>
        </p:nvCxnSpPr>
        <p:spPr>
          <a:xfrm>
            <a:off x="5860192" y="2310087"/>
            <a:ext cx="510000" cy="570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1" name="Google Shape;671;p42"/>
          <p:cNvCxnSpPr>
            <a:stCxn id="663" idx="1"/>
            <a:endCxn id="655" idx="6"/>
          </p:cNvCxnSpPr>
          <p:nvPr/>
        </p:nvCxnSpPr>
        <p:spPr>
          <a:xfrm rot="10800000">
            <a:off x="7121816" y="3383921"/>
            <a:ext cx="404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2" name="Google Shape;672;p42"/>
          <p:cNvCxnSpPr/>
          <p:nvPr/>
        </p:nvCxnSpPr>
        <p:spPr>
          <a:xfrm rot="10800000">
            <a:off x="6138925" y="2274075"/>
            <a:ext cx="467400" cy="638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3" name="Google Shape;673;p42"/>
          <p:cNvCxnSpPr/>
          <p:nvPr/>
        </p:nvCxnSpPr>
        <p:spPr>
          <a:xfrm flipH="1" rot="10800000">
            <a:off x="6561400" y="3856000"/>
            <a:ext cx="63000" cy="133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4" name="Google Shape;674;p42"/>
          <p:cNvCxnSpPr>
            <a:endCxn id="658" idx="1"/>
          </p:cNvCxnSpPr>
          <p:nvPr/>
        </p:nvCxnSpPr>
        <p:spPr>
          <a:xfrm>
            <a:off x="6750245" y="3837960"/>
            <a:ext cx="808800" cy="148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5" name="Google Shape;675;p42"/>
          <p:cNvCxnSpPr>
            <a:endCxn id="655" idx="5"/>
          </p:cNvCxnSpPr>
          <p:nvPr/>
        </p:nvCxnSpPr>
        <p:spPr>
          <a:xfrm rot="10800000">
            <a:off x="6901582" y="3739788"/>
            <a:ext cx="900300" cy="1464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6" name="Google Shape;676;p42"/>
          <p:cNvCxnSpPr/>
          <p:nvPr/>
        </p:nvCxnSpPr>
        <p:spPr>
          <a:xfrm>
            <a:off x="6489475" y="4296350"/>
            <a:ext cx="242700" cy="71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42"/>
          <p:cNvCxnSpPr/>
          <p:nvPr/>
        </p:nvCxnSpPr>
        <p:spPr>
          <a:xfrm flipH="1">
            <a:off x="6444475" y="4325063"/>
            <a:ext cx="332700" cy="67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3"/>
          <p:cNvSpPr txBox="1"/>
          <p:nvPr/>
        </p:nvSpPr>
        <p:spPr>
          <a:xfrm>
            <a:off x="406445" y="13854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Lucene level</a:t>
            </a:r>
            <a:endParaRPr sz="3200">
              <a:solidFill>
                <a:schemeClr val="dk1"/>
              </a:solidFill>
            </a:endParaRPr>
          </a:p>
        </p:txBody>
      </p:sp>
      <p:cxnSp>
        <p:nvCxnSpPr>
          <p:cNvPr id="686" name="Google Shape;686;p43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44"/>
          <p:cNvSpPr txBox="1"/>
          <p:nvPr/>
        </p:nvSpPr>
        <p:spPr>
          <a:xfrm>
            <a:off x="406445" y="13854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How is write processed?</a:t>
            </a:r>
            <a:endParaRPr sz="3200">
              <a:solidFill>
                <a:schemeClr val="dk1"/>
              </a:solidFill>
            </a:endParaRPr>
          </a:p>
        </p:txBody>
      </p:sp>
      <p:cxnSp>
        <p:nvCxnSpPr>
          <p:cNvPr id="695" name="Google Shape;695;p44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96" name="Google Shape;696;p44"/>
          <p:cNvSpPr/>
          <p:nvPr/>
        </p:nvSpPr>
        <p:spPr>
          <a:xfrm>
            <a:off x="961750" y="2471751"/>
            <a:ext cx="9685200" cy="31368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Elasticsearch</a:t>
            </a:r>
            <a:endParaRPr/>
          </a:p>
        </p:txBody>
      </p:sp>
      <p:sp>
        <p:nvSpPr>
          <p:cNvPr id="697" name="Google Shape;697;p44"/>
          <p:cNvSpPr/>
          <p:nvPr/>
        </p:nvSpPr>
        <p:spPr>
          <a:xfrm>
            <a:off x="1499050" y="3154850"/>
            <a:ext cx="8952000" cy="236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Lucene</a:t>
            </a:r>
            <a:endParaRPr/>
          </a:p>
        </p:txBody>
      </p:sp>
      <p:sp>
        <p:nvSpPr>
          <p:cNvPr id="698" name="Google Shape;698;p44"/>
          <p:cNvSpPr/>
          <p:nvPr/>
        </p:nvSpPr>
        <p:spPr>
          <a:xfrm>
            <a:off x="1891175" y="3811000"/>
            <a:ext cx="1698600" cy="1277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Character filters</a:t>
            </a:r>
            <a:endParaRPr/>
          </a:p>
        </p:txBody>
      </p:sp>
      <p:sp>
        <p:nvSpPr>
          <p:cNvPr id="699" name="Google Shape;699;p44"/>
          <p:cNvSpPr/>
          <p:nvPr/>
        </p:nvSpPr>
        <p:spPr>
          <a:xfrm>
            <a:off x="4096400" y="3810925"/>
            <a:ext cx="1698600" cy="1277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Tokenizer</a:t>
            </a:r>
            <a:endParaRPr/>
          </a:p>
        </p:txBody>
      </p:sp>
      <p:sp>
        <p:nvSpPr>
          <p:cNvPr id="700" name="Google Shape;700;p44"/>
          <p:cNvSpPr/>
          <p:nvPr/>
        </p:nvSpPr>
        <p:spPr>
          <a:xfrm>
            <a:off x="6301625" y="3810925"/>
            <a:ext cx="1698600" cy="1277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Token filters</a:t>
            </a:r>
            <a:endParaRPr/>
          </a:p>
        </p:txBody>
      </p:sp>
      <p:sp>
        <p:nvSpPr>
          <p:cNvPr id="701" name="Google Shape;701;p44"/>
          <p:cNvSpPr/>
          <p:nvPr/>
        </p:nvSpPr>
        <p:spPr>
          <a:xfrm>
            <a:off x="8529725" y="3810925"/>
            <a:ext cx="1698600" cy="1277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storage</a:t>
            </a:r>
            <a:endParaRPr/>
          </a:p>
        </p:txBody>
      </p:sp>
      <p:sp>
        <p:nvSpPr>
          <p:cNvPr id="702" name="Google Shape;702;p44"/>
          <p:cNvSpPr/>
          <p:nvPr/>
        </p:nvSpPr>
        <p:spPr>
          <a:xfrm>
            <a:off x="197750" y="3873900"/>
            <a:ext cx="7641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4"/>
          <p:cNvSpPr/>
          <p:nvPr/>
        </p:nvSpPr>
        <p:spPr>
          <a:xfrm>
            <a:off x="961750" y="4064675"/>
            <a:ext cx="5373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4"/>
          <p:cNvSpPr/>
          <p:nvPr/>
        </p:nvSpPr>
        <p:spPr>
          <a:xfrm>
            <a:off x="1493650" y="4253425"/>
            <a:ext cx="3978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4"/>
          <p:cNvSpPr/>
          <p:nvPr/>
        </p:nvSpPr>
        <p:spPr>
          <a:xfrm>
            <a:off x="3589775" y="4253425"/>
            <a:ext cx="506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4"/>
          <p:cNvSpPr/>
          <p:nvPr/>
        </p:nvSpPr>
        <p:spPr>
          <a:xfrm>
            <a:off x="5795000" y="4253425"/>
            <a:ext cx="506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4"/>
          <p:cNvSpPr/>
          <p:nvPr/>
        </p:nvSpPr>
        <p:spPr>
          <a:xfrm>
            <a:off x="8000250" y="4253425"/>
            <a:ext cx="5373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5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How is write processed?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716" name="Google Shape;716;p45"/>
          <p:cNvSpPr txBox="1"/>
          <p:nvPr/>
        </p:nvSpPr>
        <p:spPr>
          <a:xfrm>
            <a:off x="424925" y="2318325"/>
            <a:ext cx="113421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Mapping character filter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HTML strip character filter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Pattern replace character filter</a:t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717" name="Google Shape;717;p45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18" name="Google Shape;718;p45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Character fiters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5"/>
          <p:cNvSpPr txBox="1"/>
          <p:nvPr/>
        </p:nvSpPr>
        <p:spPr>
          <a:xfrm>
            <a:off x="844900" y="3954800"/>
            <a:ext cx="4377300" cy="18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&lt;p class=’paragraph’&gt;Creates an instance of &lt;link&gt;ObjectGenerator&lt;/link&gt; based on provided configuration. Resulting &lt;link&gt;ObjectGenerator&lt;/link&gt; will try to convert configured output to specified &lt;code&gt;objectType&lt;/code&gt;.&lt;/p&gt;</a:t>
            </a:r>
            <a:endParaRPr sz="1800"/>
          </a:p>
        </p:txBody>
      </p:sp>
      <p:sp>
        <p:nvSpPr>
          <p:cNvPr id="720" name="Google Shape;720;p45"/>
          <p:cNvSpPr txBox="1"/>
          <p:nvPr/>
        </p:nvSpPr>
        <p:spPr>
          <a:xfrm>
            <a:off x="6534050" y="3954800"/>
            <a:ext cx="43773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Creates an instance of ObjectGenerator based on provided configuration. Resulting ObjectGenerator will try to convert configured output to specified objectType.</a:t>
            </a:r>
            <a:endParaRPr sz="1800"/>
          </a:p>
        </p:txBody>
      </p:sp>
      <p:sp>
        <p:nvSpPr>
          <p:cNvPr id="721" name="Google Shape;721;p45"/>
          <p:cNvSpPr/>
          <p:nvPr/>
        </p:nvSpPr>
        <p:spPr>
          <a:xfrm>
            <a:off x="5222200" y="4235025"/>
            <a:ext cx="13119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46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How is write processed?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730" name="Google Shape;730;p46"/>
          <p:cNvSpPr txBox="1"/>
          <p:nvPr/>
        </p:nvSpPr>
        <p:spPr>
          <a:xfrm>
            <a:off x="424925" y="2318325"/>
            <a:ext cx="113421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Standard tokenizer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Keyword tokenizer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Letter tokenizer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Lowercase tokenizer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N gram tokenizer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Edge n gram tokenizer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Regular expression pattern tokenizer</a:t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731" name="Google Shape;731;p46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32" name="Google Shape;732;p46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Tokenizer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6"/>
          <p:cNvSpPr txBox="1"/>
          <p:nvPr/>
        </p:nvSpPr>
        <p:spPr>
          <a:xfrm>
            <a:off x="889450" y="4458150"/>
            <a:ext cx="43236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Creates an instance of ObjectGenerator based on provided configuration. Resulting ObjectGenerator will try to convert configured output to specified objectType.</a:t>
            </a:r>
            <a:endParaRPr sz="180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4" name="Google Shape;734;p46"/>
          <p:cNvSpPr/>
          <p:nvPr/>
        </p:nvSpPr>
        <p:spPr>
          <a:xfrm>
            <a:off x="5213050" y="4927125"/>
            <a:ext cx="13119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46"/>
          <p:cNvSpPr txBox="1"/>
          <p:nvPr/>
        </p:nvSpPr>
        <p:spPr>
          <a:xfrm>
            <a:off x="6524950" y="4458150"/>
            <a:ext cx="46923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[Creates, an, instance, of, ObjectGenerator, based, on, provided, configuration, Resulting, ObjectGenerator</a:t>
            </a:r>
            <a:r>
              <a:rPr lang="en-US" sz="1800"/>
              <a:t>, will, try, to, convert, configured, output, to, specified, objectType]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7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How is write processed?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744" name="Google Shape;744;p47"/>
          <p:cNvSpPr txBox="1"/>
          <p:nvPr/>
        </p:nvSpPr>
        <p:spPr>
          <a:xfrm>
            <a:off x="424925" y="2318325"/>
            <a:ext cx="1134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Lower case filter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English possessive filter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Stop filter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Synonym filter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Reversed wildcard filter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English minimal stem filter</a:t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745" name="Google Shape;745;p47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46" name="Google Shape;746;p47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Token filters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7"/>
          <p:cNvSpPr/>
          <p:nvPr/>
        </p:nvSpPr>
        <p:spPr>
          <a:xfrm>
            <a:off x="5518625" y="4927125"/>
            <a:ext cx="9480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47"/>
          <p:cNvSpPr txBox="1"/>
          <p:nvPr/>
        </p:nvSpPr>
        <p:spPr>
          <a:xfrm>
            <a:off x="831125" y="4341975"/>
            <a:ext cx="46875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[Creates, an, instance, of, ObjectGenerator, based, on, provided, configuration, Resulting, ObjectGenerator, will, try, to, convert, configured, output, to, specified, objectType]</a:t>
            </a:r>
            <a:endParaRPr sz="1800"/>
          </a:p>
        </p:txBody>
      </p:sp>
      <p:sp>
        <p:nvSpPr>
          <p:cNvPr id="749" name="Google Shape;749;p47"/>
          <p:cNvSpPr txBox="1"/>
          <p:nvPr/>
        </p:nvSpPr>
        <p:spPr>
          <a:xfrm>
            <a:off x="6466625" y="4341975"/>
            <a:ext cx="43236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[creates, instance, ObjectGenerator, based, provided, configuration, resulting, try, convert, configured, output, specified, objectType]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48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Inverted index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8" name="Google Shape;758;p48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59" name="Google Shape;759;p48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File storage - Logical view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60" name="Google Shape;760;p48"/>
          <p:cNvSpPr txBox="1"/>
          <p:nvPr/>
        </p:nvSpPr>
        <p:spPr>
          <a:xfrm>
            <a:off x="424925" y="2318325"/>
            <a:ext cx="113421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Difference between forward and inverted index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Doc1: “Peter has a brown dog and a white cat”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Doc2: “Mike has a black dog”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Doc3: “Rachel has a brown cat”</a:t>
            </a:r>
            <a:endParaRPr sz="1500">
              <a:solidFill>
                <a:srgbClr val="7F7F7F"/>
              </a:solidFill>
            </a:endParaRPr>
          </a:p>
        </p:txBody>
      </p:sp>
      <p:graphicFrame>
        <p:nvGraphicFramePr>
          <p:cNvPr id="761" name="Google Shape;761;p48"/>
          <p:cNvGraphicFramePr/>
          <p:nvPr/>
        </p:nvGraphicFramePr>
        <p:xfrm>
          <a:off x="424925" y="35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698825"/>
                <a:gridCol w="2541450"/>
              </a:tblGrid>
              <a:tr h="260325"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Forward index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  <a:tr h="230600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brown, cat, dog, peter, white</a:t>
                      </a:r>
                      <a:endParaRPr/>
                    </a:p>
                  </a:txBody>
                  <a:tcPr marT="0" marB="0" marR="91425" marL="91425"/>
                </a:tc>
              </a:tr>
              <a:tr h="230600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Doc2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black, dog, mike</a:t>
                      </a:r>
                      <a:endParaRPr/>
                    </a:p>
                  </a:txBody>
                  <a:tcPr marT="0" marB="0" marR="91425" marL="91425"/>
                </a:tc>
              </a:tr>
              <a:tr h="230600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Doc3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brown, cat, rachel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762" name="Google Shape;762;p48"/>
          <p:cNvSpPr/>
          <p:nvPr/>
        </p:nvSpPr>
        <p:spPr>
          <a:xfrm>
            <a:off x="4071650" y="3199800"/>
            <a:ext cx="7972500" cy="342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63" name="Google Shape;763;p48"/>
          <p:cNvGraphicFramePr/>
          <p:nvPr/>
        </p:nvGraphicFramePr>
        <p:xfrm>
          <a:off x="4350025" y="35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500550"/>
                <a:gridCol w="941000"/>
                <a:gridCol w="797150"/>
              </a:tblGrid>
              <a:tr h="272875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Inverted index</a:t>
                      </a:r>
                      <a:endParaRPr/>
                    </a:p>
                  </a:txBody>
                  <a:tcPr marT="0" marB="0" marR="91425" marL="91425"/>
                </a:tc>
                <a:tc hMerge="1"/>
                <a:tc hMerge="1"/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black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brown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0, 2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0, 2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dog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0, 1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mike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peter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rachel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white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764" name="Google Shape;764;p48"/>
          <p:cNvGraphicFramePr/>
          <p:nvPr/>
        </p:nvGraphicFramePr>
        <p:xfrm>
          <a:off x="6985450" y="358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488125"/>
                <a:gridCol w="757475"/>
                <a:gridCol w="3417850"/>
              </a:tblGrid>
              <a:tr h="251450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Documents</a:t>
                      </a:r>
                      <a:endParaRPr/>
                    </a:p>
                  </a:txBody>
                  <a:tcPr marT="0" marB="0" marR="91425" marL="91425"/>
                </a:tc>
                <a:tc hMerge="1"/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 (Peter has a brown dog and a white cat.)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Doc2 (Mike has a black dog.)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Doc3 (Rachel has a brown cat.)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</a:tbl>
          </a:graphicData>
        </a:graphic>
      </p:graphicFrame>
      <p:sp>
        <p:nvSpPr>
          <p:cNvPr id="765" name="Google Shape;765;p48"/>
          <p:cNvSpPr txBox="1"/>
          <p:nvPr/>
        </p:nvSpPr>
        <p:spPr>
          <a:xfrm>
            <a:off x="4220150" y="5963550"/>
            <a:ext cx="7368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 ordinal</a:t>
            </a:r>
            <a:endParaRPr/>
          </a:p>
        </p:txBody>
      </p:sp>
      <p:sp>
        <p:nvSpPr>
          <p:cNvPr id="766" name="Google Shape;766;p48"/>
          <p:cNvSpPr txBox="1"/>
          <p:nvPr/>
        </p:nvSpPr>
        <p:spPr>
          <a:xfrm>
            <a:off x="4956950" y="5963550"/>
            <a:ext cx="7368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terms dict</a:t>
            </a:r>
            <a:endParaRPr/>
          </a:p>
        </p:txBody>
      </p:sp>
      <p:sp>
        <p:nvSpPr>
          <p:cNvPr id="767" name="Google Shape;767;p48"/>
          <p:cNvSpPr txBox="1"/>
          <p:nvPr/>
        </p:nvSpPr>
        <p:spPr>
          <a:xfrm>
            <a:off x="5699525" y="5963550"/>
            <a:ext cx="9036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postings list</a:t>
            </a:r>
            <a:endParaRPr/>
          </a:p>
        </p:txBody>
      </p:sp>
      <p:sp>
        <p:nvSpPr>
          <p:cNvPr id="768" name="Google Shape;768;p48"/>
          <p:cNvSpPr txBox="1"/>
          <p:nvPr/>
        </p:nvSpPr>
        <p:spPr>
          <a:xfrm>
            <a:off x="6810950" y="4591950"/>
            <a:ext cx="7368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 id</a:t>
            </a:r>
            <a:endParaRPr/>
          </a:p>
        </p:txBody>
      </p:sp>
      <p:sp>
        <p:nvSpPr>
          <p:cNvPr id="769" name="Google Shape;769;p48"/>
          <p:cNvSpPr txBox="1"/>
          <p:nvPr/>
        </p:nvSpPr>
        <p:spPr>
          <a:xfrm>
            <a:off x="7572950" y="4591950"/>
            <a:ext cx="104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</a:t>
            </a:r>
            <a:endParaRPr/>
          </a:p>
        </p:txBody>
      </p:sp>
      <p:sp>
        <p:nvSpPr>
          <p:cNvPr id="770" name="Google Shape;770;p48"/>
          <p:cNvSpPr txBox="1"/>
          <p:nvPr/>
        </p:nvSpPr>
        <p:spPr>
          <a:xfrm>
            <a:off x="7572950" y="6039750"/>
            <a:ext cx="11187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9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Inverted index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9" name="Google Shape;779;p49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80" name="Google Shape;780;p49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File storage - Logical view (deleting documents)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81" name="Google Shape;781;p49"/>
          <p:cNvSpPr/>
          <p:nvPr/>
        </p:nvSpPr>
        <p:spPr>
          <a:xfrm>
            <a:off x="490250" y="2666400"/>
            <a:ext cx="7972500" cy="342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82" name="Google Shape;782;p49"/>
          <p:cNvGraphicFramePr/>
          <p:nvPr/>
        </p:nvGraphicFramePr>
        <p:xfrm>
          <a:off x="768625" y="305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500550"/>
                <a:gridCol w="941000"/>
                <a:gridCol w="797150"/>
              </a:tblGrid>
              <a:tr h="272875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Inverted index</a:t>
                      </a:r>
                      <a:endParaRPr/>
                    </a:p>
                  </a:txBody>
                  <a:tcPr marT="0" marB="0" marR="91425" marL="91425"/>
                </a:tc>
                <a:tc hMerge="1"/>
                <a:tc hMerge="1"/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black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brown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0, 2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0, 2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dog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0, 1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mike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peter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rachel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white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783" name="Google Shape;783;p49"/>
          <p:cNvGraphicFramePr/>
          <p:nvPr/>
        </p:nvGraphicFramePr>
        <p:xfrm>
          <a:off x="3404050" y="305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390500"/>
                <a:gridCol w="426200"/>
                <a:gridCol w="3456250"/>
              </a:tblGrid>
              <a:tr h="251450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Documents</a:t>
                      </a:r>
                      <a:endParaRPr/>
                    </a:p>
                  </a:txBody>
                  <a:tcPr marT="0" marB="0" marR="91425" marL="91425"/>
                </a:tc>
                <a:tc hMerge="1"/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 (Peter has a brown dog and a white cat.)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Doc2 (Mike has a black dog.)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Doc3 (Rachel has a brown cat.)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</a:tbl>
          </a:graphicData>
        </a:graphic>
      </p:graphicFrame>
      <p:sp>
        <p:nvSpPr>
          <p:cNvPr id="784" name="Google Shape;784;p49"/>
          <p:cNvSpPr txBox="1"/>
          <p:nvPr/>
        </p:nvSpPr>
        <p:spPr>
          <a:xfrm>
            <a:off x="638750" y="5430150"/>
            <a:ext cx="7368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 ordinal</a:t>
            </a:r>
            <a:endParaRPr/>
          </a:p>
        </p:txBody>
      </p:sp>
      <p:sp>
        <p:nvSpPr>
          <p:cNvPr id="785" name="Google Shape;785;p49"/>
          <p:cNvSpPr txBox="1"/>
          <p:nvPr/>
        </p:nvSpPr>
        <p:spPr>
          <a:xfrm>
            <a:off x="1375550" y="5430150"/>
            <a:ext cx="7368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terms dict</a:t>
            </a:r>
            <a:endParaRPr/>
          </a:p>
        </p:txBody>
      </p:sp>
      <p:sp>
        <p:nvSpPr>
          <p:cNvPr id="786" name="Google Shape;786;p49"/>
          <p:cNvSpPr txBox="1"/>
          <p:nvPr/>
        </p:nvSpPr>
        <p:spPr>
          <a:xfrm>
            <a:off x="2118125" y="5430150"/>
            <a:ext cx="9036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postings list</a:t>
            </a:r>
            <a:endParaRPr/>
          </a:p>
        </p:txBody>
      </p:sp>
      <p:sp>
        <p:nvSpPr>
          <p:cNvPr id="787" name="Google Shape;787;p49"/>
          <p:cNvSpPr txBox="1"/>
          <p:nvPr/>
        </p:nvSpPr>
        <p:spPr>
          <a:xfrm>
            <a:off x="3229550" y="4058550"/>
            <a:ext cx="7368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 id</a:t>
            </a:r>
            <a:endParaRPr/>
          </a:p>
        </p:txBody>
      </p:sp>
      <p:sp>
        <p:nvSpPr>
          <p:cNvPr id="788" name="Google Shape;788;p49"/>
          <p:cNvSpPr txBox="1"/>
          <p:nvPr/>
        </p:nvSpPr>
        <p:spPr>
          <a:xfrm>
            <a:off x="3991550" y="4058550"/>
            <a:ext cx="1047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</a:t>
            </a:r>
            <a:endParaRPr/>
          </a:p>
        </p:txBody>
      </p:sp>
      <p:sp>
        <p:nvSpPr>
          <p:cNvPr id="789" name="Google Shape;789;p49"/>
          <p:cNvSpPr txBox="1"/>
          <p:nvPr/>
        </p:nvSpPr>
        <p:spPr>
          <a:xfrm>
            <a:off x="3991550" y="5506350"/>
            <a:ext cx="11187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</a:t>
            </a:r>
            <a:endParaRPr/>
          </a:p>
        </p:txBody>
      </p:sp>
      <p:graphicFrame>
        <p:nvGraphicFramePr>
          <p:cNvPr id="790" name="Google Shape;790;p49"/>
          <p:cNvGraphicFramePr/>
          <p:nvPr/>
        </p:nvGraphicFramePr>
        <p:xfrm>
          <a:off x="6094475" y="450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582525"/>
              </a:tblGrid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Live documents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50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Inverted index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9" name="Google Shape;799;p50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00" name="Google Shape;800;p50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File storage - Logical view (merge segments)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01" name="Google Shape;801;p50"/>
          <p:cNvSpPr/>
          <p:nvPr/>
        </p:nvSpPr>
        <p:spPr>
          <a:xfrm>
            <a:off x="154000" y="2580025"/>
            <a:ext cx="3630000" cy="3163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02" name="Google Shape;802;p50"/>
          <p:cNvGraphicFramePr/>
          <p:nvPr/>
        </p:nvGraphicFramePr>
        <p:xfrm>
          <a:off x="239525" y="291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500550"/>
                <a:gridCol w="698300"/>
                <a:gridCol w="617400"/>
              </a:tblGrid>
              <a:tr h="272875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Inverted index</a:t>
                      </a:r>
                      <a:endParaRPr/>
                    </a:p>
                  </a:txBody>
                  <a:tcPr marT="0" marB="0" marR="91425" marL="91425"/>
                </a:tc>
                <a:tc hMerge="1"/>
                <a:tc hMerge="1"/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black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brown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0, 2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0, 2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dog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0, 1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mike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peter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rachel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white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803" name="Google Shape;803;p50"/>
          <p:cNvGraphicFramePr/>
          <p:nvPr/>
        </p:nvGraphicFramePr>
        <p:xfrm>
          <a:off x="2123950" y="291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510475"/>
                <a:gridCol w="510475"/>
                <a:gridCol w="510475"/>
              </a:tblGrid>
              <a:tr h="251450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Documents</a:t>
                      </a:r>
                      <a:endParaRPr/>
                    </a:p>
                  </a:txBody>
                  <a:tcPr marT="0" marB="0" marR="91425" marL="91425"/>
                </a:tc>
                <a:tc hMerge="1"/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Doc1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Doc2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Doc3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</a:tbl>
          </a:graphicData>
        </a:graphic>
      </p:graphicFrame>
      <p:sp>
        <p:nvSpPr>
          <p:cNvPr id="804" name="Google Shape;804;p50"/>
          <p:cNvSpPr txBox="1"/>
          <p:nvPr/>
        </p:nvSpPr>
        <p:spPr>
          <a:xfrm>
            <a:off x="2202000" y="5218650"/>
            <a:ext cx="111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50"/>
          <p:cNvSpPr/>
          <p:nvPr/>
        </p:nvSpPr>
        <p:spPr>
          <a:xfrm>
            <a:off x="3887800" y="2580025"/>
            <a:ext cx="3630000" cy="3163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06" name="Google Shape;806;p50"/>
          <p:cNvGraphicFramePr/>
          <p:nvPr/>
        </p:nvGraphicFramePr>
        <p:xfrm>
          <a:off x="3973325" y="291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500550"/>
                <a:gridCol w="779175"/>
                <a:gridCol w="536525"/>
              </a:tblGrid>
              <a:tr h="272875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Inverted index</a:t>
                      </a:r>
                      <a:endParaRPr/>
                    </a:p>
                  </a:txBody>
                  <a:tcPr marT="0" marB="0" marR="91425" marL="91425"/>
                </a:tc>
                <a:tc hMerge="1"/>
                <a:tc hMerge="1"/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balloon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boy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3, 4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brown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little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3, 4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red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807" name="Google Shape;807;p50"/>
          <p:cNvGraphicFramePr/>
          <p:nvPr/>
        </p:nvGraphicFramePr>
        <p:xfrm>
          <a:off x="5857750" y="291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510475"/>
                <a:gridCol w="510475"/>
                <a:gridCol w="510475"/>
              </a:tblGrid>
              <a:tr h="251450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Documents</a:t>
                      </a:r>
                      <a:endParaRPr/>
                    </a:p>
                  </a:txBody>
                  <a:tcPr marT="0" marB="0" marR="91425" marL="91425"/>
                </a:tc>
                <a:tc hMerge="1"/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Doc4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Doc5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</a:tbl>
          </a:graphicData>
        </a:graphic>
      </p:graphicFrame>
      <p:sp>
        <p:nvSpPr>
          <p:cNvPr id="808" name="Google Shape;808;p50"/>
          <p:cNvSpPr txBox="1"/>
          <p:nvPr/>
        </p:nvSpPr>
        <p:spPr>
          <a:xfrm>
            <a:off x="5935800" y="5218650"/>
            <a:ext cx="111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50"/>
          <p:cNvSpPr/>
          <p:nvPr/>
        </p:nvSpPr>
        <p:spPr>
          <a:xfrm>
            <a:off x="7936575" y="2580025"/>
            <a:ext cx="3848400" cy="362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0" name="Google Shape;810;p50"/>
          <p:cNvGraphicFramePr/>
          <p:nvPr/>
        </p:nvGraphicFramePr>
        <p:xfrm>
          <a:off x="8084875" y="291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440175"/>
                <a:gridCol w="795675"/>
                <a:gridCol w="736050"/>
              </a:tblGrid>
              <a:tr h="272875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Inverted index</a:t>
                      </a:r>
                      <a:endParaRPr/>
                    </a:p>
                  </a:txBody>
                  <a:tcPr marT="0" marB="0" marR="91425" marL="91425"/>
                </a:tc>
                <a:tc hMerge="1"/>
                <a:tc hMerge="1"/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balloon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black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boy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3, 4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brown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2, 4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2, 4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little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3, 4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mike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rachel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</a:tr>
              <a:tr h="2728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red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811" name="Google Shape;811;p50"/>
          <p:cNvGraphicFramePr/>
          <p:nvPr/>
        </p:nvGraphicFramePr>
        <p:xfrm>
          <a:off x="10124950" y="291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510475"/>
                <a:gridCol w="510475"/>
                <a:gridCol w="510475"/>
              </a:tblGrid>
              <a:tr h="251450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Documents</a:t>
                      </a:r>
                      <a:endParaRPr/>
                    </a:p>
                  </a:txBody>
                  <a:tcPr marT="0" marB="0" marR="91425" marL="91425"/>
                </a:tc>
                <a:tc hMerge="1"/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Doc2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Doc3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Doc4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Doc5</a:t>
                      </a:r>
                      <a:endParaRPr/>
                    </a:p>
                  </a:txBody>
                  <a:tcPr marT="0" marB="0" marR="91425" marL="91425"/>
                </a:tc>
                <a:tc hMerge="1"/>
              </a:tr>
            </a:tbl>
          </a:graphicData>
        </a:graphic>
      </p:graphicFrame>
      <p:sp>
        <p:nvSpPr>
          <p:cNvPr id="812" name="Google Shape;812;p50"/>
          <p:cNvSpPr txBox="1"/>
          <p:nvPr/>
        </p:nvSpPr>
        <p:spPr>
          <a:xfrm>
            <a:off x="9985900" y="5675850"/>
            <a:ext cx="167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Merged segment</a:t>
            </a:r>
            <a:endParaRPr/>
          </a:p>
        </p:txBody>
      </p:sp>
      <p:graphicFrame>
        <p:nvGraphicFramePr>
          <p:cNvPr id="813" name="Google Shape;813;p50"/>
          <p:cNvGraphicFramePr/>
          <p:nvPr/>
        </p:nvGraphicFramePr>
        <p:xfrm>
          <a:off x="5857750" y="381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531400"/>
              </a:tblGrid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Live documents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814" name="Google Shape;814;p50"/>
          <p:cNvGraphicFramePr/>
          <p:nvPr/>
        </p:nvGraphicFramePr>
        <p:xfrm>
          <a:off x="2123950" y="40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531400"/>
              </a:tblGrid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Live documents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  <p:graphicFrame>
        <p:nvGraphicFramePr>
          <p:cNvPr id="815" name="Google Shape;815;p50"/>
          <p:cNvGraphicFramePr/>
          <p:nvPr/>
        </p:nvGraphicFramePr>
        <p:xfrm>
          <a:off x="10124950" y="431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531400"/>
              </a:tblGrid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Live documents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</a:tr>
              <a:tr h="2514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1"/>
          <p:cNvSpPr/>
          <p:nvPr/>
        </p:nvSpPr>
        <p:spPr>
          <a:xfrm>
            <a:off x="961750" y="3114225"/>
            <a:ext cx="10593000" cy="30471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Elasticsearch</a:t>
            </a:r>
            <a:endParaRPr/>
          </a:p>
        </p:txBody>
      </p:sp>
      <p:pic>
        <p:nvPicPr>
          <p:cNvPr id="821" name="Google Shape;821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51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How does the write look like?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825" name="Google Shape;825;p51"/>
          <p:cNvSpPr txBox="1"/>
          <p:nvPr/>
        </p:nvSpPr>
        <p:spPr>
          <a:xfrm>
            <a:off x="424925" y="2623125"/>
            <a:ext cx="113421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826" name="Google Shape;826;p51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27" name="Google Shape;827;p51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Logical view (write path, refresh &amp; commit)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51"/>
          <p:cNvSpPr/>
          <p:nvPr/>
        </p:nvSpPr>
        <p:spPr>
          <a:xfrm>
            <a:off x="4048100" y="3631225"/>
            <a:ext cx="7411800" cy="246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Lucene</a:t>
            </a:r>
            <a:endParaRPr/>
          </a:p>
        </p:txBody>
      </p:sp>
      <p:sp>
        <p:nvSpPr>
          <p:cNvPr id="829" name="Google Shape;829;p51"/>
          <p:cNvSpPr txBox="1"/>
          <p:nvPr/>
        </p:nvSpPr>
        <p:spPr>
          <a:xfrm>
            <a:off x="6884115" y="4527651"/>
            <a:ext cx="601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write</a:t>
            </a:r>
            <a:endParaRPr/>
          </a:p>
        </p:txBody>
      </p:sp>
      <p:sp>
        <p:nvSpPr>
          <p:cNvPr id="830" name="Google Shape;830;p51"/>
          <p:cNvSpPr/>
          <p:nvPr/>
        </p:nvSpPr>
        <p:spPr>
          <a:xfrm>
            <a:off x="4292675" y="4122400"/>
            <a:ext cx="2627400" cy="1693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</a:t>
            </a:r>
            <a:endParaRPr/>
          </a:p>
        </p:txBody>
      </p:sp>
      <p:sp>
        <p:nvSpPr>
          <p:cNvPr id="831" name="Google Shape;831;p51"/>
          <p:cNvSpPr/>
          <p:nvPr/>
        </p:nvSpPr>
        <p:spPr>
          <a:xfrm>
            <a:off x="7508675" y="4122400"/>
            <a:ext cx="3807600" cy="16938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</a:t>
            </a:r>
            <a:endParaRPr/>
          </a:p>
        </p:txBody>
      </p:sp>
      <p:sp>
        <p:nvSpPr>
          <p:cNvPr id="832" name="Google Shape;832;p51"/>
          <p:cNvSpPr/>
          <p:nvPr/>
        </p:nvSpPr>
        <p:spPr>
          <a:xfrm>
            <a:off x="7616100" y="5275300"/>
            <a:ext cx="624300" cy="45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Seg1</a:t>
            </a:r>
            <a:endParaRPr/>
          </a:p>
        </p:txBody>
      </p:sp>
      <p:sp>
        <p:nvSpPr>
          <p:cNvPr id="833" name="Google Shape;833;p51"/>
          <p:cNvSpPr/>
          <p:nvPr/>
        </p:nvSpPr>
        <p:spPr>
          <a:xfrm>
            <a:off x="8358011" y="5275300"/>
            <a:ext cx="624300" cy="45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Seg2</a:t>
            </a:r>
            <a:endParaRPr/>
          </a:p>
        </p:txBody>
      </p:sp>
      <p:sp>
        <p:nvSpPr>
          <p:cNvPr id="834" name="Google Shape;834;p51"/>
          <p:cNvSpPr/>
          <p:nvPr/>
        </p:nvSpPr>
        <p:spPr>
          <a:xfrm>
            <a:off x="9099925" y="5275300"/>
            <a:ext cx="624300" cy="45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Seg3</a:t>
            </a:r>
            <a:endParaRPr/>
          </a:p>
        </p:txBody>
      </p:sp>
      <p:sp>
        <p:nvSpPr>
          <p:cNvPr id="835" name="Google Shape;835;p51"/>
          <p:cNvSpPr/>
          <p:nvPr/>
        </p:nvSpPr>
        <p:spPr>
          <a:xfrm>
            <a:off x="9841833" y="5275300"/>
            <a:ext cx="624300" cy="45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Seg4</a:t>
            </a:r>
            <a:endParaRPr/>
          </a:p>
        </p:txBody>
      </p:sp>
      <p:sp>
        <p:nvSpPr>
          <p:cNvPr id="836" name="Google Shape;836;p51"/>
          <p:cNvSpPr/>
          <p:nvPr/>
        </p:nvSpPr>
        <p:spPr>
          <a:xfrm>
            <a:off x="96875" y="4526350"/>
            <a:ext cx="8649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51"/>
          <p:cNvSpPr txBox="1"/>
          <p:nvPr/>
        </p:nvSpPr>
        <p:spPr>
          <a:xfrm>
            <a:off x="30425" y="4236838"/>
            <a:ext cx="997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write</a:t>
            </a:r>
            <a:endParaRPr/>
          </a:p>
        </p:txBody>
      </p:sp>
      <p:sp>
        <p:nvSpPr>
          <p:cNvPr id="838" name="Google Shape;838;p51"/>
          <p:cNvSpPr/>
          <p:nvPr/>
        </p:nvSpPr>
        <p:spPr>
          <a:xfrm>
            <a:off x="4592975" y="4645950"/>
            <a:ext cx="2052900" cy="97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In-mem buffer</a:t>
            </a:r>
            <a:endParaRPr/>
          </a:p>
        </p:txBody>
      </p:sp>
      <p:sp>
        <p:nvSpPr>
          <p:cNvPr id="839" name="Google Shape;839;p51"/>
          <p:cNvSpPr/>
          <p:nvPr/>
        </p:nvSpPr>
        <p:spPr>
          <a:xfrm>
            <a:off x="6920075" y="4812850"/>
            <a:ext cx="6012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51"/>
          <p:cNvSpPr txBox="1"/>
          <p:nvPr/>
        </p:nvSpPr>
        <p:spPr>
          <a:xfrm>
            <a:off x="6884115" y="4551201"/>
            <a:ext cx="601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flush</a:t>
            </a:r>
            <a:endParaRPr/>
          </a:p>
        </p:txBody>
      </p:sp>
      <p:sp>
        <p:nvSpPr>
          <p:cNvPr id="841" name="Google Shape;841;p51"/>
          <p:cNvSpPr/>
          <p:nvPr/>
        </p:nvSpPr>
        <p:spPr>
          <a:xfrm>
            <a:off x="1330250" y="3631225"/>
            <a:ext cx="2430300" cy="135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 log</a:t>
            </a:r>
            <a:endParaRPr/>
          </a:p>
        </p:txBody>
      </p:sp>
      <p:sp>
        <p:nvSpPr>
          <p:cNvPr id="842" name="Google Shape;842;p51"/>
          <p:cNvSpPr/>
          <p:nvPr/>
        </p:nvSpPr>
        <p:spPr>
          <a:xfrm>
            <a:off x="4799700" y="5199475"/>
            <a:ext cx="323700" cy="312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51"/>
          <p:cNvSpPr/>
          <p:nvPr/>
        </p:nvSpPr>
        <p:spPr>
          <a:xfrm>
            <a:off x="5420458" y="5199475"/>
            <a:ext cx="323700" cy="312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1"/>
          <p:cNvSpPr/>
          <p:nvPr/>
        </p:nvSpPr>
        <p:spPr>
          <a:xfrm>
            <a:off x="6041233" y="5199475"/>
            <a:ext cx="323700" cy="312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51"/>
          <p:cNvSpPr/>
          <p:nvPr/>
        </p:nvSpPr>
        <p:spPr>
          <a:xfrm>
            <a:off x="1697978" y="4133125"/>
            <a:ext cx="323700" cy="312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1"/>
          <p:cNvSpPr/>
          <p:nvPr/>
        </p:nvSpPr>
        <p:spPr>
          <a:xfrm>
            <a:off x="2142298" y="4133125"/>
            <a:ext cx="323700" cy="312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51"/>
          <p:cNvSpPr/>
          <p:nvPr/>
        </p:nvSpPr>
        <p:spPr>
          <a:xfrm>
            <a:off x="2586623" y="4133125"/>
            <a:ext cx="323700" cy="312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51"/>
          <p:cNvSpPr/>
          <p:nvPr/>
        </p:nvSpPr>
        <p:spPr>
          <a:xfrm>
            <a:off x="3030948" y="4133125"/>
            <a:ext cx="323700" cy="312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51"/>
          <p:cNvSpPr/>
          <p:nvPr/>
        </p:nvSpPr>
        <p:spPr>
          <a:xfrm>
            <a:off x="1697978" y="4558700"/>
            <a:ext cx="323700" cy="312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51"/>
          <p:cNvSpPr/>
          <p:nvPr/>
        </p:nvSpPr>
        <p:spPr>
          <a:xfrm>
            <a:off x="2142298" y="4558700"/>
            <a:ext cx="323700" cy="312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1"/>
          <p:cNvSpPr/>
          <p:nvPr/>
        </p:nvSpPr>
        <p:spPr>
          <a:xfrm>
            <a:off x="2586623" y="4558700"/>
            <a:ext cx="323700" cy="312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1"/>
          <p:cNvSpPr/>
          <p:nvPr/>
        </p:nvSpPr>
        <p:spPr>
          <a:xfrm>
            <a:off x="3030948" y="4558700"/>
            <a:ext cx="323700" cy="312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51"/>
          <p:cNvSpPr/>
          <p:nvPr/>
        </p:nvSpPr>
        <p:spPr>
          <a:xfrm>
            <a:off x="961775" y="5259950"/>
            <a:ext cx="30864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51"/>
          <p:cNvSpPr/>
          <p:nvPr/>
        </p:nvSpPr>
        <p:spPr>
          <a:xfrm>
            <a:off x="961775" y="4058200"/>
            <a:ext cx="3684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51"/>
          <p:cNvSpPr/>
          <p:nvPr/>
        </p:nvSpPr>
        <p:spPr>
          <a:xfrm>
            <a:off x="7616000" y="4615250"/>
            <a:ext cx="3565200" cy="36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Commit point</a:t>
            </a:r>
            <a:endParaRPr/>
          </a:p>
        </p:txBody>
      </p:sp>
      <p:sp>
        <p:nvSpPr>
          <p:cNvPr id="856" name="Google Shape;856;p51"/>
          <p:cNvSpPr/>
          <p:nvPr/>
        </p:nvSpPr>
        <p:spPr>
          <a:xfrm rot="5400000">
            <a:off x="7793303" y="49846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1"/>
          <p:cNvSpPr/>
          <p:nvPr/>
        </p:nvSpPr>
        <p:spPr>
          <a:xfrm rot="5400000">
            <a:off x="8547913" y="49846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51"/>
          <p:cNvSpPr/>
          <p:nvPr/>
        </p:nvSpPr>
        <p:spPr>
          <a:xfrm>
            <a:off x="9099922" y="5275300"/>
            <a:ext cx="624300" cy="45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Seg3</a:t>
            </a:r>
            <a:endParaRPr/>
          </a:p>
        </p:txBody>
      </p:sp>
      <p:sp>
        <p:nvSpPr>
          <p:cNvPr id="859" name="Google Shape;859;p51"/>
          <p:cNvSpPr/>
          <p:nvPr/>
        </p:nvSpPr>
        <p:spPr>
          <a:xfrm rot="5400000">
            <a:off x="9309913" y="49846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51"/>
          <p:cNvSpPr/>
          <p:nvPr/>
        </p:nvSpPr>
        <p:spPr>
          <a:xfrm rot="5400000">
            <a:off x="10013689" y="49846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51"/>
          <p:cNvSpPr/>
          <p:nvPr/>
        </p:nvSpPr>
        <p:spPr>
          <a:xfrm>
            <a:off x="10556950" y="5275300"/>
            <a:ext cx="624300" cy="45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Seg5</a:t>
            </a:r>
            <a:endParaRPr/>
          </a:p>
        </p:txBody>
      </p:sp>
      <p:sp>
        <p:nvSpPr>
          <p:cNvPr id="862" name="Google Shape;862;p51"/>
          <p:cNvSpPr/>
          <p:nvPr/>
        </p:nvSpPr>
        <p:spPr>
          <a:xfrm>
            <a:off x="9841833" y="5275300"/>
            <a:ext cx="624300" cy="45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Seg4</a:t>
            </a:r>
            <a:endParaRPr/>
          </a:p>
        </p:txBody>
      </p:sp>
      <p:sp>
        <p:nvSpPr>
          <p:cNvPr id="863" name="Google Shape;863;p51"/>
          <p:cNvSpPr/>
          <p:nvPr/>
        </p:nvSpPr>
        <p:spPr>
          <a:xfrm rot="5400000">
            <a:off x="10699489" y="49846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10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10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52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How does the read look like?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2" name="Google Shape;872;p52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73" name="Google Shape;873;p52"/>
          <p:cNvSpPr/>
          <p:nvPr/>
        </p:nvSpPr>
        <p:spPr>
          <a:xfrm>
            <a:off x="1914500" y="3145200"/>
            <a:ext cx="8475900" cy="295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Lucene</a:t>
            </a:r>
            <a:endParaRPr/>
          </a:p>
        </p:txBody>
      </p:sp>
      <p:sp>
        <p:nvSpPr>
          <p:cNvPr id="874" name="Google Shape;874;p52"/>
          <p:cNvSpPr/>
          <p:nvPr/>
        </p:nvSpPr>
        <p:spPr>
          <a:xfrm>
            <a:off x="2159075" y="3712125"/>
            <a:ext cx="3180000" cy="2103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</a:t>
            </a:r>
            <a:endParaRPr/>
          </a:p>
        </p:txBody>
      </p:sp>
      <p:sp>
        <p:nvSpPr>
          <p:cNvPr id="875" name="Google Shape;875;p52"/>
          <p:cNvSpPr/>
          <p:nvPr/>
        </p:nvSpPr>
        <p:spPr>
          <a:xfrm>
            <a:off x="602600" y="4466213"/>
            <a:ext cx="13119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2"/>
          <p:cNvSpPr txBox="1"/>
          <p:nvPr/>
        </p:nvSpPr>
        <p:spPr>
          <a:xfrm>
            <a:off x="683100" y="4162350"/>
            <a:ext cx="997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</a:t>
            </a:r>
            <a:endParaRPr/>
          </a:p>
        </p:txBody>
      </p:sp>
      <p:sp>
        <p:nvSpPr>
          <p:cNvPr id="877" name="Google Shape;877;p52"/>
          <p:cNvSpPr/>
          <p:nvPr/>
        </p:nvSpPr>
        <p:spPr>
          <a:xfrm>
            <a:off x="2939150" y="4211850"/>
            <a:ext cx="1842600" cy="149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merge</a:t>
            </a:r>
            <a:endParaRPr/>
          </a:p>
        </p:txBody>
      </p:sp>
      <p:sp>
        <p:nvSpPr>
          <p:cNvPr id="878" name="Google Shape;878;p52"/>
          <p:cNvSpPr/>
          <p:nvPr/>
        </p:nvSpPr>
        <p:spPr>
          <a:xfrm flipH="1">
            <a:off x="4781800" y="4211850"/>
            <a:ext cx="15666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Seg1</a:t>
            </a:r>
            <a:endParaRPr/>
          </a:p>
        </p:txBody>
      </p:sp>
      <p:sp>
        <p:nvSpPr>
          <p:cNvPr id="879" name="Google Shape;879;p52"/>
          <p:cNvSpPr/>
          <p:nvPr/>
        </p:nvSpPr>
        <p:spPr>
          <a:xfrm flipH="1">
            <a:off x="602750" y="5152450"/>
            <a:ext cx="23364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2"/>
          <p:cNvSpPr/>
          <p:nvPr/>
        </p:nvSpPr>
        <p:spPr>
          <a:xfrm>
            <a:off x="6348400" y="3740100"/>
            <a:ext cx="3807600" cy="21039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</a:t>
            </a:r>
            <a:endParaRPr/>
          </a:p>
        </p:txBody>
      </p:sp>
      <p:sp>
        <p:nvSpPr>
          <p:cNvPr id="881" name="Google Shape;881;p52"/>
          <p:cNvSpPr/>
          <p:nvPr/>
        </p:nvSpPr>
        <p:spPr>
          <a:xfrm>
            <a:off x="6455825" y="5150700"/>
            <a:ext cx="624300" cy="45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Seg1</a:t>
            </a:r>
            <a:endParaRPr/>
          </a:p>
        </p:txBody>
      </p:sp>
      <p:sp>
        <p:nvSpPr>
          <p:cNvPr id="882" name="Google Shape;882;p52"/>
          <p:cNvSpPr/>
          <p:nvPr/>
        </p:nvSpPr>
        <p:spPr>
          <a:xfrm>
            <a:off x="7197736" y="5150700"/>
            <a:ext cx="624300" cy="45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Seg2</a:t>
            </a:r>
            <a:endParaRPr/>
          </a:p>
        </p:txBody>
      </p:sp>
      <p:sp>
        <p:nvSpPr>
          <p:cNvPr id="883" name="Google Shape;883;p52"/>
          <p:cNvSpPr/>
          <p:nvPr/>
        </p:nvSpPr>
        <p:spPr>
          <a:xfrm>
            <a:off x="6455725" y="4490650"/>
            <a:ext cx="3565200" cy="36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Commit point</a:t>
            </a:r>
            <a:endParaRPr/>
          </a:p>
        </p:txBody>
      </p:sp>
      <p:sp>
        <p:nvSpPr>
          <p:cNvPr id="884" name="Google Shape;884;p52"/>
          <p:cNvSpPr/>
          <p:nvPr/>
        </p:nvSpPr>
        <p:spPr>
          <a:xfrm rot="5400000">
            <a:off x="6633028" y="48600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2"/>
          <p:cNvSpPr/>
          <p:nvPr/>
        </p:nvSpPr>
        <p:spPr>
          <a:xfrm rot="5400000">
            <a:off x="7387638" y="48600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52"/>
          <p:cNvSpPr/>
          <p:nvPr/>
        </p:nvSpPr>
        <p:spPr>
          <a:xfrm>
            <a:off x="7939647" y="5150700"/>
            <a:ext cx="624300" cy="45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Seg3</a:t>
            </a:r>
            <a:endParaRPr/>
          </a:p>
        </p:txBody>
      </p:sp>
      <p:sp>
        <p:nvSpPr>
          <p:cNvPr id="887" name="Google Shape;887;p52"/>
          <p:cNvSpPr/>
          <p:nvPr/>
        </p:nvSpPr>
        <p:spPr>
          <a:xfrm rot="5400000">
            <a:off x="8149638" y="48600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52"/>
          <p:cNvSpPr/>
          <p:nvPr/>
        </p:nvSpPr>
        <p:spPr>
          <a:xfrm rot="5400000">
            <a:off x="8853414" y="48600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2"/>
          <p:cNvSpPr/>
          <p:nvPr/>
        </p:nvSpPr>
        <p:spPr>
          <a:xfrm>
            <a:off x="8681558" y="5150700"/>
            <a:ext cx="624300" cy="45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Seg4</a:t>
            </a:r>
            <a:endParaRPr/>
          </a:p>
        </p:txBody>
      </p:sp>
      <p:sp>
        <p:nvSpPr>
          <p:cNvPr id="890" name="Google Shape;890;p52"/>
          <p:cNvSpPr/>
          <p:nvPr/>
        </p:nvSpPr>
        <p:spPr>
          <a:xfrm flipH="1">
            <a:off x="4781800" y="4592850"/>
            <a:ext cx="15666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Seg2</a:t>
            </a:r>
            <a:endParaRPr/>
          </a:p>
        </p:txBody>
      </p:sp>
      <p:sp>
        <p:nvSpPr>
          <p:cNvPr id="891" name="Google Shape;891;p52"/>
          <p:cNvSpPr/>
          <p:nvPr/>
        </p:nvSpPr>
        <p:spPr>
          <a:xfrm flipH="1">
            <a:off x="4781800" y="4973850"/>
            <a:ext cx="15666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Seg3</a:t>
            </a:r>
            <a:endParaRPr/>
          </a:p>
        </p:txBody>
      </p:sp>
      <p:sp>
        <p:nvSpPr>
          <p:cNvPr id="892" name="Google Shape;892;p52"/>
          <p:cNvSpPr/>
          <p:nvPr/>
        </p:nvSpPr>
        <p:spPr>
          <a:xfrm flipH="1">
            <a:off x="4781800" y="5354850"/>
            <a:ext cx="15666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Seg4</a:t>
            </a:r>
            <a:endParaRPr/>
          </a:p>
        </p:txBody>
      </p:sp>
      <p:sp>
        <p:nvSpPr>
          <p:cNvPr id="893" name="Google Shape;893;p52"/>
          <p:cNvSpPr txBox="1"/>
          <p:nvPr/>
        </p:nvSpPr>
        <p:spPr>
          <a:xfrm>
            <a:off x="835500" y="4924350"/>
            <a:ext cx="997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response</a:t>
            </a:r>
            <a:endParaRPr/>
          </a:p>
        </p:txBody>
      </p:sp>
      <p:sp>
        <p:nvSpPr>
          <p:cNvPr id="894" name="Google Shape;894;p52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Logical view</a:t>
            </a:r>
            <a:r>
              <a:rPr lang="en-US" sz="1800">
                <a:solidFill>
                  <a:schemeClr val="dk1"/>
                </a:solidFill>
              </a:rPr>
              <a:t> (read path)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53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Compaction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903" name="Google Shape;903;p53"/>
          <p:cNvSpPr txBox="1"/>
          <p:nvPr/>
        </p:nvSpPr>
        <p:spPr>
          <a:xfrm>
            <a:off x="424925" y="2623125"/>
            <a:ext cx="113421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904" name="Google Shape;904;p53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05" name="Google Shape;905;p53"/>
          <p:cNvSpPr/>
          <p:nvPr/>
        </p:nvSpPr>
        <p:spPr>
          <a:xfrm>
            <a:off x="1914500" y="3118900"/>
            <a:ext cx="6956700" cy="297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Lucene</a:t>
            </a:r>
            <a:endParaRPr/>
          </a:p>
        </p:txBody>
      </p:sp>
      <p:sp>
        <p:nvSpPr>
          <p:cNvPr id="906" name="Google Shape;906;p53"/>
          <p:cNvSpPr/>
          <p:nvPr/>
        </p:nvSpPr>
        <p:spPr>
          <a:xfrm>
            <a:off x="2103250" y="3649200"/>
            <a:ext cx="6574200" cy="23640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</a:t>
            </a:r>
            <a:endParaRPr/>
          </a:p>
        </p:txBody>
      </p:sp>
      <p:sp>
        <p:nvSpPr>
          <p:cNvPr id="907" name="Google Shape;907;p53"/>
          <p:cNvSpPr/>
          <p:nvPr/>
        </p:nvSpPr>
        <p:spPr>
          <a:xfrm>
            <a:off x="2282000" y="4745938"/>
            <a:ext cx="665100" cy="46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Seg1</a:t>
            </a:r>
            <a:endParaRPr/>
          </a:p>
        </p:txBody>
      </p:sp>
      <p:sp>
        <p:nvSpPr>
          <p:cNvPr id="908" name="Google Shape;908;p53"/>
          <p:cNvSpPr/>
          <p:nvPr/>
        </p:nvSpPr>
        <p:spPr>
          <a:xfrm>
            <a:off x="3072550" y="4745938"/>
            <a:ext cx="665100" cy="46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Seg2</a:t>
            </a:r>
            <a:endParaRPr/>
          </a:p>
        </p:txBody>
      </p:sp>
      <p:sp>
        <p:nvSpPr>
          <p:cNvPr id="909" name="Google Shape;909;p53"/>
          <p:cNvSpPr/>
          <p:nvPr/>
        </p:nvSpPr>
        <p:spPr>
          <a:xfrm>
            <a:off x="3863100" y="4745938"/>
            <a:ext cx="665100" cy="46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Seg3</a:t>
            </a:r>
            <a:endParaRPr/>
          </a:p>
        </p:txBody>
      </p:sp>
      <p:sp>
        <p:nvSpPr>
          <p:cNvPr id="910" name="Google Shape;910;p53"/>
          <p:cNvSpPr/>
          <p:nvPr/>
        </p:nvSpPr>
        <p:spPr>
          <a:xfrm>
            <a:off x="4653650" y="4745938"/>
            <a:ext cx="665100" cy="46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Seg4</a:t>
            </a:r>
            <a:endParaRPr/>
          </a:p>
        </p:txBody>
      </p:sp>
      <p:sp>
        <p:nvSpPr>
          <p:cNvPr id="911" name="Google Shape;911;p53"/>
          <p:cNvSpPr/>
          <p:nvPr/>
        </p:nvSpPr>
        <p:spPr>
          <a:xfrm>
            <a:off x="3127900" y="5610150"/>
            <a:ext cx="2085300" cy="305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Compact</a:t>
            </a:r>
            <a:endParaRPr/>
          </a:p>
        </p:txBody>
      </p:sp>
      <p:sp>
        <p:nvSpPr>
          <p:cNvPr id="912" name="Google Shape;912;p53"/>
          <p:cNvSpPr/>
          <p:nvPr/>
        </p:nvSpPr>
        <p:spPr>
          <a:xfrm flipH="1" rot="10800000">
            <a:off x="3297609" y="5229625"/>
            <a:ext cx="242700" cy="369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53"/>
          <p:cNvSpPr/>
          <p:nvPr/>
        </p:nvSpPr>
        <p:spPr>
          <a:xfrm flipH="1" rot="10800000">
            <a:off x="4059609" y="5229625"/>
            <a:ext cx="242700" cy="369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53"/>
          <p:cNvSpPr/>
          <p:nvPr/>
        </p:nvSpPr>
        <p:spPr>
          <a:xfrm flipH="1" rot="10800000">
            <a:off x="4852868" y="5229625"/>
            <a:ext cx="242700" cy="369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53"/>
          <p:cNvSpPr/>
          <p:nvPr/>
        </p:nvSpPr>
        <p:spPr>
          <a:xfrm>
            <a:off x="5444200" y="4745938"/>
            <a:ext cx="665100" cy="46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Seg5</a:t>
            </a:r>
            <a:endParaRPr/>
          </a:p>
        </p:txBody>
      </p:sp>
      <p:cxnSp>
        <p:nvCxnSpPr>
          <p:cNvPr id="916" name="Google Shape;916;p53"/>
          <p:cNvCxnSpPr/>
          <p:nvPr/>
        </p:nvCxnSpPr>
        <p:spPr>
          <a:xfrm>
            <a:off x="3836100" y="4710450"/>
            <a:ext cx="719100" cy="535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53"/>
          <p:cNvCxnSpPr/>
          <p:nvPr/>
        </p:nvCxnSpPr>
        <p:spPr>
          <a:xfrm>
            <a:off x="3059400" y="4710450"/>
            <a:ext cx="719100" cy="535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53"/>
          <p:cNvCxnSpPr/>
          <p:nvPr/>
        </p:nvCxnSpPr>
        <p:spPr>
          <a:xfrm>
            <a:off x="4626650" y="4710450"/>
            <a:ext cx="719100" cy="535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53"/>
          <p:cNvCxnSpPr/>
          <p:nvPr/>
        </p:nvCxnSpPr>
        <p:spPr>
          <a:xfrm flipH="1">
            <a:off x="3028950" y="4728591"/>
            <a:ext cx="746100" cy="485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53"/>
          <p:cNvCxnSpPr/>
          <p:nvPr/>
        </p:nvCxnSpPr>
        <p:spPr>
          <a:xfrm flipH="1">
            <a:off x="3827800" y="4735458"/>
            <a:ext cx="746100" cy="485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53"/>
          <p:cNvCxnSpPr/>
          <p:nvPr/>
        </p:nvCxnSpPr>
        <p:spPr>
          <a:xfrm flipH="1">
            <a:off x="4636000" y="4728591"/>
            <a:ext cx="746100" cy="485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2" name="Google Shape;922;p53"/>
          <p:cNvSpPr/>
          <p:nvPr/>
        </p:nvSpPr>
        <p:spPr>
          <a:xfrm>
            <a:off x="2282000" y="4081850"/>
            <a:ext cx="3827400" cy="36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Commit point</a:t>
            </a:r>
            <a:endParaRPr/>
          </a:p>
        </p:txBody>
      </p:sp>
      <p:sp>
        <p:nvSpPr>
          <p:cNvPr id="923" name="Google Shape;923;p53"/>
          <p:cNvSpPr/>
          <p:nvPr/>
        </p:nvSpPr>
        <p:spPr>
          <a:xfrm rot="5400000">
            <a:off x="2484203" y="4442100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53"/>
          <p:cNvSpPr/>
          <p:nvPr/>
        </p:nvSpPr>
        <p:spPr>
          <a:xfrm rot="5400000">
            <a:off x="3274761" y="44512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3"/>
          <p:cNvSpPr/>
          <p:nvPr/>
        </p:nvSpPr>
        <p:spPr>
          <a:xfrm rot="5400000">
            <a:off x="4052113" y="44512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53"/>
          <p:cNvSpPr/>
          <p:nvPr/>
        </p:nvSpPr>
        <p:spPr>
          <a:xfrm rot="5400000">
            <a:off x="4832089" y="4451225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3"/>
          <p:cNvSpPr/>
          <p:nvPr/>
        </p:nvSpPr>
        <p:spPr>
          <a:xfrm rot="5400000">
            <a:off x="5612064" y="4442100"/>
            <a:ext cx="2607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54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Lucene low level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cxnSp>
        <p:nvCxnSpPr>
          <p:cNvPr id="936" name="Google Shape;936;p54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55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Lucene codecs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945" name="Google Shape;945;p55"/>
          <p:cNvSpPr txBox="1"/>
          <p:nvPr/>
        </p:nvSpPr>
        <p:spPr>
          <a:xfrm>
            <a:off x="424925" y="2318325"/>
            <a:ext cx="113421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Abstraction over data format within files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Keeps low level details away from Lucene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File formats are codec-dependent</a:t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946" name="Google Shape;946;p55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1" name="Google Shape;951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56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File formats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955" name="Google Shape;955;p56"/>
          <p:cNvSpPr txBox="1"/>
          <p:nvPr/>
        </p:nvSpPr>
        <p:spPr>
          <a:xfrm>
            <a:off x="424925" y="2318325"/>
            <a:ext cx="113421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Each index in separate UUD-named dir (Elasticsearch’s doing, prevent index corruption when recreating)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Segments file (segments_1, segments_2, …)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Lock file (write.lock)</a:t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956" name="Google Shape;956;p56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57" name="Google Shape;957;p56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</a:t>
            </a:r>
            <a:r>
              <a:rPr lang="en-US" sz="1800">
                <a:solidFill>
                  <a:schemeClr val="dk1"/>
                </a:solidFill>
              </a:rPr>
              <a:t>er-index files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57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File formats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965" name="Google Shape;965;p57"/>
          <p:cNvSpPr txBox="1"/>
          <p:nvPr/>
        </p:nvSpPr>
        <p:spPr>
          <a:xfrm>
            <a:off x="424925" y="2318325"/>
            <a:ext cx="11342100" cy="20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Segment info (.si) - lucene ver, num of docs, os, os ver, java ver, files included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Term index (.tip) - Index into the Term Dictionary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Term Dictionary (.tim) - Stores term info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Postings (.pos) - Stores information where document is located within stored fields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Field index (.fdx) - Index into Field Data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Field Data (.fdt) - Stored fields for documents (real values)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...</a:t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966" name="Google Shape;966;p57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67" name="Google Shape;967;p57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</a:t>
            </a:r>
            <a:r>
              <a:rPr lang="en-US" sz="1800">
                <a:solidFill>
                  <a:schemeClr val="dk1"/>
                </a:solidFill>
              </a:rPr>
              <a:t>er-segment file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58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How does the read look like?</a:t>
            </a:r>
            <a:endParaRPr sz="3200">
              <a:solidFill>
                <a:schemeClr val="dk1"/>
              </a:solidFill>
            </a:endParaRPr>
          </a:p>
        </p:txBody>
      </p:sp>
      <p:cxnSp>
        <p:nvCxnSpPr>
          <p:cNvPr id="975" name="Google Shape;975;p58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76" name="Google Shape;976;p58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Term query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8"/>
          <p:cNvSpPr txBox="1"/>
          <p:nvPr/>
        </p:nvSpPr>
        <p:spPr>
          <a:xfrm>
            <a:off x="424925" y="2318325"/>
            <a:ext cx="11342100" cy="20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F7F7F"/>
                </a:solidFill>
              </a:rPr>
              <a:t>Term = tomato</a:t>
            </a:r>
            <a:endParaRPr sz="150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Google Shape;982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59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How does the read look like?</a:t>
            </a:r>
            <a:endParaRPr sz="3200">
              <a:solidFill>
                <a:schemeClr val="dk1"/>
              </a:solidFill>
            </a:endParaRPr>
          </a:p>
        </p:txBody>
      </p:sp>
      <p:cxnSp>
        <p:nvCxnSpPr>
          <p:cNvPr id="985" name="Google Shape;985;p59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86" name="Google Shape;986;p59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File view - Term Index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59"/>
          <p:cNvSpPr txBox="1"/>
          <p:nvPr/>
        </p:nvSpPr>
        <p:spPr>
          <a:xfrm>
            <a:off x="424925" y="2318325"/>
            <a:ext cx="113421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FST (Finite State Transducer)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Stores term prefixes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Map String -&gt; Object</a:t>
            </a:r>
            <a:endParaRPr sz="1500">
              <a:solidFill>
                <a:srgbClr val="7F7F7F"/>
              </a:solidFill>
            </a:endParaRPr>
          </a:p>
        </p:txBody>
      </p:sp>
      <p:sp>
        <p:nvSpPr>
          <p:cNvPr id="988" name="Google Shape;988;p59"/>
          <p:cNvSpPr/>
          <p:nvPr/>
        </p:nvSpPr>
        <p:spPr>
          <a:xfrm>
            <a:off x="1016075" y="4027888"/>
            <a:ext cx="449400" cy="4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59"/>
          <p:cNvSpPr/>
          <p:nvPr/>
        </p:nvSpPr>
        <p:spPr>
          <a:xfrm>
            <a:off x="2408850" y="3282400"/>
            <a:ext cx="449400" cy="4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59"/>
          <p:cNvSpPr/>
          <p:nvPr/>
        </p:nvSpPr>
        <p:spPr>
          <a:xfrm>
            <a:off x="3131375" y="4332150"/>
            <a:ext cx="449400" cy="4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59"/>
          <p:cNvSpPr/>
          <p:nvPr/>
        </p:nvSpPr>
        <p:spPr>
          <a:xfrm>
            <a:off x="2732725" y="5457775"/>
            <a:ext cx="449400" cy="44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59"/>
          <p:cNvSpPr/>
          <p:nvPr/>
        </p:nvSpPr>
        <p:spPr>
          <a:xfrm>
            <a:off x="5121650" y="4027900"/>
            <a:ext cx="449400" cy="449400"/>
          </a:xfrm>
          <a:prstGeom prst="ellipse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3" name="Google Shape;993;p59"/>
          <p:cNvCxnSpPr>
            <a:stCxn id="988" idx="7"/>
            <a:endCxn id="989" idx="3"/>
          </p:cNvCxnSpPr>
          <p:nvPr/>
        </p:nvCxnSpPr>
        <p:spPr>
          <a:xfrm flipH="1" rot="10800000">
            <a:off x="1399662" y="3665901"/>
            <a:ext cx="1074900" cy="427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4" name="Google Shape;994;p59"/>
          <p:cNvCxnSpPr>
            <a:stCxn id="988" idx="5"/>
            <a:endCxn id="990" idx="2"/>
          </p:cNvCxnSpPr>
          <p:nvPr/>
        </p:nvCxnSpPr>
        <p:spPr>
          <a:xfrm>
            <a:off x="1399662" y="4411474"/>
            <a:ext cx="1731600" cy="145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5" name="Google Shape;995;p59"/>
          <p:cNvCxnSpPr>
            <a:stCxn id="990" idx="3"/>
            <a:endCxn id="991" idx="0"/>
          </p:cNvCxnSpPr>
          <p:nvPr/>
        </p:nvCxnSpPr>
        <p:spPr>
          <a:xfrm flipH="1">
            <a:off x="2957488" y="4715737"/>
            <a:ext cx="239700" cy="741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6" name="Google Shape;996;p59"/>
          <p:cNvCxnSpPr>
            <a:stCxn id="989" idx="5"/>
            <a:endCxn id="990" idx="1"/>
          </p:cNvCxnSpPr>
          <p:nvPr/>
        </p:nvCxnSpPr>
        <p:spPr>
          <a:xfrm>
            <a:off x="2792437" y="3665987"/>
            <a:ext cx="404700" cy="732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7" name="Google Shape;997;p59"/>
          <p:cNvCxnSpPr>
            <a:stCxn id="989" idx="6"/>
            <a:endCxn id="992" idx="1"/>
          </p:cNvCxnSpPr>
          <p:nvPr/>
        </p:nvCxnSpPr>
        <p:spPr>
          <a:xfrm>
            <a:off x="2858250" y="3507100"/>
            <a:ext cx="2329200" cy="586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8" name="Google Shape;998;p59"/>
          <p:cNvCxnSpPr>
            <a:stCxn id="990" idx="6"/>
            <a:endCxn id="992" idx="2"/>
          </p:cNvCxnSpPr>
          <p:nvPr/>
        </p:nvCxnSpPr>
        <p:spPr>
          <a:xfrm flipH="1" rot="10800000">
            <a:off x="3580775" y="4252650"/>
            <a:ext cx="1540800" cy="304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9" name="Google Shape;999;p59"/>
          <p:cNvCxnSpPr>
            <a:stCxn id="991" idx="6"/>
            <a:endCxn id="992" idx="3"/>
          </p:cNvCxnSpPr>
          <p:nvPr/>
        </p:nvCxnSpPr>
        <p:spPr>
          <a:xfrm flipH="1" rot="10800000">
            <a:off x="3182125" y="4411375"/>
            <a:ext cx="2005200" cy="1271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0" name="Google Shape;1000;p59"/>
          <p:cNvCxnSpPr>
            <a:endCxn id="988" idx="2"/>
          </p:cNvCxnSpPr>
          <p:nvPr/>
        </p:nvCxnSpPr>
        <p:spPr>
          <a:xfrm>
            <a:off x="350675" y="4233388"/>
            <a:ext cx="665400" cy="19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1" name="Google Shape;1001;p59"/>
          <p:cNvSpPr txBox="1"/>
          <p:nvPr/>
        </p:nvSpPr>
        <p:spPr>
          <a:xfrm>
            <a:off x="1501450" y="3507100"/>
            <a:ext cx="5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 / 1</a:t>
            </a:r>
            <a:endParaRPr/>
          </a:p>
        </p:txBody>
      </p:sp>
      <p:sp>
        <p:nvSpPr>
          <p:cNvPr id="1002" name="Google Shape;1002;p59"/>
          <p:cNvSpPr txBox="1"/>
          <p:nvPr/>
        </p:nvSpPr>
        <p:spPr>
          <a:xfrm>
            <a:off x="1899450" y="4107988"/>
            <a:ext cx="5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 / 7</a:t>
            </a:r>
            <a:endParaRPr/>
          </a:p>
        </p:txBody>
      </p:sp>
      <p:sp>
        <p:nvSpPr>
          <p:cNvPr id="1003" name="Google Shape;1003;p59"/>
          <p:cNvSpPr txBox="1"/>
          <p:nvPr/>
        </p:nvSpPr>
        <p:spPr>
          <a:xfrm>
            <a:off x="3735300" y="3322450"/>
            <a:ext cx="5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/ 1</a:t>
            </a:r>
            <a:endParaRPr/>
          </a:p>
        </p:txBody>
      </p:sp>
      <p:sp>
        <p:nvSpPr>
          <p:cNvPr id="1004" name="Google Shape;1004;p59"/>
          <p:cNvSpPr txBox="1"/>
          <p:nvPr/>
        </p:nvSpPr>
        <p:spPr>
          <a:xfrm>
            <a:off x="3792250" y="4108000"/>
            <a:ext cx="5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 / 2</a:t>
            </a:r>
            <a:endParaRPr/>
          </a:p>
        </p:txBody>
      </p:sp>
      <p:sp>
        <p:nvSpPr>
          <p:cNvPr id="1005" name="Google Shape;1005;p59"/>
          <p:cNvSpPr txBox="1"/>
          <p:nvPr/>
        </p:nvSpPr>
        <p:spPr>
          <a:xfrm>
            <a:off x="3006013" y="3741725"/>
            <a:ext cx="5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 / 3</a:t>
            </a:r>
            <a:endParaRPr/>
          </a:p>
        </p:txBody>
      </p:sp>
      <p:sp>
        <p:nvSpPr>
          <p:cNvPr id="1006" name="Google Shape;1006;p59"/>
          <p:cNvSpPr txBox="1"/>
          <p:nvPr/>
        </p:nvSpPr>
        <p:spPr>
          <a:xfrm>
            <a:off x="3068525" y="4862275"/>
            <a:ext cx="5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/ 6</a:t>
            </a:r>
            <a:endParaRPr/>
          </a:p>
        </p:txBody>
      </p:sp>
      <p:sp>
        <p:nvSpPr>
          <p:cNvPr id="1007" name="Google Shape;1007;p59"/>
          <p:cNvSpPr txBox="1"/>
          <p:nvPr/>
        </p:nvSpPr>
        <p:spPr>
          <a:xfrm>
            <a:off x="7062025" y="4242425"/>
            <a:ext cx="991500" cy="12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= 2</a:t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 = 6</a:t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 = 9</a:t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= 10</a:t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= 13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60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How does the read look like?</a:t>
            </a:r>
            <a:endParaRPr sz="3200">
              <a:solidFill>
                <a:schemeClr val="dk1"/>
              </a:solidFill>
            </a:endParaRPr>
          </a:p>
        </p:txBody>
      </p:sp>
      <p:cxnSp>
        <p:nvCxnSpPr>
          <p:cNvPr id="1015" name="Google Shape;1015;p60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16" name="Google Shape;1016;p60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File view - Term Dictionary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60"/>
          <p:cNvSpPr txBox="1"/>
          <p:nvPr/>
        </p:nvSpPr>
        <p:spPr>
          <a:xfrm>
            <a:off x="424925" y="2318325"/>
            <a:ext cx="113421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Jump to the given block (offset)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Number of items within the block (25 - 48)</a:t>
            </a:r>
            <a:endParaRPr sz="1500">
              <a:solidFill>
                <a:srgbClr val="7F7F7F"/>
              </a:solidFill>
            </a:endParaRPr>
          </a:p>
        </p:txBody>
      </p:sp>
      <p:graphicFrame>
        <p:nvGraphicFramePr>
          <p:cNvPr id="1018" name="Google Shape;1018;p60"/>
          <p:cNvGraphicFramePr/>
          <p:nvPr/>
        </p:nvGraphicFramePr>
        <p:xfrm>
          <a:off x="3316425" y="308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105550"/>
                <a:gridCol w="1105550"/>
                <a:gridCol w="1105550"/>
              </a:tblGrid>
              <a:tr h="26477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...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...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...</a:t>
                      </a:r>
                      <a:endParaRPr/>
                    </a:p>
                  </a:txBody>
                  <a:tcPr marT="0" marB="0" marR="91425" marL="91425"/>
                </a:tc>
              </a:tr>
              <a:tr h="264775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[Prefix = to]</a:t>
                      </a:r>
                      <a:endParaRPr/>
                    </a:p>
                  </a:txBody>
                  <a:tcPr marT="0" marB="0" marR="91425" marL="91425"/>
                </a:tc>
                <a:tc hMerge="1"/>
                <a:tc hMerge="1"/>
              </a:tr>
              <a:tr h="264775"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Suffix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Frequency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Offset</a:t>
                      </a:r>
                      <a:endParaRPr/>
                    </a:p>
                  </a:txBody>
                  <a:tcPr marT="0" marB="0" marR="91425" marL="91425"/>
                </a:tc>
              </a:tr>
              <a:tr h="26477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ad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102</a:t>
                      </a:r>
                      <a:endParaRPr/>
                    </a:p>
                  </a:txBody>
                  <a:tcPr marT="0" marB="0" marR="91425" marL="91425"/>
                </a:tc>
              </a:tr>
              <a:tr h="2647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ast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135</a:t>
                      </a:r>
                      <a:endParaRPr/>
                    </a:p>
                  </a:txBody>
                  <a:tcPr marT="0" marB="0" marR="91425" marL="91425"/>
                </a:tc>
              </a:tr>
              <a:tr h="26477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aster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167</a:t>
                      </a:r>
                      <a:endParaRPr/>
                    </a:p>
                  </a:txBody>
                  <a:tcPr marT="0" marB="0" marR="91425" marL="91425"/>
                </a:tc>
              </a:tr>
              <a:tr h="2647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day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211</a:t>
                      </a:r>
                      <a:endParaRPr/>
                    </a:p>
                  </a:txBody>
                  <a:tcPr marT="0" marB="0" marR="91425" marL="91425"/>
                </a:tc>
              </a:tr>
              <a:tr h="2647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233</a:t>
                      </a:r>
                      <a:endParaRPr/>
                    </a:p>
                  </a:txBody>
                  <a:tcPr marT="0" marB="0" marR="91425" marL="91425"/>
                </a:tc>
              </a:tr>
              <a:tr h="2647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ilette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251</a:t>
                      </a:r>
                      <a:endParaRPr/>
                    </a:p>
                  </a:txBody>
                  <a:tcPr marT="0" marB="0" marR="91425" marL="91425"/>
                </a:tc>
              </a:tr>
              <a:tr h="2647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mato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287</a:t>
                      </a:r>
                      <a:endParaRPr/>
                    </a:p>
                  </a:txBody>
                  <a:tcPr marT="0" marB="0" marR="91425" marL="91425"/>
                </a:tc>
              </a:tr>
              <a:tr h="2647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nic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309</a:t>
                      </a:r>
                      <a:endParaRPr/>
                    </a:p>
                  </a:txBody>
                  <a:tcPr marT="0" marB="0" marR="91425" marL="91425"/>
                </a:tc>
              </a:tr>
              <a:tr h="2647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oth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355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  <p:cxnSp>
        <p:nvCxnSpPr>
          <p:cNvPr id="1019" name="Google Shape;1019;p60"/>
          <p:cNvCxnSpPr/>
          <p:nvPr/>
        </p:nvCxnSpPr>
        <p:spPr>
          <a:xfrm>
            <a:off x="2211100" y="3487350"/>
            <a:ext cx="1006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0" name="Google Shape;1020;p60"/>
          <p:cNvCxnSpPr/>
          <p:nvPr/>
        </p:nvCxnSpPr>
        <p:spPr>
          <a:xfrm>
            <a:off x="2211100" y="4007368"/>
            <a:ext cx="1006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1" name="Google Shape;1021;p60"/>
          <p:cNvCxnSpPr/>
          <p:nvPr/>
        </p:nvCxnSpPr>
        <p:spPr>
          <a:xfrm>
            <a:off x="2211100" y="4267376"/>
            <a:ext cx="1006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2" name="Google Shape;1022;p60"/>
          <p:cNvCxnSpPr/>
          <p:nvPr/>
        </p:nvCxnSpPr>
        <p:spPr>
          <a:xfrm>
            <a:off x="2211100" y="4527385"/>
            <a:ext cx="1006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3" name="Google Shape;1023;p60"/>
          <p:cNvCxnSpPr/>
          <p:nvPr/>
        </p:nvCxnSpPr>
        <p:spPr>
          <a:xfrm>
            <a:off x="2211100" y="4787394"/>
            <a:ext cx="1006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4" name="Google Shape;1024;p60"/>
          <p:cNvCxnSpPr/>
          <p:nvPr/>
        </p:nvCxnSpPr>
        <p:spPr>
          <a:xfrm>
            <a:off x="2211100" y="5047403"/>
            <a:ext cx="1006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5" name="Google Shape;1025;p60"/>
          <p:cNvCxnSpPr/>
          <p:nvPr/>
        </p:nvCxnSpPr>
        <p:spPr>
          <a:xfrm>
            <a:off x="2211100" y="5307411"/>
            <a:ext cx="1006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6" name="Google Shape;1026;p60"/>
          <p:cNvCxnSpPr/>
          <p:nvPr/>
        </p:nvCxnSpPr>
        <p:spPr>
          <a:xfrm>
            <a:off x="2211100" y="5567420"/>
            <a:ext cx="1006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7" name="Google Shape;1027;p60"/>
          <p:cNvSpPr txBox="1"/>
          <p:nvPr/>
        </p:nvSpPr>
        <p:spPr>
          <a:xfrm>
            <a:off x="737038" y="3380338"/>
            <a:ext cx="10785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Jump here</a:t>
            </a:r>
            <a:endParaRPr/>
          </a:p>
        </p:txBody>
      </p:sp>
      <p:sp>
        <p:nvSpPr>
          <p:cNvPr id="1028" name="Google Shape;1028;p60"/>
          <p:cNvSpPr txBox="1"/>
          <p:nvPr/>
        </p:nvSpPr>
        <p:spPr>
          <a:xfrm>
            <a:off x="737038" y="3897176"/>
            <a:ext cx="10785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found</a:t>
            </a:r>
            <a:endParaRPr/>
          </a:p>
        </p:txBody>
      </p:sp>
      <p:sp>
        <p:nvSpPr>
          <p:cNvPr id="1029" name="Google Shape;1029;p60"/>
          <p:cNvSpPr txBox="1"/>
          <p:nvPr/>
        </p:nvSpPr>
        <p:spPr>
          <a:xfrm>
            <a:off x="737038" y="4155594"/>
            <a:ext cx="10785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found</a:t>
            </a:r>
            <a:endParaRPr/>
          </a:p>
        </p:txBody>
      </p:sp>
      <p:sp>
        <p:nvSpPr>
          <p:cNvPr id="1030" name="Google Shape;1030;p60"/>
          <p:cNvSpPr txBox="1"/>
          <p:nvPr/>
        </p:nvSpPr>
        <p:spPr>
          <a:xfrm>
            <a:off x="737038" y="4414013"/>
            <a:ext cx="10785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found</a:t>
            </a:r>
            <a:endParaRPr/>
          </a:p>
        </p:txBody>
      </p:sp>
      <p:sp>
        <p:nvSpPr>
          <p:cNvPr id="1031" name="Google Shape;1031;p60"/>
          <p:cNvSpPr txBox="1"/>
          <p:nvPr/>
        </p:nvSpPr>
        <p:spPr>
          <a:xfrm>
            <a:off x="737038" y="4672432"/>
            <a:ext cx="10785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found</a:t>
            </a:r>
            <a:endParaRPr/>
          </a:p>
        </p:txBody>
      </p:sp>
      <p:sp>
        <p:nvSpPr>
          <p:cNvPr id="1032" name="Google Shape;1032;p60"/>
          <p:cNvSpPr txBox="1"/>
          <p:nvPr/>
        </p:nvSpPr>
        <p:spPr>
          <a:xfrm>
            <a:off x="737038" y="4930851"/>
            <a:ext cx="10785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found</a:t>
            </a:r>
            <a:endParaRPr/>
          </a:p>
        </p:txBody>
      </p:sp>
      <p:sp>
        <p:nvSpPr>
          <p:cNvPr id="1033" name="Google Shape;1033;p60"/>
          <p:cNvSpPr txBox="1"/>
          <p:nvPr/>
        </p:nvSpPr>
        <p:spPr>
          <a:xfrm>
            <a:off x="737038" y="5189269"/>
            <a:ext cx="10785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found</a:t>
            </a:r>
            <a:endParaRPr/>
          </a:p>
        </p:txBody>
      </p:sp>
      <p:sp>
        <p:nvSpPr>
          <p:cNvPr id="1034" name="Google Shape;1034;p60"/>
          <p:cNvSpPr txBox="1"/>
          <p:nvPr/>
        </p:nvSpPr>
        <p:spPr>
          <a:xfrm>
            <a:off x="737038" y="5447688"/>
            <a:ext cx="10785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Found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Google Shape;1039;p6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61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How does the read look like?</a:t>
            </a:r>
            <a:endParaRPr sz="3200">
              <a:solidFill>
                <a:schemeClr val="dk1"/>
              </a:solidFill>
            </a:endParaRPr>
          </a:p>
        </p:txBody>
      </p:sp>
      <p:cxnSp>
        <p:nvCxnSpPr>
          <p:cNvPr id="1042" name="Google Shape;1042;p61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43" name="Google Shape;1043;p61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File view - Postings lists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61"/>
          <p:cNvSpPr txBox="1"/>
          <p:nvPr/>
        </p:nvSpPr>
        <p:spPr>
          <a:xfrm>
            <a:off x="424925" y="2318325"/>
            <a:ext cx="113421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Jump to the given offset in the postings list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Encoded using modified FOR (Frame of Reference) delta</a:t>
            </a:r>
            <a:endParaRPr sz="1500">
              <a:solidFill>
                <a:srgbClr val="7F7F7F"/>
              </a:solidFill>
            </a:endParaRPr>
          </a:p>
          <a:p>
            <a:pPr indent="-32385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○"/>
            </a:pPr>
            <a:r>
              <a:rPr lang="en-US" sz="1500">
                <a:solidFill>
                  <a:srgbClr val="7F7F7F"/>
                </a:solidFill>
              </a:rPr>
              <a:t>delta-encode</a:t>
            </a:r>
            <a:endParaRPr sz="1500">
              <a:solidFill>
                <a:srgbClr val="7F7F7F"/>
              </a:solidFill>
            </a:endParaRPr>
          </a:p>
          <a:p>
            <a:pPr indent="-32385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○"/>
            </a:pPr>
            <a:r>
              <a:rPr lang="en-US" sz="1500">
                <a:solidFill>
                  <a:srgbClr val="7F7F7F"/>
                </a:solidFill>
              </a:rPr>
              <a:t>split into blocks of N = 128 values</a:t>
            </a:r>
            <a:endParaRPr sz="1500">
              <a:solidFill>
                <a:srgbClr val="7F7F7F"/>
              </a:solidFill>
            </a:endParaRPr>
          </a:p>
          <a:p>
            <a:pPr indent="-32385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○"/>
            </a:pPr>
            <a:r>
              <a:rPr lang="en-US" sz="1500">
                <a:solidFill>
                  <a:srgbClr val="7F7F7F"/>
                </a:solidFill>
              </a:rPr>
              <a:t>bit packing per block</a:t>
            </a:r>
            <a:endParaRPr sz="1500">
              <a:solidFill>
                <a:srgbClr val="7F7F7F"/>
              </a:solidFill>
            </a:endParaRPr>
          </a:p>
          <a:p>
            <a:pPr indent="-32385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○"/>
            </a:pPr>
            <a:r>
              <a:rPr lang="en-US" sz="1500">
                <a:solidFill>
                  <a:srgbClr val="7F7F7F"/>
                </a:solidFill>
              </a:rPr>
              <a:t>if remaining, encode with vInt</a:t>
            </a:r>
            <a:endParaRPr sz="1500">
              <a:solidFill>
                <a:srgbClr val="7F7F7F"/>
              </a:solidFill>
            </a:endParaRPr>
          </a:p>
        </p:txBody>
      </p:sp>
      <p:sp>
        <p:nvSpPr>
          <p:cNvPr id="1045" name="Google Shape;1045;p61"/>
          <p:cNvSpPr txBox="1"/>
          <p:nvPr/>
        </p:nvSpPr>
        <p:spPr>
          <a:xfrm>
            <a:off x="508025" y="4224450"/>
            <a:ext cx="17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with N = 4</a:t>
            </a:r>
            <a:endParaRPr/>
          </a:p>
        </p:txBody>
      </p:sp>
      <p:graphicFrame>
        <p:nvGraphicFramePr>
          <p:cNvPr id="1046" name="Google Shape;1046;p61"/>
          <p:cNvGraphicFramePr/>
          <p:nvPr/>
        </p:nvGraphicFramePr>
        <p:xfrm>
          <a:off x="2400375" y="400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849175"/>
                <a:gridCol w="2759600"/>
              </a:tblGrid>
              <a:tr h="281300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Offset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Document ids</a:t>
                      </a:r>
                      <a:endParaRPr/>
                    </a:p>
                  </a:txBody>
                  <a:tcPr marT="0" marB="0" marR="91425" marL="91425"/>
                </a:tc>
              </a:tr>
              <a:tr h="281300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...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...</a:t>
                      </a:r>
                      <a:endParaRPr/>
                    </a:p>
                  </a:txBody>
                  <a:tcPr marT="0" marB="0" marR="91425" marL="91425"/>
                </a:tc>
              </a:tr>
              <a:tr h="281300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287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1, 3, 4, 6, 8, 20, 22, 26, 30, 31</a:t>
                      </a:r>
                      <a:endParaRPr/>
                    </a:p>
                  </a:txBody>
                  <a:tcPr marT="0" marB="0" marR="91425" marL="91425"/>
                </a:tc>
              </a:tr>
              <a:tr h="2813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...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...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1047" name="Google Shape;1047;p61"/>
          <p:cNvSpPr txBox="1"/>
          <p:nvPr/>
        </p:nvSpPr>
        <p:spPr>
          <a:xfrm>
            <a:off x="6299225" y="4072050"/>
            <a:ext cx="129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Delta encode:</a:t>
            </a:r>
            <a:endParaRPr/>
          </a:p>
        </p:txBody>
      </p:sp>
      <p:sp>
        <p:nvSpPr>
          <p:cNvPr id="1048" name="Google Shape;1048;p61"/>
          <p:cNvSpPr txBox="1"/>
          <p:nvPr/>
        </p:nvSpPr>
        <p:spPr>
          <a:xfrm>
            <a:off x="7518425" y="4072050"/>
            <a:ext cx="24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1, 2, 1, 2, 2, 12, 2, 4, 4, 1</a:t>
            </a:r>
            <a:endParaRPr/>
          </a:p>
        </p:txBody>
      </p:sp>
      <p:sp>
        <p:nvSpPr>
          <p:cNvPr id="1049" name="Google Shape;1049;p61"/>
          <p:cNvSpPr txBox="1"/>
          <p:nvPr/>
        </p:nvSpPr>
        <p:spPr>
          <a:xfrm>
            <a:off x="6254284" y="4529250"/>
            <a:ext cx="137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Split to blocks:</a:t>
            </a:r>
            <a:endParaRPr/>
          </a:p>
        </p:txBody>
      </p:sp>
      <p:sp>
        <p:nvSpPr>
          <p:cNvPr id="1050" name="Google Shape;1050;p61"/>
          <p:cNvSpPr txBox="1"/>
          <p:nvPr/>
        </p:nvSpPr>
        <p:spPr>
          <a:xfrm>
            <a:off x="7518425" y="4529250"/>
            <a:ext cx="24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r>
              <a:rPr lang="en-US"/>
              <a:t>1, 2, 1, 2]  [2, 12, 2, 4]  4, 1</a:t>
            </a:r>
            <a:endParaRPr/>
          </a:p>
        </p:txBody>
      </p:sp>
      <p:cxnSp>
        <p:nvCxnSpPr>
          <p:cNvPr id="1051" name="Google Shape;1051;p61"/>
          <p:cNvCxnSpPr/>
          <p:nvPr/>
        </p:nvCxnSpPr>
        <p:spPr>
          <a:xfrm flipH="1" rot="10800000">
            <a:off x="7325375" y="4979475"/>
            <a:ext cx="467400" cy="674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61"/>
          <p:cNvCxnSpPr/>
          <p:nvPr/>
        </p:nvCxnSpPr>
        <p:spPr>
          <a:xfrm rot="10800000">
            <a:off x="8889125" y="4997150"/>
            <a:ext cx="153000" cy="683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3" name="Google Shape;1053;p61"/>
          <p:cNvCxnSpPr/>
          <p:nvPr/>
        </p:nvCxnSpPr>
        <p:spPr>
          <a:xfrm rot="10800000">
            <a:off x="9644275" y="4988450"/>
            <a:ext cx="503400" cy="692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4" name="Google Shape;1054;p61"/>
          <p:cNvSpPr txBox="1"/>
          <p:nvPr/>
        </p:nvSpPr>
        <p:spPr>
          <a:xfrm>
            <a:off x="6254275" y="5672250"/>
            <a:ext cx="14937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bits per value</a:t>
            </a:r>
            <a:br>
              <a:rPr lang="en-US"/>
            </a:br>
            <a:r>
              <a:rPr lang="en-US"/>
              <a:t>total: 1 byte</a:t>
            </a:r>
            <a:endParaRPr/>
          </a:p>
        </p:txBody>
      </p:sp>
      <p:sp>
        <p:nvSpPr>
          <p:cNvPr id="1055" name="Google Shape;1055;p61"/>
          <p:cNvSpPr txBox="1"/>
          <p:nvPr/>
        </p:nvSpPr>
        <p:spPr>
          <a:xfrm>
            <a:off x="8006875" y="5672250"/>
            <a:ext cx="1493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r>
              <a:rPr lang="en-US"/>
              <a:t> bits per value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total: 2 bytes</a:t>
            </a:r>
            <a:endParaRPr/>
          </a:p>
        </p:txBody>
      </p:sp>
      <p:sp>
        <p:nvSpPr>
          <p:cNvPr id="1056" name="Google Shape;1056;p61"/>
          <p:cNvSpPr txBox="1"/>
          <p:nvPr/>
        </p:nvSpPr>
        <p:spPr>
          <a:xfrm>
            <a:off x="9543150" y="5672250"/>
            <a:ext cx="14937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vInt encoded</a:t>
            </a:r>
            <a:br>
              <a:rPr lang="en-US"/>
            </a:br>
            <a:r>
              <a:rPr lang="en-US"/>
              <a:t>1 byte per value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total: 2 bytes</a:t>
            </a:r>
            <a:endParaRPr/>
          </a:p>
        </p:txBody>
      </p:sp>
      <p:sp>
        <p:nvSpPr>
          <p:cNvPr id="1057" name="Google Shape;1057;p61"/>
          <p:cNvSpPr txBox="1"/>
          <p:nvPr/>
        </p:nvSpPr>
        <p:spPr>
          <a:xfrm>
            <a:off x="539275" y="5215050"/>
            <a:ext cx="291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Uncompressed: 40 (10 * 4) bytes</a:t>
            </a:r>
            <a:endParaRPr/>
          </a:p>
        </p:txBody>
      </p:sp>
      <p:sp>
        <p:nvSpPr>
          <p:cNvPr id="1058" name="Google Shape;1058;p61"/>
          <p:cNvSpPr txBox="1"/>
          <p:nvPr/>
        </p:nvSpPr>
        <p:spPr>
          <a:xfrm>
            <a:off x="539275" y="5519850"/>
            <a:ext cx="30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</a:t>
            </a:r>
            <a:r>
              <a:rPr lang="en-US"/>
              <a:t>ompressed: 5 (1 + 2 + 2) bytes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3" name="Google Shape;1063;p6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62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How does the read look like?</a:t>
            </a:r>
            <a:endParaRPr sz="3200">
              <a:solidFill>
                <a:schemeClr val="dk1"/>
              </a:solidFill>
            </a:endParaRPr>
          </a:p>
        </p:txBody>
      </p:sp>
      <p:cxnSp>
        <p:nvCxnSpPr>
          <p:cNvPr id="1066" name="Google Shape;1066;p62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67" name="Google Shape;1067;p62"/>
          <p:cNvSpPr txBox="1"/>
          <p:nvPr/>
        </p:nvSpPr>
        <p:spPr>
          <a:xfrm>
            <a:off x="424917" y="1696436"/>
            <a:ext cx="8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File view - Field Index &amp; Field Data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62"/>
          <p:cNvSpPr txBox="1"/>
          <p:nvPr/>
        </p:nvSpPr>
        <p:spPr>
          <a:xfrm>
            <a:off x="424925" y="2318325"/>
            <a:ext cx="113421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Stored sequentially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>
                <a:solidFill>
                  <a:srgbClr val="7F7F7F"/>
                </a:solidFill>
              </a:rPr>
              <a:t>Compressed using LZ4 in 16+KB blocks</a:t>
            </a:r>
            <a:endParaRPr sz="1500">
              <a:solidFill>
                <a:srgbClr val="7F7F7F"/>
              </a:solidFill>
            </a:endParaRPr>
          </a:p>
        </p:txBody>
      </p:sp>
      <p:graphicFrame>
        <p:nvGraphicFramePr>
          <p:cNvPr id="1069" name="Google Shape;1069;p62"/>
          <p:cNvGraphicFramePr/>
          <p:nvPr/>
        </p:nvGraphicFramePr>
        <p:xfrm>
          <a:off x="952500" y="36927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1579700"/>
                <a:gridCol w="1579700"/>
              </a:tblGrid>
              <a:tr h="24157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Starting Doc id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Offset</a:t>
                      </a:r>
                      <a:endParaRPr/>
                    </a:p>
                  </a:txBody>
                  <a:tcPr marT="0" marB="0" marR="91425" marL="91425"/>
                </a:tc>
              </a:tr>
              <a:tr h="24157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</a:t>
                      </a:r>
                      <a:endParaRPr/>
                    </a:p>
                  </a:txBody>
                  <a:tcPr marT="0" marB="0" marR="91425" marL="91425"/>
                </a:tc>
              </a:tr>
              <a:tr h="2415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188</a:t>
                      </a:r>
                      <a:endParaRPr/>
                    </a:p>
                  </a:txBody>
                  <a:tcPr marT="0" marB="0" marR="91425" marL="91425"/>
                </a:tc>
              </a:tr>
              <a:tr h="2415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312</a:t>
                      </a:r>
                      <a:endParaRPr/>
                    </a:p>
                  </a:txBody>
                  <a:tcPr marT="0" marB="0" marR="91425" marL="91425"/>
                </a:tc>
              </a:tr>
              <a:tr h="24157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423</a:t>
                      </a:r>
                      <a:endParaRPr/>
                    </a:p>
                  </a:txBody>
                  <a:tcPr marT="0" marB="0" marR="91425" marL="91425"/>
                </a:tc>
              </a:tr>
              <a:tr h="2415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605</a:t>
                      </a:r>
                      <a:endParaRPr/>
                    </a:p>
                  </a:txBody>
                  <a:tcPr marT="0" marB="0" marR="91425" marL="91425"/>
                </a:tc>
              </a:tr>
              <a:tr h="2415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811</a:t>
                      </a:r>
                      <a:endParaRPr/>
                    </a:p>
                  </a:txBody>
                  <a:tcPr marT="0" marB="0" marR="91425" marL="91425"/>
                </a:tc>
              </a:tr>
              <a:tr h="24157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934</a:t>
                      </a:r>
                      <a:endParaRPr/>
                    </a:p>
                  </a:txBody>
                  <a:tcPr marT="0" marB="0" marR="91425" marL="91425"/>
                </a:tc>
              </a:tr>
              <a:tr h="289875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</a:t>
                      </a:r>
                      <a:endParaRPr/>
                    </a:p>
                  </a:txBody>
                  <a:tcPr marT="0" marB="0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1084</a:t>
                      </a:r>
                      <a:endParaRPr/>
                    </a:p>
                  </a:txBody>
                  <a:tcPr marT="0" marB="0" marR="91425" marL="91425"/>
                </a:tc>
              </a:tr>
            </a:tbl>
          </a:graphicData>
        </a:graphic>
      </p:graphicFrame>
      <p:sp>
        <p:nvSpPr>
          <p:cNvPr id="1070" name="Google Shape;1070;p62"/>
          <p:cNvSpPr txBox="1"/>
          <p:nvPr/>
        </p:nvSpPr>
        <p:spPr>
          <a:xfrm>
            <a:off x="2029725" y="3244750"/>
            <a:ext cx="1191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Field Index</a:t>
            </a:r>
            <a:endParaRPr/>
          </a:p>
        </p:txBody>
      </p:sp>
      <p:sp>
        <p:nvSpPr>
          <p:cNvPr id="1071" name="Google Shape;1071;p62"/>
          <p:cNvSpPr txBox="1"/>
          <p:nvPr/>
        </p:nvSpPr>
        <p:spPr>
          <a:xfrm>
            <a:off x="4772925" y="2939950"/>
            <a:ext cx="1191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Field Data</a:t>
            </a:r>
            <a:endParaRPr/>
          </a:p>
        </p:txBody>
      </p:sp>
      <p:graphicFrame>
        <p:nvGraphicFramePr>
          <p:cNvPr id="1072" name="Google Shape;1072;p62"/>
          <p:cNvGraphicFramePr/>
          <p:nvPr/>
        </p:nvGraphicFramePr>
        <p:xfrm>
          <a:off x="4951850" y="33879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{CB6347E1-ADE2-447E-9D25-8D03C6CF8EF1}</a:tableStyleId>
              </a:tblPr>
              <a:tblGrid>
                <a:gridCol w="3251500"/>
              </a:tblGrid>
              <a:tr h="2227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[</a:t>
                      </a:r>
                      <a:r>
                        <a:rPr lang="en-US"/>
                        <a:t>Offset = 33]</a:t>
                      </a:r>
                      <a:endParaRPr/>
                    </a:p>
                  </a:txBody>
                  <a:tcPr marT="0" marB="0" marR="91425" marL="91425"/>
                </a:tc>
              </a:tr>
              <a:tr h="2227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Doc </a:t>
                      </a:r>
                      <a:r>
                        <a:rPr lang="en-US"/>
                        <a:t>0</a:t>
                      </a:r>
                      <a:endParaRPr/>
                    </a:p>
                  </a:txBody>
                  <a:tcPr marT="0" marB="0" marR="91425" marL="91425"/>
                </a:tc>
              </a:tr>
              <a:tr h="2227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Doc </a:t>
                      </a:r>
                      <a:r>
                        <a:rPr lang="en-US"/>
                        <a:t>1</a:t>
                      </a:r>
                      <a:endParaRPr/>
                    </a:p>
                  </a:txBody>
                  <a:tcPr marT="0" marB="0" marR="91425" marL="91425"/>
                </a:tc>
              </a:tr>
              <a:tr h="2227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Doc </a:t>
                      </a:r>
                      <a:r>
                        <a:rPr lang="en-US"/>
                        <a:t>2</a:t>
                      </a:r>
                      <a:endParaRPr/>
                    </a:p>
                  </a:txBody>
                  <a:tcPr marT="0" marB="0" marR="91425" marL="91425"/>
                </a:tc>
              </a:tr>
              <a:tr h="2227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Doc </a:t>
                      </a: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91425" marL="91425"/>
                </a:tc>
              </a:tr>
              <a:tr h="2227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[Offset = 188]</a:t>
                      </a:r>
                      <a:endParaRPr/>
                    </a:p>
                  </a:txBody>
                  <a:tcPr marT="0" marB="0" marR="91425" marL="91425"/>
                </a:tc>
              </a:tr>
              <a:tr h="2227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 4</a:t>
                      </a:r>
                      <a:endParaRPr/>
                    </a:p>
                  </a:txBody>
                  <a:tcPr marT="0" marB="0" marR="91425" marL="91425"/>
                </a:tc>
              </a:tr>
              <a:tr h="2672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[Offset = 312]</a:t>
                      </a:r>
                      <a:endParaRPr/>
                    </a:p>
                  </a:txBody>
                  <a:tcPr marT="0" marB="0" marR="91425" marL="91425"/>
                </a:tc>
              </a:tr>
              <a:tr h="2672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Doc 5</a:t>
                      </a:r>
                      <a:endParaRPr/>
                    </a:p>
                  </a:txBody>
                  <a:tcPr marT="0" marB="0" marR="91425" marL="91425"/>
                </a:tc>
              </a:tr>
              <a:tr h="2672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Doc 6</a:t>
                      </a:r>
                      <a:endParaRPr/>
                    </a:p>
                  </a:txBody>
                  <a:tcPr marT="0" marB="0" marR="91425" marL="91425"/>
                </a:tc>
              </a:tr>
              <a:tr h="2672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[Offset = 423]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672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Doc 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91425" marL="91425"/>
                </a:tc>
              </a:tr>
              <a:tr h="2672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...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91425" marL="91425"/>
                </a:tc>
              </a:tr>
            </a:tbl>
          </a:graphicData>
        </a:graphic>
      </p:graphicFrame>
      <p:cxnSp>
        <p:nvCxnSpPr>
          <p:cNvPr id="1073" name="Google Shape;1073;p62"/>
          <p:cNvCxnSpPr/>
          <p:nvPr/>
        </p:nvCxnSpPr>
        <p:spPr>
          <a:xfrm rot="10800000">
            <a:off x="8493900" y="3406300"/>
            <a:ext cx="0" cy="108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4" name="Google Shape;1074;p62"/>
          <p:cNvCxnSpPr/>
          <p:nvPr/>
        </p:nvCxnSpPr>
        <p:spPr>
          <a:xfrm rot="10800000">
            <a:off x="8493900" y="4946675"/>
            <a:ext cx="0" cy="77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5" name="Google Shape;1075;p62"/>
          <p:cNvCxnSpPr/>
          <p:nvPr/>
        </p:nvCxnSpPr>
        <p:spPr>
          <a:xfrm rot="10800000">
            <a:off x="8493900" y="5748500"/>
            <a:ext cx="0" cy="77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6" name="Google Shape;1076;p62"/>
          <p:cNvSpPr txBox="1"/>
          <p:nvPr/>
        </p:nvSpPr>
        <p:spPr>
          <a:xfrm>
            <a:off x="8578250" y="3725025"/>
            <a:ext cx="64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16KB</a:t>
            </a:r>
            <a:endParaRPr/>
          </a:p>
        </p:txBody>
      </p:sp>
      <p:cxnSp>
        <p:nvCxnSpPr>
          <p:cNvPr id="1077" name="Google Shape;1077;p62"/>
          <p:cNvCxnSpPr/>
          <p:nvPr/>
        </p:nvCxnSpPr>
        <p:spPr>
          <a:xfrm rot="10800000">
            <a:off x="8493900" y="4494100"/>
            <a:ext cx="0" cy="46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8" name="Google Shape;1078;p62"/>
          <p:cNvSpPr txBox="1"/>
          <p:nvPr/>
        </p:nvSpPr>
        <p:spPr>
          <a:xfrm>
            <a:off x="8578250" y="4563225"/>
            <a:ext cx="64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16KB</a:t>
            </a:r>
            <a:endParaRPr/>
          </a:p>
        </p:txBody>
      </p:sp>
      <p:sp>
        <p:nvSpPr>
          <p:cNvPr id="1079" name="Google Shape;1079;p62"/>
          <p:cNvSpPr txBox="1"/>
          <p:nvPr/>
        </p:nvSpPr>
        <p:spPr>
          <a:xfrm>
            <a:off x="8578250" y="5172825"/>
            <a:ext cx="64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16KB</a:t>
            </a:r>
            <a:endParaRPr/>
          </a:p>
        </p:txBody>
      </p:sp>
      <p:sp>
        <p:nvSpPr>
          <p:cNvPr id="1080" name="Google Shape;1080;p62"/>
          <p:cNvSpPr txBox="1"/>
          <p:nvPr/>
        </p:nvSpPr>
        <p:spPr>
          <a:xfrm>
            <a:off x="8578250" y="6011025"/>
            <a:ext cx="64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16KB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Google Shape;1085;p6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69" y="454451"/>
            <a:ext cx="119130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690" y="5816111"/>
            <a:ext cx="903600" cy="10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569" y="6385489"/>
            <a:ext cx="1745700" cy="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63"/>
          <p:cNvSpPr txBox="1"/>
          <p:nvPr/>
        </p:nvSpPr>
        <p:spPr>
          <a:xfrm>
            <a:off x="406445" y="1080652"/>
            <a:ext cx="8118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References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089" name="Google Shape;1089;p63"/>
          <p:cNvSpPr txBox="1"/>
          <p:nvPr/>
        </p:nvSpPr>
        <p:spPr>
          <a:xfrm>
            <a:off x="424925" y="2318325"/>
            <a:ext cx="113421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6"/>
              </a:rPr>
              <a:t>https://www.elastic.co/guide/en/elasticsearch/reference/6.3/index.html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7"/>
              </a:rPr>
              <a:t>https://lucene.apache.org/core/7_3_1/index.html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8"/>
              </a:rPr>
              <a:t>https://www.elastic.co/blog/tracking-in-sync-shard-copies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9"/>
              </a:rPr>
              <a:t>https://www.elastic.co/blog/found-elasticsearch-from-the-bottom-up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10"/>
              </a:rPr>
              <a:t>https://www.youtube.com/watch?v=T5RmMNDR5XI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11"/>
              </a:rPr>
              <a:t>https://www.youtube.com/watch?v=c9O5_a50aOQ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12"/>
              </a:rPr>
              <a:t>https://www.elastic.co/guide/en/elasticsearch/guide/current/distributed-cluster.html</a:t>
            </a:r>
            <a:endParaRPr sz="1500">
              <a:solidFill>
                <a:srgbClr val="7F7F7F"/>
              </a:solidFill>
            </a:endParaRPr>
          </a:p>
          <a:p>
            <a:pPr indent="-323850" lvl="0" marL="457200" marR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13"/>
              </a:rPr>
              <a:t>http://blog.mikemccandless.com/2010/12/using-finite-state-transducers-in.html</a:t>
            </a:r>
            <a:endParaRPr sz="1500">
              <a:solidFill>
                <a:srgbClr val="7F7F7F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F7F7F"/>
              </a:solidFill>
            </a:endParaRPr>
          </a:p>
        </p:txBody>
      </p:sp>
      <p:cxnSp>
        <p:nvCxnSpPr>
          <p:cNvPr id="1090" name="Google Shape;1090;p63"/>
          <p:cNvCxnSpPr/>
          <p:nvPr/>
        </p:nvCxnSpPr>
        <p:spPr>
          <a:xfrm>
            <a:off x="489569" y="6206833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64"/>
          <p:cNvSpPr txBox="1"/>
          <p:nvPr/>
        </p:nvSpPr>
        <p:spPr>
          <a:xfrm>
            <a:off x="2036639" y="2967300"/>
            <a:ext cx="8118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5400" u="none" cap="none" strike="noStrike">
              <a:solidFill>
                <a:srgbClr val="1E2A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6" name="Google Shape;1096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6728" y="6120135"/>
            <a:ext cx="887128" cy="126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